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31" r:id="rId3"/>
    <p:sldId id="340" r:id="rId4"/>
    <p:sldId id="349" r:id="rId5"/>
    <p:sldId id="320" r:id="rId6"/>
    <p:sldId id="366" r:id="rId7"/>
    <p:sldId id="350" r:id="rId8"/>
    <p:sldId id="360" r:id="rId9"/>
    <p:sldId id="367" r:id="rId10"/>
    <p:sldId id="368" r:id="rId11"/>
    <p:sldId id="347" r:id="rId12"/>
    <p:sldId id="369" r:id="rId13"/>
    <p:sldId id="370" r:id="rId14"/>
    <p:sldId id="371" r:id="rId15"/>
    <p:sldId id="372" r:id="rId16"/>
    <p:sldId id="373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80" d="100"/>
          <a:sy n="80" d="100"/>
        </p:scale>
        <p:origin x="56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1E46-A021-DFAF-F2EC-2BC540B0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0B80D8-54EB-65BB-AF41-708F4CDF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0869F6-5E47-4573-E513-23576574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15167-3A2C-A49D-CF95-6E6095011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366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F1EF-4977-3AA8-3483-8829DAA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D5D2A3-A364-BF3F-5E46-52505C0A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68C1E6-B9A8-BC28-2B83-E3F25A3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97E9A-BB29-C865-9DDA-C1FAF5A26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9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E1CD-5304-1757-E0F3-210EBBC1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CF0E0E-EA49-3BB0-A1DC-83F9095B8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D7473D-E532-1311-6204-8C6C34378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FF5F02-D292-2E94-1DB1-811B6AFF7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39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AFCC-DA6E-2858-62FA-9CB6895E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8F88F4-75A5-0F22-C1C4-68CB0E3A9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F38290F-A214-27BA-E497-308F94026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30173C-B4B6-CBBF-D6B6-19FDBFD9F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1157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4EA0-506B-93BC-10C7-1D2BCE07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4758BA-5DC7-6F49-DD81-1A4C697A5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578B87-8230-98C4-2E20-FFBE8D885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13E9DC-AD49-D56B-D387-6A9C85255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955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11AF-D6C6-2785-8995-0CBF3704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4D9813-765B-B934-0A69-B20EC9DEA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844784-DB29-3790-59C7-FCE0B7A93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D0C9F9-A097-E164-94D0-A99AD303B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384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3D95-9573-746A-504B-6FA21257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DAF57C7-8EC9-F00B-5DBE-FAEC5BF06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59990B-329A-BDE3-7D60-DFC1C7396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709E38-03E3-BEB8-21B9-167EFBC18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169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D00D-6FA6-E93A-88C6-780F3F5D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1B952B-C5A8-89EE-804E-F538BC6FA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1ED6D18-0B07-FAB5-0CB4-5D6100B49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C6D638-0024-C43B-E632-BDA2385DE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621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053D1-2043-A63E-AD9D-A48667A2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4BD48D-5E13-3A44-ED31-D03B73A6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6C21CC-16F7-04CC-AFA4-173408B55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E03261-2155-FC62-174C-A7C3987D4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1664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2026/6/30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6/30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Results of different hidden dimension of classifier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8D54948-0E07-DCD4-C6AD-59F1B49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49" y="1915884"/>
            <a:ext cx="5010390" cy="366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61406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(5-stage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(4-stage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BBA14E-C6CB-A98D-46B7-1A68C0DE1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98368"/>
              </p:ext>
            </p:extLst>
          </p:nvPr>
        </p:nvGraphicFramePr>
        <p:xfrm>
          <a:off x="838201" y="4329599"/>
          <a:ext cx="10183367" cy="1848796"/>
        </p:xfrm>
        <a:graphic>
          <a:graphicData uri="http://schemas.openxmlformats.org/drawingml/2006/table">
            <a:tbl>
              <a:tblPr/>
              <a:tblGrid>
                <a:gridCol w="1460832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SE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projection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both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13..76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23.59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57B6-AB0B-90FC-F346-8075183E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627B6-FCB1-C610-8310-FF3F15B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212476B-3040-2D46-A0EC-444AFAD3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03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the channel dimension and round the channels to hardware-friendly multiples of 8 while preventing them from shrinking too much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9517D94-D702-EE68-7105-5796DD3F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1" y="2617755"/>
            <a:ext cx="5603207" cy="407108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7586792-E23C-A78D-02D0-BF8A5AA81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696" y="2866766"/>
            <a:ext cx="6096000" cy="138419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E3CA1E7-F97D-DDD9-7EBA-053F4BCEF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832" y="4489717"/>
            <a:ext cx="6205728" cy="219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0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2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 0.01 for baseline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reduce_tail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128 for KD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[0.75, 0.5, 0.25]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AF4F-A60A-799B-D46A-8229CCD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5EC57-9CC4-3D05-3DA8-ABA3DF19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0.75)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D6AA5C-283C-97E7-7711-6D46FB05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338970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75.57%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7.76%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11.76%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3.76%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170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419A181-FC1E-1CB3-9B58-717811C9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DB89936-A7EE-E79B-3811-314BD08E7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9315823-A800-35D0-6F67-A0B499A98006}"/>
              </a:ext>
            </a:extLst>
          </p:cNvPr>
          <p:cNvSpPr txBox="1"/>
          <p:nvPr/>
        </p:nvSpPr>
        <p:spPr>
          <a:xfrm>
            <a:off x="2539775" y="5106322"/>
            <a:ext cx="104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Baseline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076D52-4195-FCC6-BC5E-7B2BD0224D7C}"/>
              </a:ext>
            </a:extLst>
          </p:cNvPr>
          <p:cNvSpPr txBox="1"/>
          <p:nvPr/>
        </p:nvSpPr>
        <p:spPr>
          <a:xfrm>
            <a:off x="8947738" y="51063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KD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316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A23A-B995-E6D3-081A-C44C4C2E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6A817E-B06C-1272-F11F-860209D7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B62777A-78CB-FF8E-D859-25BFAB6CA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112204"/>
              </p:ext>
            </p:extLst>
          </p:nvPr>
        </p:nvGraphicFramePr>
        <p:xfrm>
          <a:off x="3294130" y="5619144"/>
          <a:ext cx="5658598" cy="105156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8.07%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6.33%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9.80%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158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34084C1-7E57-B2B4-6C28-DC2E1A220F78}"/>
              </a:ext>
            </a:extLst>
          </p:cNvPr>
          <p:cNvSpPr txBox="1"/>
          <p:nvPr/>
        </p:nvSpPr>
        <p:spPr>
          <a:xfrm>
            <a:off x="2539775" y="5106322"/>
            <a:ext cx="104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Baseline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A80B7D-3F00-870A-8B30-6BF6A63DC5D4}"/>
              </a:ext>
            </a:extLst>
          </p:cNvPr>
          <p:cNvSpPr txBox="1"/>
          <p:nvPr/>
        </p:nvSpPr>
        <p:spPr>
          <a:xfrm>
            <a:off x="8947738" y="51063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KD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88B3230-F310-2F0B-0539-348DDE8A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4177E95-40E7-8942-56BD-C503761CE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35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8F74-1BB4-7D4A-AB05-6CB6A526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3C2FDF-61CD-A68F-DF82-7B6F8449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E02FCA5-CE0A-4FE2-DD13-F8BE1482A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22866"/>
              </p:ext>
            </p:extLst>
          </p:nvPr>
        </p:nvGraphicFramePr>
        <p:xfrm>
          <a:off x="3289140" y="5618956"/>
          <a:ext cx="5658598" cy="105421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3531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79.64%</a:t>
                      </a:r>
                      <a:endParaRPr lang="zh-TW" sz="2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7.63%</a:t>
                      </a:r>
                      <a:endParaRPr lang="zh-TW" sz="2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10.41%</a:t>
                      </a:r>
                      <a:endParaRPr lang="zh-TW" sz="2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4.85%</a:t>
                      </a:r>
                      <a:endParaRPr lang="zh-TW" sz="2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</a:t>
                      </a:r>
                      <a:endParaRPr lang="zh-TW" sz="2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96.83%</a:t>
                      </a:r>
                      <a:endParaRPr lang="zh-TW" sz="2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1.83%</a:t>
                      </a:r>
                      <a:endParaRPr lang="zh-TW" sz="20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1.81%</a:t>
                      </a:r>
                      <a:endParaRPr lang="zh-TW" sz="2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1.86%</a:t>
                      </a:r>
                      <a:endParaRPr lang="zh-TW" sz="2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162</a:t>
                      </a:r>
                      <a:endParaRPr lang="zh-TW" sz="20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CF92B38-87F3-2DD9-6070-5497F55D0076}"/>
              </a:ext>
            </a:extLst>
          </p:cNvPr>
          <p:cNvSpPr txBox="1"/>
          <p:nvPr/>
        </p:nvSpPr>
        <p:spPr>
          <a:xfrm>
            <a:off x="2539775" y="5106322"/>
            <a:ext cx="104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Baseline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42D625-53EF-29EC-B205-61EB0262E31B}"/>
              </a:ext>
            </a:extLst>
          </p:cNvPr>
          <p:cNvSpPr txBox="1"/>
          <p:nvPr/>
        </p:nvSpPr>
        <p:spPr>
          <a:xfrm>
            <a:off x="8947738" y="51063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KD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428D133-43A7-9E2E-FACB-9ED9B95D3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4C541B1-9ED8-35E8-5FFC-6471A4CFB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06322"/>
            <a:ext cx="60771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5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563508"/>
              </p:ext>
            </p:extLst>
          </p:nvPr>
        </p:nvGraphicFramePr>
        <p:xfrm>
          <a:off x="847545" y="3265488"/>
          <a:ext cx="10496910" cy="3065638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SPEC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≥ 85.11%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3.489%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6.033%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0.956%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zh-TW" sz="2400">
                          <a:effectLst/>
                        </a:rPr>
                        <a:t> 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1.02%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5.36%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6.33%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4.38%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wm=1.0, w/ rt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170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wm=0.75, w/ rt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0.88%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699879"/>
              </p:ext>
            </p:extLst>
          </p:nvPr>
        </p:nvGraphicFramePr>
        <p:xfrm>
          <a:off x="2995245" y="1682230"/>
          <a:ext cx="6219490" cy="1154871"/>
        </p:xfrm>
        <a:graphic>
          <a:graphicData uri="http://schemas.openxmlformats.org/drawingml/2006/table">
            <a:tbl>
              <a:tblPr/>
              <a:tblGrid>
                <a:gridCol w="912190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</a:tblGrid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1.0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0.75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0.25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475.95 K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306.41 K (-35.6%)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150.78 K (-68.3%)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60.49 K (-87.3%)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10.07 M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7.41 M (-26.4%)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 M (-63.5%)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1.96 M (-80.5%)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146D-04F6-627A-1BD1-B9A41DD5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DBA6CF-F0AE-1AA8-443E-1C6700BF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5644C3B-C858-9D01-2A1F-82339340D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6732" y="1469897"/>
                <a:ext cx="10938536" cy="4849653"/>
              </a:xfrm>
            </p:spPr>
            <p:txBody>
              <a:bodyPr>
                <a:normAutofit/>
              </a:bodyPr>
              <a:lstStyle/>
              <a:p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successfully reduced the model size and MACs by 90.1% and 84.4%, respectively, by changing the hidden dimension, enabling reduced_tail, and setting width_mult = 0.5, while still meeting the SPEC requirements.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Setting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width_mult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0.25 would let the student model become too small for this task, so we then try to setting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width_mult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[0.45, 0.4, 0.35, 0.3]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5644C3B-C858-9D01-2A1F-82339340D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6732" y="1469897"/>
                <a:ext cx="10938536" cy="4849653"/>
              </a:xfrm>
              <a:blipFill>
                <a:blip r:embed="rId3"/>
                <a:stretch>
                  <a:fillRect l="-780" t="-1759" r="-17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17C7A4D-5B57-FA22-FAEF-03E59AEA4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009407"/>
              </p:ext>
            </p:extLst>
          </p:nvPr>
        </p:nvGraphicFramePr>
        <p:xfrm>
          <a:off x="1779897" y="3387506"/>
          <a:ext cx="8632206" cy="1581607"/>
        </p:xfrm>
        <a:graphic>
          <a:graphicData uri="http://schemas.openxmlformats.org/drawingml/2006/table">
            <a:tbl>
              <a:tblPr/>
              <a:tblGrid>
                <a:gridCol w="1438701">
                  <a:extLst>
                    <a:ext uri="{9D8B030D-6E8A-4147-A177-3AD203B41FA5}">
                      <a16:colId xmlns:a16="http://schemas.microsoft.com/office/drawing/2014/main" val="2180332224"/>
                    </a:ext>
                  </a:extLst>
                </a:gridCol>
                <a:gridCol w="1438701">
                  <a:extLst>
                    <a:ext uri="{9D8B030D-6E8A-4147-A177-3AD203B41FA5}">
                      <a16:colId xmlns:a16="http://schemas.microsoft.com/office/drawing/2014/main" val="408394436"/>
                    </a:ext>
                  </a:extLst>
                </a:gridCol>
                <a:gridCol w="1438701">
                  <a:extLst>
                    <a:ext uri="{9D8B030D-6E8A-4147-A177-3AD203B41FA5}">
                      <a16:colId xmlns:a16="http://schemas.microsoft.com/office/drawing/2014/main" val="3715955377"/>
                    </a:ext>
                  </a:extLst>
                </a:gridCol>
                <a:gridCol w="1438701">
                  <a:extLst>
                    <a:ext uri="{9D8B030D-6E8A-4147-A177-3AD203B41FA5}">
                      <a16:colId xmlns:a16="http://schemas.microsoft.com/office/drawing/2014/main" val="895643462"/>
                    </a:ext>
                  </a:extLst>
                </a:gridCol>
                <a:gridCol w="1438701">
                  <a:extLst>
                    <a:ext uri="{9D8B030D-6E8A-4147-A177-3AD203B41FA5}">
                      <a16:colId xmlns:a16="http://schemas.microsoft.com/office/drawing/2014/main" val="3398100458"/>
                    </a:ext>
                  </a:extLst>
                </a:gridCol>
                <a:gridCol w="1438701">
                  <a:extLst>
                    <a:ext uri="{9D8B030D-6E8A-4147-A177-3AD203B41FA5}">
                      <a16:colId xmlns:a16="http://schemas.microsoft.com/office/drawing/2014/main" val="3269353198"/>
                    </a:ext>
                  </a:extLst>
                </a:gridCol>
              </a:tblGrid>
              <a:tr h="8224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Modified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1024, wm = 1.0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FF0101"/>
                          </a:solidFill>
                          <a:effectLst/>
                          <a:latin typeface="Times New Roman" panose="02020603050405020304" pitchFamily="18" charset="0"/>
                        </a:rPr>
                        <a:t>Original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1024, wm = 1.0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FF0101"/>
                          </a:solidFill>
                          <a:effectLst/>
                          <a:latin typeface="Times New Roman" panose="02020603050405020304" pitchFamily="18" charset="0"/>
                        </a:rPr>
                        <a:t>hd = 128</a:t>
                      </a: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wm = 1.0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1.0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FF0101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</a:t>
                      </a:r>
                      <a:r>
                        <a:rPr lang="zh-TW" sz="1100" b="1" i="0" u="none" strike="noStrike" dirty="0">
                          <a:solidFill>
                            <a:srgbClr val="FF0101"/>
                          </a:solidFill>
                          <a:effectLst/>
                          <a:latin typeface="Times New Roman" panose="02020603050405020304" pitchFamily="18" charset="0"/>
                        </a:rPr>
                        <a:t>wm = 0.5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352906"/>
                  </a:ext>
                </a:extLst>
              </a:tr>
              <a:tr h="3795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# Params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1.52 M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1.52 M (-0%)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M (-34.2%)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475.95 K (-68.7%)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150.78 K (-90.1%)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554117"/>
                  </a:ext>
                </a:extLst>
              </a:tr>
              <a:tr h="3795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MACs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23.59 M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13.76 M (-41.7%)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13.25 M (-43.8%)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10.07 M (-57.3%)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 M (-84.4%)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4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16816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B84FC16-BAE2-1E8F-F20F-B26325F97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329755"/>
              </p:ext>
            </p:extLst>
          </p:nvPr>
        </p:nvGraphicFramePr>
        <p:xfrm>
          <a:off x="1059013" y="5109987"/>
          <a:ext cx="10496910" cy="1382888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SPEC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≥ 85.11%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3.489%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6.033%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0.956%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zh-TW" sz="2400">
                          <a:effectLst/>
                        </a:rPr>
                        <a:t> 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91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8926-DB22-BEC5-196B-E5F52055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38222-67DA-510F-E23A-287C6162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3C23B4-9368-887E-9600-FF94BF6AF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2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reduce_tail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128 for KD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[0.45, 0.4, 0.35, 0.3]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488097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7B3B3-6364-BA3B-AB74-C0BB6E68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A7800-2880-EFC7-5A5D-9C3D50D6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35D0E1B-8FA9-CB23-7A6B-88F8CF977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871037"/>
              </p:ext>
            </p:extLst>
          </p:nvPr>
        </p:nvGraphicFramePr>
        <p:xfrm>
          <a:off x="3294130" y="5619144"/>
          <a:ext cx="5658598" cy="105156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dirty="0" err="1"/>
                        <a:t>width_mult</a:t>
                      </a:r>
                      <a:r>
                        <a:rPr lang="en-US" altLang="zh-TW" sz="1050" b="1" dirty="0"/>
                        <a:t> = 0.45</a:t>
                      </a:r>
                      <a:endParaRPr lang="zh-TW" altLang="en-US" sz="1050" b="1" dirty="0"/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98.19%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1.20%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>
                          <a:effectLst/>
                        </a:rPr>
                        <a:t>1.36%</a:t>
                      </a:r>
                      <a:endParaRPr lang="zh-TW" altLang="zh-TW" sz="1100" b="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1.05%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  <a:endParaRPr lang="zh-TW" sz="28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dirty="0" err="1"/>
                        <a:t>width_mult</a:t>
                      </a:r>
                      <a:r>
                        <a:rPr lang="en-US" altLang="zh-TW" sz="1050" b="1" dirty="0"/>
                        <a:t> = 0.4</a:t>
                      </a:r>
                      <a:endParaRPr lang="zh-TW" altLang="en-US" sz="1050" b="1" dirty="0"/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98.64%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1.18%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1.36%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1.00%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</a:t>
                      </a:r>
                      <a:endParaRPr lang="zh-TW" sz="28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FE150308-1045-3967-C33B-CAD9CBA8320A}"/>
              </a:ext>
            </a:extLst>
          </p:cNvPr>
          <p:cNvSpPr txBox="1"/>
          <p:nvPr/>
        </p:nvSpPr>
        <p:spPr>
          <a:xfrm>
            <a:off x="2083724" y="5106322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width_mult</a:t>
            </a:r>
            <a:r>
              <a:rPr lang="en-US" altLang="zh-TW" dirty="0"/>
              <a:t> = 0.45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26530-AAF3-1908-6757-C74C074CA595}"/>
              </a:ext>
            </a:extLst>
          </p:cNvPr>
          <p:cNvSpPr txBox="1"/>
          <p:nvPr/>
        </p:nvSpPr>
        <p:spPr>
          <a:xfrm>
            <a:off x="8268869" y="5106322"/>
            <a:ext cx="1832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width_mult</a:t>
            </a:r>
            <a:r>
              <a:rPr lang="en-US" altLang="zh-TW" dirty="0"/>
              <a:t> = 0.4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00E82BE-DC4D-2078-F9D9-07EE881E4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0275BAD-DB80-7869-3740-119267243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48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38A6-065A-823B-7870-40E6CC62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39D9F3-F64A-420A-122F-41DB0E5E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8592DE6-FD90-932F-BD22-3815BCF2C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17863"/>
              </p:ext>
            </p:extLst>
          </p:nvPr>
        </p:nvGraphicFramePr>
        <p:xfrm>
          <a:off x="3294130" y="5619144"/>
          <a:ext cx="5658598" cy="105156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dirty="0" err="1"/>
                        <a:t>width_mult</a:t>
                      </a:r>
                      <a:r>
                        <a:rPr lang="en-US" altLang="zh-TW" sz="1050" b="1" dirty="0"/>
                        <a:t> = 0.45</a:t>
                      </a:r>
                      <a:endParaRPr lang="zh-TW" altLang="en-US" sz="1050" b="1" dirty="0"/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90.05%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2.93%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1.81%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4.04%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186</a:t>
                      </a:r>
                      <a:endParaRPr lang="zh-TW" sz="28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b="1" dirty="0" err="1"/>
                        <a:t>width_mult</a:t>
                      </a:r>
                      <a:r>
                        <a:rPr lang="en-US" altLang="zh-TW" sz="1050" b="1" dirty="0"/>
                        <a:t> = 0.4</a:t>
                      </a:r>
                      <a:endParaRPr lang="zh-TW" altLang="en-US" sz="1050" b="1" dirty="0"/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88.24%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4.78%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5.43%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100" b="0" dirty="0">
                          <a:effectLst/>
                        </a:rPr>
                        <a:t>4.14%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168</a:t>
                      </a:r>
                      <a:endParaRPr lang="zh-TW" sz="28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234EDFC-4932-27C9-51FC-7DDC62FB825D}"/>
              </a:ext>
            </a:extLst>
          </p:cNvPr>
          <p:cNvSpPr txBox="1"/>
          <p:nvPr/>
        </p:nvSpPr>
        <p:spPr>
          <a:xfrm>
            <a:off x="2083724" y="5106322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width_mult</a:t>
            </a:r>
            <a:r>
              <a:rPr lang="en-US" altLang="zh-TW" dirty="0"/>
              <a:t> = 0.35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FE5C5F1-3C75-6E1B-1680-56FCDDC8D1D1}"/>
              </a:ext>
            </a:extLst>
          </p:cNvPr>
          <p:cNvSpPr txBox="1"/>
          <p:nvPr/>
        </p:nvSpPr>
        <p:spPr>
          <a:xfrm>
            <a:off x="8268869" y="5106322"/>
            <a:ext cx="1832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width_mult</a:t>
            </a:r>
            <a:r>
              <a:rPr lang="en-US" altLang="zh-TW" dirty="0"/>
              <a:t> = 0.3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53135CB-5BB8-8DBC-4D99-C6AE2981E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407A94C-CC77-26CE-0D50-3FB2BE0BF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6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302B1-37C7-11E0-6883-3B2C63D8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989672-FFAB-E970-C306-247F2E1F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II.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9DD0B-91A0-B9DE-762C-AD7E5C654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32" y="1469897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seems that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 is the smallest number we can set to meet the SPEC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Maybe we can continue reduce the hidden dimension of classifier while setting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 to prevent the student model become too small</a:t>
            </a:r>
          </a:p>
        </p:txBody>
      </p:sp>
    </p:spTree>
    <p:extLst>
      <p:ext uri="{BB962C8B-B14F-4D97-AF65-F5344CB8AC3E}">
        <p14:creationId xmlns:p14="http://schemas.microsoft.com/office/powerpoint/2010/main" val="2493312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3126BE-CAC8-4707-810E-5EE0B500C660}">
  <we:reference id="4b785c87-866c-4bad-85d8-5d1ae467ac9a" version="3.26.0.0" store="EXCatalog" storeType="EXCatalog"/>
  <we:alternateReferences>
    <we:reference id="WA104381909" version="3.26.0.0" store="zh-TW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6303</TotalTime>
  <Words>1640</Words>
  <Application>Microsoft Office PowerPoint</Application>
  <PresentationFormat>寬螢幕</PresentationFormat>
  <Paragraphs>307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6/30 個人咪挺 Results of different hidden dimension of classifier</vt:lpstr>
      <vt:lpstr>Modified MobileNet Model Structure</vt:lpstr>
      <vt:lpstr>Modified vs. Custom Bneck Structure</vt:lpstr>
      <vt:lpstr>Current Model Type</vt:lpstr>
      <vt:lpstr>Recall – MGD Process</vt:lpstr>
      <vt:lpstr>Parameter: width_mult</vt:lpstr>
      <vt:lpstr>Train Setting I.</vt:lpstr>
      <vt:lpstr>Metric Curve (TDR@FDR=1%, width_mult = 0.75)</vt:lpstr>
      <vt:lpstr>Metric Curve (TDR@FDR=1%, width_mult = 0.5)</vt:lpstr>
      <vt:lpstr>Metric Curve (TDR@FDR=1%, width_mult = 0.25)</vt:lpstr>
      <vt:lpstr>Result Matrix</vt:lpstr>
      <vt:lpstr>Summary I.</vt:lpstr>
      <vt:lpstr>Train Setting I.</vt:lpstr>
      <vt:lpstr>Metric Curve (TDR@FDR=1%)</vt:lpstr>
      <vt:lpstr>Metric Curve (TDR@FDR=1%)</vt:lpstr>
      <vt:lpstr>Summary II.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159</cp:revision>
  <dcterms:created xsi:type="dcterms:W3CDTF">2025-09-01T15:41:03Z</dcterms:created>
  <dcterms:modified xsi:type="dcterms:W3CDTF">2026-06-30T03:52:29Z</dcterms:modified>
</cp:coreProperties>
</file>
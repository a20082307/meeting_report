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91" r:id="rId3"/>
    <p:sldId id="302" r:id="rId4"/>
    <p:sldId id="284" r:id="rId5"/>
    <p:sldId id="303" r:id="rId6"/>
    <p:sldId id="293" r:id="rId7"/>
    <p:sldId id="304" r:id="rId8"/>
    <p:sldId id="307" r:id="rId9"/>
    <p:sldId id="305" r:id="rId10"/>
    <p:sldId id="306" r:id="rId11"/>
    <p:sldId id="301" r:id="rId12"/>
    <p:sldId id="308" r:id="rId1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42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1702F5-EEC7-43F1-8753-E49F1251FB00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6AB37-21CE-43C9-98D2-EEC12DC16F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048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38709-312E-164A-E169-609D39421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D8F1E5F-1FC2-C3B3-8E6D-3710EFE60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1094909-9C90-7255-9694-C2DE91F52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F29F62-47CE-9A63-BD96-475DD4A67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8617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D39E7-DEFD-FAA8-F49B-058D1B1BD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0F16EB-366B-AF78-4C87-3EC9A84B6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5B0ECD-E189-D15A-437E-35A34A8B0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0DB977-DE43-7839-12AF-BFAE7561A5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8071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0BCA0-3CCF-D446-A150-6C6D3D40E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C58AC8-E073-9D05-2FD8-6E52543BD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2813607-E868-B5BC-36F5-51745DA4E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0E4FD7-DE13-7C30-0DE2-5E9E9F4A9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8429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10FEC-B4C2-58B9-3BFB-81E7714F7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7A64E2-5672-7D93-61D4-3D0FA5232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F204B90-A3DA-C053-1EE1-EF226215B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294835-C177-9435-A5F0-C43D0EFEE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6694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EAA33-87C5-26B5-830A-9608F07E9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2C0AAF-CCFB-C619-2FE5-CE0C131DA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C961B9-B612-6535-A0F8-383C83766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071AA4-296D-FAD5-0C29-4F834A3876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87992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4EC7B-AB5E-C809-6CC7-2B23CD50B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957AAA-2E28-8BC9-D294-689DD55F93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07AE6E-C288-5EA9-0745-B02BA67746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BAF513-A519-341D-7285-D29749FBB7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14818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136C2-DF43-00B2-66C5-FBF7F6BAD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7969A84-BC11-EEB6-BD98-14B798F4E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4BF1CE5-118E-C198-3DDD-F05D93F1A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82EABD-1B63-6E9C-3F59-4696F0548F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0551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1D5E8-8808-8EA4-D5BC-36297C868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B4C712-D576-42FE-BDCA-5CB68DFD8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CEE9CE4-2339-146A-2338-37F67F518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76C6F9-45A4-2C16-204F-55535F01C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25890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DC770-E7C2-76D7-D69F-70489186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FADE19-2D54-CDA3-0427-25CB24526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EF94003-F12B-4358-1C21-2477080F2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10DEE48-1A9A-F5CB-57F4-46AB927D68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12750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1CE3A-07B3-925B-3F06-D2786EC39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0315BD5-1006-53B3-454C-E04E1AEA6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0CD0B8-98AB-9361-2A12-9082A719F0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3FAEEE-E48C-4074-9283-394917E8B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58381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2D9FA-DF6C-1938-AC3D-1D5E96F4C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3517A49-85A7-17CF-583E-BCE56CEB63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AADF9AA-570E-D4E0-9A20-96577FB5D6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3A2586-A7E9-6B9E-B9C9-7E7561352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36AB37-21CE-43C9-98D2-EEC12DC16FE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0675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D4DCBA-51AC-D91B-47BB-225CDD2CAE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BD35443-63AB-3EC9-4C95-14517F26F5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E7DC0BC-8B6B-5D06-F648-6BEC56232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CA1CF83-B8C3-0527-DB73-39EF864D5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D3C2DC4-176A-869E-5524-2BB4AC92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5278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CE5284-E6A7-DB8E-F4AD-683E7228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C3518F-E7CF-A5A9-772C-686B8E761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12D7864-750A-0C68-0679-1E0658508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7D2C57-3681-4A39-E0B0-4A4A93864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25840A-99A4-0733-D2A5-3C6DA7AB0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1991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2A5DA9-35BA-51E2-0602-E45F73A0E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970AA28-5A70-EF53-8E37-3BBF60A72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E086CC4-5AE6-24A5-8E01-5AA15EE9E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2E24F4A-A52C-43FE-C759-83753D3DA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19929D9-41D6-A96B-F658-3093CF768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4134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667688-E3C2-365B-E7B1-3A09A26F3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6CCC1-A33B-201B-5126-CC5DF3A3AE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EDB83EA-3693-E5A1-4DA0-D7C260403D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8A9F6EB-DF8A-7785-28B5-E1DD7893C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4D81CD-4A15-EB38-5E54-9CF64E96B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7FE8CD-30B4-82D9-6A3D-B5B7948D7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338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8288C8-1A78-D9CD-48BD-C78FC8C85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3F2DA23-D978-4625-4958-134BDCAE95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A290B02-5C50-D04F-76AD-4D18BB038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D1D64ED-6A45-9F9E-18DB-FAFE0C0478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5BFBE9D-957A-678B-4E8F-6BF86C2A03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4BA2C9A-E056-8B84-773D-956B58F4A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52D1E4F-C411-E9C1-184F-C4758942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2ED124-F997-8EDB-DC6D-5791A1277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375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578DDD-85A0-8A88-85BC-77BC25968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D3DC6CF-DE9A-8D77-4454-27F7EC81C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63892C1-B560-38AF-0E46-C7384C100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8D7D0F1-C437-5040-82FC-AEB9ADA05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2108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2FC309F-5D21-2DC0-2299-EECC9A91B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B7DFA01-E969-6DD8-CB5B-DDAB9A55D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4946CC-D32E-B973-93C3-DF7B666B5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2354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0BF451-5FC6-82F6-637D-0F7A8333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9D7F59-F1BE-F3D4-37A5-69E826EB8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A7818BD-75ED-0ED7-9684-90CF26D314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59D47E-1CD2-7F02-8736-BEA8066F9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4970CE9-FE59-884B-AA87-6525267E3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8824D4-B6A6-7EC0-3559-C0116A43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356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B3BD5F-7280-1728-56F0-85893636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0250C36-27A7-A928-3E18-262A19162A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26AF92-F7AE-DFE9-668F-2301504B8A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65A76F-A3EE-A51A-DFE1-4ED26DB12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A6173AB-9719-AA37-2A31-BF074D476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61EE834-E54F-316C-CB95-5DEDD844F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3299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FFA9E8-094A-D4BE-26F7-3C24200EF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6962626-7AC7-B1E5-C4CC-9DEEDC124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C26FA6-3AB6-5F0F-96BC-7C1E58F0E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79942ED-8906-52F9-E382-E7C8FEF53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2B9C5B7-32BF-6057-C07A-F35836BF1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1324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563645D-7CB2-6F76-9456-8622C20F0E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2D5E55E-6695-B7B7-9C3E-81A7FA8CE0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7D1E62-79D6-81D5-417F-04A183605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77AB272-8120-A724-2DD5-02DF78AAD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5E0427-9A80-23C2-23DD-0E0788B5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2078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FC02BF7-E234-88FF-25C1-67A0168DB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FF9B0BC-6ECF-7838-6875-F96D7CEC2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6892DF-9D40-70F0-ADDE-D0298766F7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97C4A-BE63-4EF5-B0E1-B2249042B5A8}" type="datetimeFigureOut">
              <a:rPr lang="zh-TW" altLang="en-US" smtClean="0"/>
              <a:t>2026/1/13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584B6F0-6550-3CE3-1E23-FA4AEE9213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081F80E-2576-6419-3956-6B702AF86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2FB4CB-5B9C-4887-8DFF-DBBABBC4C8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8301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6E718C-0417-3EF3-A019-EEE0579E7A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8438" y="2672204"/>
            <a:ext cx="9015124" cy="1513592"/>
          </a:xfrm>
        </p:spPr>
        <p:txBody>
          <a:bodyPr>
            <a:noAutofit/>
          </a:bodyPr>
          <a:lstStyle/>
          <a:p>
            <a:r>
              <a:rPr lang="en-US" altLang="zh-TW" sz="7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1/13 </a:t>
            </a:r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個人咪挺</a:t>
            </a:r>
            <a:br>
              <a:rPr lang="en-US" altLang="zh-TW" sz="72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MGD Implementation Result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6840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6F375-72CE-717C-7CCE-D3F983875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B1FE8D-2754-CFBD-1599-C448F9526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 – MGD Process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內容版面配置區 2">
                <a:extLst>
                  <a:ext uri="{FF2B5EF4-FFF2-40B4-BE49-F238E27FC236}">
                    <a16:creationId xmlns:a16="http://schemas.microsoft.com/office/drawing/2014/main" id="{F8A3F815-B203-4A53-0C43-681295019F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4403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Set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𝑙</m:t>
                    </m:r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altLang="zh-TW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random mask to cover the student’s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𝑙</m:t>
                    </m:r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altLang="zh-TW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feature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 the corresponding mask to cover the student’s feature map </a:t>
                </a:r>
                <a:b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try to generate teacher’s feature maps with remaining pixels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Calculate the distillation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𝑑𝑖𝑠</m:t>
                        </m:r>
                      </m:sub>
                    </m:sSub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for MGD as follow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altLang="zh-TW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altLang="zh-TW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altLang="zh-TW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 train all the models with total loss as follow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altLang="zh-TW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altLang="zh-TW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" name="內容版面配置區 2">
                <a:extLst>
                  <a:ext uri="{FF2B5EF4-FFF2-40B4-BE49-F238E27FC236}">
                    <a16:creationId xmlns:a16="http://schemas.microsoft.com/office/drawing/2014/main" id="{F8A3F815-B203-4A53-0C43-681295019F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44036"/>
                <a:ext cx="10515600" cy="4351338"/>
              </a:xfrm>
              <a:blipFill>
                <a:blip r:embed="rId3"/>
                <a:stretch>
                  <a:fillRect l="-812" t="-18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>
            <a:extLst>
              <a:ext uri="{FF2B5EF4-FFF2-40B4-BE49-F238E27FC236}">
                <a16:creationId xmlns:a16="http://schemas.microsoft.com/office/drawing/2014/main" id="{89661321-64A5-E580-1E04-143D771A4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103" y="3562505"/>
            <a:ext cx="741045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1DE4F170-CABE-E906-C801-5C06CEF6F0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187" y="5319555"/>
            <a:ext cx="309562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3549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F5458-9550-7E22-A31E-8BB115889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AA9BF9-4092-3436-15E2-AFF314830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 – MGD Pseudo code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 descr="一張含有 文字, 螢幕擷取畫面, 字型, 白色 的圖片&#10;&#10;AI 產生的內容可能不正確。">
            <a:extLst>
              <a:ext uri="{FF2B5EF4-FFF2-40B4-BE49-F238E27FC236}">
                <a16:creationId xmlns:a16="http://schemas.microsoft.com/office/drawing/2014/main" id="{E650FF88-7B1E-95AB-641D-D6678EC11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6944" y="2079146"/>
            <a:ext cx="9278112" cy="269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905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EE5C7-FE58-08CD-2036-B5D6A29DB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85660A-F695-8372-C46E-366B55514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Setting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8CDE5A-DBF3-6E85-B764-685669941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38536" cy="4351338"/>
          </a:xfrm>
        </p:spPr>
        <p:txBody>
          <a:bodyPr>
            <a:normAutofit lnSpcReduction="10000"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I5-10500 + 2080Ti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seed = 42</a:t>
            </a:r>
          </a:p>
          <a:p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SGD(</a:t>
            </a:r>
            <a:r>
              <a:rPr lang="en-US" altLang="zh-TW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0.01, </a:t>
            </a:r>
            <a:r>
              <a:rPr lang="en-US" altLang="zh-TW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weight_decay</a:t>
            </a: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1e-4) + </a:t>
            </a:r>
            <a:r>
              <a:rPr lang="en-US" altLang="zh-TW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BCEWithLogitsLoss</a:t>
            </a: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altLang="zh-TW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CosineAnnealingLR</a:t>
            </a:r>
            <a:endParaRPr lang="en-US" altLang="zh-TW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alpha = 7e-5, lambda = 0.5</a:t>
            </a:r>
          </a:p>
          <a:p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ABCD Dataset as training set (0.8 for training and 0.2 for validating)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Dataset as testing set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MobileNet_V3_Large as teacher model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MobileNet_V3_Small as student model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Teacher model is trained with 200 epochs</a:t>
            </a:r>
          </a:p>
        </p:txBody>
      </p:sp>
    </p:spTree>
    <p:extLst>
      <p:ext uri="{BB962C8B-B14F-4D97-AF65-F5344CB8AC3E}">
        <p14:creationId xmlns:p14="http://schemas.microsoft.com/office/powerpoint/2010/main" val="2678518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A1FA7-2359-440D-6D48-100E07E9F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C2821A-5DAF-DD17-D554-A15D5CDE4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Selected Feature Layers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2620292-6684-603F-47B6-1ED8875C9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021" y="2188306"/>
            <a:ext cx="8155957" cy="3818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3282362F-18A7-0FCA-81C2-223F13CBDFDF}"/>
              </a:ext>
            </a:extLst>
          </p:cNvPr>
          <p:cNvSpPr/>
          <p:nvPr/>
        </p:nvSpPr>
        <p:spPr>
          <a:xfrm>
            <a:off x="2154056" y="4731560"/>
            <a:ext cx="3412124" cy="15342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D63EFF-4709-9F02-C818-03FC78007A33}"/>
              </a:ext>
            </a:extLst>
          </p:cNvPr>
          <p:cNvSpPr/>
          <p:nvPr/>
        </p:nvSpPr>
        <p:spPr>
          <a:xfrm>
            <a:off x="5994740" y="4558704"/>
            <a:ext cx="3983879" cy="19740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604AFCBE-533F-FF53-5675-9D50A151F34F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5566180" y="4657406"/>
            <a:ext cx="428560" cy="1508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036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CD5E-48F8-CF79-9AC0-99CFF0BD9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 descr="一張含有 文字, 螢幕擷取畫面, 圖表, 繪圖 的圖片&#10;&#10;AI 產生的內容可能不正確。">
            <a:extLst>
              <a:ext uri="{FF2B5EF4-FFF2-40B4-BE49-F238E27FC236}">
                <a16:creationId xmlns:a16="http://schemas.microsoft.com/office/drawing/2014/main" id="{9F54CCD7-B2B2-4509-8726-1E49ABE24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0875"/>
            <a:ext cx="6096000" cy="4572000"/>
          </a:xfrm>
          <a:prstGeom prst="rect">
            <a:avLst/>
          </a:prstGeom>
        </p:spPr>
      </p:pic>
      <p:pic>
        <p:nvPicPr>
          <p:cNvPr id="11" name="圖片 10" descr="一張含有 文字, 螢幕擷取畫面, 圖表, 繪圖 的圖片&#10;&#10;AI 產生的內容可能不正確。">
            <a:extLst>
              <a:ext uri="{FF2B5EF4-FFF2-40B4-BE49-F238E27FC236}">
                <a16:creationId xmlns:a16="http://schemas.microsoft.com/office/drawing/2014/main" id="{06B4415E-BE36-0322-1814-EA2D65544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20875"/>
            <a:ext cx="6096000" cy="457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35FDAF66-5C5C-7994-E3F6-DD35DB409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Curve (MGD only)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771BFF8-B42E-01F1-7BFE-A86E007912E5}"/>
              </a:ext>
            </a:extLst>
          </p:cNvPr>
          <p:cNvSpPr txBox="1"/>
          <p:nvPr/>
        </p:nvSpPr>
        <p:spPr>
          <a:xfrm>
            <a:off x="2718230" y="1920875"/>
            <a:ext cx="659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Train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DF6124-0C2C-75AD-9483-D3A2A49A0D6E}"/>
              </a:ext>
            </a:extLst>
          </p:cNvPr>
          <p:cNvSpPr txBox="1"/>
          <p:nvPr/>
        </p:nvSpPr>
        <p:spPr>
          <a:xfrm>
            <a:off x="8648031" y="1920875"/>
            <a:ext cx="991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Validate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5211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27CF7-0C4C-3A10-169A-6EA206AE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C3689D-63A8-C525-67C1-3E1709371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 Curve (TDR@FDR=1%)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 descr="一張含有 文字, 繪圖, 行, 字型 的圖片&#10;&#10;AI 產生的內容可能不正確。">
            <a:extLst>
              <a:ext uri="{FF2B5EF4-FFF2-40B4-BE49-F238E27FC236}">
                <a16:creationId xmlns:a16="http://schemas.microsoft.com/office/drawing/2014/main" id="{8EC7AFC2-822B-60CD-4307-C5DBE8AB0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7" y="1492250"/>
            <a:ext cx="8505825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375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1BA47-CF4A-2CFB-6107-88B9DB413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BD823A-D40B-1343-6C29-0085EC28B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 with Logit KD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CA56E3-0FE7-83BC-525F-A334137BB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3853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I5-10500 + 2080Ti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seed = 42</a:t>
            </a:r>
          </a:p>
          <a:p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SGD(</a:t>
            </a:r>
            <a:r>
              <a:rPr lang="en-US" altLang="zh-TW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1e-4, </a:t>
            </a:r>
            <a:r>
              <a:rPr lang="en-US" altLang="zh-TW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weight_decay</a:t>
            </a: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1e-4) + </a:t>
            </a:r>
            <a:r>
              <a:rPr lang="en-US" altLang="zh-TW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BCEWithLogitsLoss</a:t>
            </a: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altLang="zh-TW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CosineAnnealingLR</a:t>
            </a:r>
            <a:endParaRPr lang="en-US" altLang="zh-TW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alpha = 7e-5, lambda = 0.5</a:t>
            </a:r>
          </a:p>
          <a:p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factor[‘BCE’] = factor[‘MGD’] = 1.0, factor[‘logit’] = 1.5</a:t>
            </a:r>
          </a:p>
          <a:p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ABCD Dataset as training set (0.8 for training and 0.2 for validating)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Dataset as testing set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MobileNet_V3_Large as teacher model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MobileNet_V3_Small as student model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Teacher model is trained with 200 epochs</a:t>
            </a:r>
          </a:p>
        </p:txBody>
      </p:sp>
    </p:spTree>
    <p:extLst>
      <p:ext uri="{BB962C8B-B14F-4D97-AF65-F5344CB8AC3E}">
        <p14:creationId xmlns:p14="http://schemas.microsoft.com/office/powerpoint/2010/main" val="1245755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8A8E3-C4AF-ABB6-FE87-D0CC6822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螢幕擷取畫面, 行, 圖表 的圖片&#10;&#10;AI 產生的內容可能不正確。">
            <a:extLst>
              <a:ext uri="{FF2B5EF4-FFF2-40B4-BE49-F238E27FC236}">
                <a16:creationId xmlns:a16="http://schemas.microsoft.com/office/drawing/2014/main" id="{6E427DBD-10F7-9192-70EB-ADADCB9B97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0875"/>
            <a:ext cx="6096000" cy="4572000"/>
          </a:xfrm>
          <a:prstGeom prst="rect">
            <a:avLst/>
          </a:prstGeom>
        </p:spPr>
      </p:pic>
      <p:pic>
        <p:nvPicPr>
          <p:cNvPr id="7" name="圖片 6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3B71C12D-23EA-303F-9B6F-F65D642A38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20875"/>
            <a:ext cx="6096000" cy="457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1A3A73A-1B0F-1189-D39D-66BEF0514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Curve (MGD + logit KD)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E364B97-9400-8ECE-4893-0A85ED492867}"/>
              </a:ext>
            </a:extLst>
          </p:cNvPr>
          <p:cNvSpPr txBox="1"/>
          <p:nvPr/>
        </p:nvSpPr>
        <p:spPr>
          <a:xfrm>
            <a:off x="2718230" y="1920875"/>
            <a:ext cx="659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Train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49BDCD3-B3C8-ABEE-6C7E-D340EEEAEA4A}"/>
              </a:ext>
            </a:extLst>
          </p:cNvPr>
          <p:cNvSpPr txBox="1"/>
          <p:nvPr/>
        </p:nvSpPr>
        <p:spPr>
          <a:xfrm>
            <a:off x="8648031" y="1920875"/>
            <a:ext cx="991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Validate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40531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896B1-9F93-A808-D5D7-47A456373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E92728-4D1E-4630-5D40-47F5C1E4D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 Curve (TDR@FDR=1%)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 descr="一張含有 文字, 繪圖, 螢幕擷取畫面, 行 的圖片&#10;&#10;AI 產生的內容可能不正確。">
            <a:extLst>
              <a:ext uri="{FF2B5EF4-FFF2-40B4-BE49-F238E27FC236}">
                <a16:creationId xmlns:a16="http://schemas.microsoft.com/office/drawing/2014/main" id="{ACE376A7-5E11-A6FD-B2BE-443E68528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7" y="1690688"/>
            <a:ext cx="8505825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425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DFB3A-76CE-7B99-745D-1D9591317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135E48-7C99-5711-E8F0-37150E1BF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Metric (TDR@FDR=1%)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ECEC04C-C2AB-5853-830A-59FE73A0C8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080351"/>
              </p:ext>
            </p:extLst>
          </p:nvPr>
        </p:nvGraphicFramePr>
        <p:xfrm>
          <a:off x="838200" y="1675829"/>
          <a:ext cx="7679378" cy="2614858"/>
        </p:xfrm>
        <a:graphic>
          <a:graphicData uri="http://schemas.openxmlformats.org/drawingml/2006/table">
            <a:tbl>
              <a:tblPr/>
              <a:tblGrid>
                <a:gridCol w="1474291">
                  <a:extLst>
                    <a:ext uri="{9D8B030D-6E8A-4147-A177-3AD203B41FA5}">
                      <a16:colId xmlns:a16="http://schemas.microsoft.com/office/drawing/2014/main" val="1384698806"/>
                    </a:ext>
                  </a:extLst>
                </a:gridCol>
                <a:gridCol w="886441">
                  <a:extLst>
                    <a:ext uri="{9D8B030D-6E8A-4147-A177-3AD203B41FA5}">
                      <a16:colId xmlns:a16="http://schemas.microsoft.com/office/drawing/2014/main" val="2228614201"/>
                    </a:ext>
                  </a:extLst>
                </a:gridCol>
                <a:gridCol w="886441">
                  <a:extLst>
                    <a:ext uri="{9D8B030D-6E8A-4147-A177-3AD203B41FA5}">
                      <a16:colId xmlns:a16="http://schemas.microsoft.com/office/drawing/2014/main" val="823836298"/>
                    </a:ext>
                  </a:extLst>
                </a:gridCol>
                <a:gridCol w="886441">
                  <a:extLst>
                    <a:ext uri="{9D8B030D-6E8A-4147-A177-3AD203B41FA5}">
                      <a16:colId xmlns:a16="http://schemas.microsoft.com/office/drawing/2014/main" val="4208677224"/>
                    </a:ext>
                  </a:extLst>
                </a:gridCol>
                <a:gridCol w="886441">
                  <a:extLst>
                    <a:ext uri="{9D8B030D-6E8A-4147-A177-3AD203B41FA5}">
                      <a16:colId xmlns:a16="http://schemas.microsoft.com/office/drawing/2014/main" val="2416381686"/>
                    </a:ext>
                  </a:extLst>
                </a:gridCol>
                <a:gridCol w="886441">
                  <a:extLst>
                    <a:ext uri="{9D8B030D-6E8A-4147-A177-3AD203B41FA5}">
                      <a16:colId xmlns:a16="http://schemas.microsoft.com/office/drawing/2014/main" val="468662118"/>
                    </a:ext>
                  </a:extLst>
                </a:gridCol>
                <a:gridCol w="886441">
                  <a:extLst>
                    <a:ext uri="{9D8B030D-6E8A-4147-A177-3AD203B41FA5}">
                      <a16:colId xmlns:a16="http://schemas.microsoft.com/office/drawing/2014/main" val="2753812439"/>
                    </a:ext>
                  </a:extLst>
                </a:gridCol>
                <a:gridCol w="886441">
                  <a:extLst>
                    <a:ext uri="{9D8B030D-6E8A-4147-A177-3AD203B41FA5}">
                      <a16:colId xmlns:a16="http://schemas.microsoft.com/office/drawing/2014/main" val="3171745748"/>
                    </a:ext>
                  </a:extLst>
                </a:gridCol>
              </a:tblGrid>
              <a:tr h="411001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Epoch</a:t>
                      </a:r>
                      <a:endParaRPr lang="en-US" sz="1400" b="1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en-US" sz="1400" b="1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130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180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521655"/>
                  </a:ext>
                </a:extLst>
              </a:tr>
              <a:tr h="51886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Teacher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61.09%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77.38%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88.24%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53.39%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85.97%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68.78%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89.59%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543079"/>
                  </a:ext>
                </a:extLst>
              </a:tr>
              <a:tr h="51886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Student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66.06%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65.61%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63.80%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70.59%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71.95%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80.09%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85.07%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569107"/>
                  </a:ext>
                </a:extLst>
              </a:tr>
              <a:tr h="47995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MGD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84.16%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87.78%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76.47%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81.00%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89.59%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87.78%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86.43%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049186"/>
                  </a:ext>
                </a:extLst>
              </a:tr>
              <a:tr h="47995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MGD + Logit KD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78.73%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78.28%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85.97%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86.43%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89.14%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87.33%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86.88%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0200730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A8FE433C-2405-D874-A4DB-E99A1D680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2373" y="2920093"/>
            <a:ext cx="87652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9055BD5-E346-3469-AC20-30415833D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4323047"/>
              </p:ext>
            </p:extLst>
          </p:nvPr>
        </p:nvGraphicFramePr>
        <p:xfrm>
          <a:off x="838200" y="4384764"/>
          <a:ext cx="7679378" cy="2115233"/>
        </p:xfrm>
        <a:graphic>
          <a:graphicData uri="http://schemas.openxmlformats.org/drawingml/2006/table">
            <a:tbl>
              <a:tblPr/>
              <a:tblGrid>
                <a:gridCol w="1475416">
                  <a:extLst>
                    <a:ext uri="{9D8B030D-6E8A-4147-A177-3AD203B41FA5}">
                      <a16:colId xmlns:a16="http://schemas.microsoft.com/office/drawing/2014/main" val="401869850"/>
                    </a:ext>
                  </a:extLst>
                </a:gridCol>
                <a:gridCol w="3101981">
                  <a:extLst>
                    <a:ext uri="{9D8B030D-6E8A-4147-A177-3AD203B41FA5}">
                      <a16:colId xmlns:a16="http://schemas.microsoft.com/office/drawing/2014/main" val="3325375474"/>
                    </a:ext>
                  </a:extLst>
                </a:gridCol>
                <a:gridCol w="3101981">
                  <a:extLst>
                    <a:ext uri="{9D8B030D-6E8A-4147-A177-3AD203B41FA5}">
                      <a16:colId xmlns:a16="http://schemas.microsoft.com/office/drawing/2014/main" val="3642255895"/>
                    </a:ext>
                  </a:extLst>
                </a:gridCol>
              </a:tblGrid>
              <a:tr h="43859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Best 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 Epoch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915357"/>
                  </a:ext>
                </a:extLst>
              </a:tr>
              <a:tr h="4191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Teacher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94.12%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9802477"/>
                  </a:ext>
                </a:extLst>
              </a:tr>
              <a:tr h="4191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Student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85.07%</a:t>
                      </a:r>
                      <a:endParaRPr lang="zh-TW" altLang="en-US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5440480"/>
                  </a:ext>
                </a:extLst>
              </a:tr>
              <a:tr h="4191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MGD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92.31%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152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71037"/>
                  </a:ext>
                </a:extLst>
              </a:tr>
              <a:tr h="41916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MGD + Logit KD</a:t>
                      </a: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91.40%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zh-TW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132</a:t>
                      </a:r>
                      <a:endParaRPr lang="zh-TW" alt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166412"/>
                  </a:ext>
                </a:extLst>
              </a:tr>
            </a:tbl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609C26A0-D835-C988-837E-2ED178E191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8650" y="3265488"/>
            <a:ext cx="5476681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3B39047-DC24-4CB7-0A0A-BA30CD6E82BF}"/>
              </a:ext>
            </a:extLst>
          </p:cNvPr>
          <p:cNvSpPr txBox="1"/>
          <p:nvPr/>
        </p:nvSpPr>
        <p:spPr>
          <a:xfrm>
            <a:off x="8730140" y="2856317"/>
            <a:ext cx="23703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zh-TW" sz="1800" b="0" i="0" u="none" strike="noStrike" dirty="0">
                <a:solidFill>
                  <a:srgbClr val="00B0F0"/>
                </a:solidFill>
                <a:effectLst/>
                <a:latin typeface="Times New Roman" panose="02020603050405020304" pitchFamily="18" charset="0"/>
              </a:rPr>
              <a:t>Blue</a:t>
            </a:r>
            <a:r>
              <a:rPr lang="en-US" altLang="zh-TW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: Performance of the Teacher checkpoint used for KD.</a:t>
            </a:r>
            <a:endParaRPr lang="en-US" altLang="zh-TW" b="0" dirty="0">
              <a:effectLst/>
            </a:endParaRPr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2A66B501-51A0-C678-171C-4FDC4C1AB21D}"/>
              </a:ext>
            </a:extLst>
          </p:cNvPr>
          <p:cNvCxnSpPr/>
          <p:nvPr/>
        </p:nvCxnSpPr>
        <p:spPr>
          <a:xfrm>
            <a:off x="838200" y="1675829"/>
            <a:ext cx="1475416" cy="61937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6778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413FE-C435-195A-643F-05A4FB97E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D29395-E7AF-E5CC-8AFF-DDCB7AC48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954A88-63E0-993D-5CE2-7B31AFE87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38536" cy="4351338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Try to combine AFL-KD (Adaptive Feature-Logit KD)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Re-train the teacher model with SGD and </a:t>
            </a:r>
            <a:r>
              <a:rPr lang="en-US" altLang="zh-TW" sz="2400">
                <a:latin typeface="Times New Roman" panose="02020603050405020304" pitchFamily="18" charset="0"/>
                <a:cs typeface="Times New Roman" panose="02020603050405020304" pitchFamily="18" charset="0"/>
              </a:rPr>
              <a:t>learning rate scheduler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5503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3420</TotalTime>
  <Words>424</Words>
  <Application>Microsoft Office PowerPoint</Application>
  <PresentationFormat>寬螢幕</PresentationFormat>
  <Paragraphs>114</Paragraphs>
  <Slides>12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9" baseType="lpstr">
      <vt:lpstr>標楷體</vt:lpstr>
      <vt:lpstr>Aptos</vt:lpstr>
      <vt:lpstr>Aptos Display</vt:lpstr>
      <vt:lpstr>Arial</vt:lpstr>
      <vt:lpstr>Cambria Math</vt:lpstr>
      <vt:lpstr>Times New Roman</vt:lpstr>
      <vt:lpstr>Office 佈景主題</vt:lpstr>
      <vt:lpstr>1/13 個人咪挺 MGD Implementation Result</vt:lpstr>
      <vt:lpstr>Recall – MGD Process</vt:lpstr>
      <vt:lpstr>Recall – MGD Pseudo code</vt:lpstr>
      <vt:lpstr>Train Setting</vt:lpstr>
      <vt:lpstr>Selected Feature Layers</vt:lpstr>
      <vt:lpstr>Loss Curve (MGD only)</vt:lpstr>
      <vt:lpstr>Metric Curve (TDR@FDR=1%)</vt:lpstr>
      <vt:lpstr>Combine with Logit KD</vt:lpstr>
      <vt:lpstr>Loss Curve (MGD + logit KD)</vt:lpstr>
      <vt:lpstr>Metric Curve (TDR@FDR=1%)</vt:lpstr>
      <vt:lpstr>Result Metric (TDR@FDR=1%)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林家逸</dc:creator>
  <cp:lastModifiedBy>林家逸</cp:lastModifiedBy>
  <cp:revision>55</cp:revision>
  <dcterms:created xsi:type="dcterms:W3CDTF">2025-09-01T15:41:03Z</dcterms:created>
  <dcterms:modified xsi:type="dcterms:W3CDTF">2026-01-12T17:21:26Z</dcterms:modified>
</cp:coreProperties>
</file>
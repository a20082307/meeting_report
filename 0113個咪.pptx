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91" r:id="rId3"/>
    <p:sldId id="302" r:id="rId4"/>
    <p:sldId id="284" r:id="rId5"/>
    <p:sldId id="303" r:id="rId6"/>
    <p:sldId id="293" r:id="rId7"/>
    <p:sldId id="304" r:id="rId8"/>
    <p:sldId id="307" r:id="rId9"/>
    <p:sldId id="305" r:id="rId10"/>
    <p:sldId id="306" r:id="rId11"/>
    <p:sldId id="301" r:id="rId12"/>
    <p:sldId id="30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39E7-DEFD-FAA8-F49B-058D1B1BD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B0F16EB-366B-AF78-4C87-3EC9A84B6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5B0ECD-E189-D15A-437E-35A34A8B0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0DB977-DE43-7839-12AF-BFAE7561A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071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BCA0-3CCF-D446-A150-6C6D3D40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58AC8-E073-9D05-2FD8-6E52543B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813607-E868-B5BC-36F5-51745DA4E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E4FD7-DE13-7C30-0DE2-5E9E9F4A9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42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10FEC-B4C2-58B9-3BFB-81E7714F7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7A64E2-5672-7D93-61D4-3D0FA5232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204B90-A3DA-C053-1EE1-EF226215B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294835-C177-9435-A5F0-C43D0EFEE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694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EC7B-AB5E-C809-6CC7-2B23CD50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957AAA-2E28-8BC9-D294-689DD55F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07AE6E-C288-5EA9-0745-B02BA6774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BAF513-A519-341D-7285-D29749FBB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481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36C2-DF43-00B2-66C5-FBF7F6BA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969A84-BC11-EEB6-BD98-14B798F4E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BF1CE5-118E-C198-3DDD-F05D93F1A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82EABD-1B63-6E9C-3F59-4696F0548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D5E8-8808-8EA4-D5BC-36297C86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3B4C712-D576-42FE-BDCA-5CB68DFD8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EE9CE4-2339-146A-2338-37F67F51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76C6F9-45A4-2C16-204F-55535F01C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589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DC770-E7C2-76D7-D69F-70489186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FADE19-2D54-CDA3-0427-25CB24526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F94003-F12B-4358-1C21-2477080F2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0DEE48-1A9A-F5CB-57F4-46AB927D6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1275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CE3A-07B3-925B-3F06-D2786EC3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315BD5-1006-53B3-454C-E04E1AEA6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0CD0B8-98AB-9361-2A12-9082A719F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3FAEEE-E48C-4074-9283-394917E8B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8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2D9FA-DF6C-1938-AC3D-1D5E96F4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3517A49-85A7-17CF-583E-BCE56CEB6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AADF9AA-570E-D4E0-9A20-96577FB5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3A2586-A7E9-6B9E-B9C9-7E7561352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067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1/13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MGD Implementation Result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F5458-9550-7E22-A31E-8BB11588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AA9BF9-4092-3436-15E2-AFF31483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Pseudo code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字型, 白色 的圖片&#10;&#10;AI 產生的內容可能不正確。">
            <a:extLst>
              <a:ext uri="{FF2B5EF4-FFF2-40B4-BE49-F238E27FC236}">
                <a16:creationId xmlns:a16="http://schemas.microsoft.com/office/drawing/2014/main" id="{E650FF88-7B1E-95AB-641D-D6678EC1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944" y="2079146"/>
            <a:ext cx="9278112" cy="269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0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E5C7-FE58-08CD-2036-B5D6A29D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5660A-F695-8372-C46E-366B5551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CDE5A-DBF3-6E85-B764-68566994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SGD(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CosineAnnealingLR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7e-5, lambda = 0.5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is trained with 200 epochs</a:t>
            </a:r>
          </a:p>
        </p:txBody>
      </p:sp>
    </p:spTree>
    <p:extLst>
      <p:ext uri="{BB962C8B-B14F-4D97-AF65-F5344CB8AC3E}">
        <p14:creationId xmlns:p14="http://schemas.microsoft.com/office/powerpoint/2010/main" val="267851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1FA7-2359-440D-6D48-100E07E9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C2821A-5DAF-DD17-D554-A15D5CDE4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Feature Layers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2620292-6684-603F-47B6-1ED8875C9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021" y="2188306"/>
            <a:ext cx="8155957" cy="381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82362F-18A7-0FCA-81C2-223F13CBDFDF}"/>
              </a:ext>
            </a:extLst>
          </p:cNvPr>
          <p:cNvSpPr/>
          <p:nvPr/>
        </p:nvSpPr>
        <p:spPr>
          <a:xfrm>
            <a:off x="2154056" y="4731560"/>
            <a:ext cx="3412124" cy="1534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D63EFF-4709-9F02-C818-03FC78007A33}"/>
              </a:ext>
            </a:extLst>
          </p:cNvPr>
          <p:cNvSpPr/>
          <p:nvPr/>
        </p:nvSpPr>
        <p:spPr>
          <a:xfrm>
            <a:off x="5994740" y="4558704"/>
            <a:ext cx="3983879" cy="1974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604AFCBE-533F-FF53-5675-9D50A151F34F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5566180" y="4657406"/>
            <a:ext cx="428560" cy="1508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36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9F54CCD7-B2B2-4509-8726-1E49ABE24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pic>
        <p:nvPicPr>
          <p:cNvPr id="11" name="圖片 10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06B4415E-BE36-0322-1814-EA2D65544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(MGD only)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7CF7-0C4C-3A10-169A-6EA206AE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C3689D-63A8-C525-67C1-3E170937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繪圖, 行, 字型 的圖片&#10;&#10;AI 產生的內容可能不正確。">
            <a:extLst>
              <a:ext uri="{FF2B5EF4-FFF2-40B4-BE49-F238E27FC236}">
                <a16:creationId xmlns:a16="http://schemas.microsoft.com/office/drawing/2014/main" id="{8EC7AFC2-822B-60CD-4307-C5DBE8AB0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75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BA47-CF4A-2CFB-6107-88B9DB41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823A-D40B-1343-6C29-0085EC28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with Logit KD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CA56E3-0FE7-83BC-525F-A334137BB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SGD(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1e-4,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BCEWithLogitsLoss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CosineAnnealingLR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 = 7e-5, lambda = 0.5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factor[‘BCE’] = factor[‘MGD’] = 1.0, factor[‘logit’] = 1.5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MobileNet_V3_Large as teacher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MobileNet_V3_Small as student model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is trained with 200 epochs</a:t>
            </a:r>
          </a:p>
        </p:txBody>
      </p:sp>
    </p:spTree>
    <p:extLst>
      <p:ext uri="{BB962C8B-B14F-4D97-AF65-F5344CB8AC3E}">
        <p14:creationId xmlns:p14="http://schemas.microsoft.com/office/powerpoint/2010/main" val="1245755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A8E3-C4AF-ABB6-FE87-D0CC6822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6E427DBD-10F7-9192-70EB-ADADCB9B9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pic>
        <p:nvPicPr>
          <p:cNvPr id="7" name="圖片 6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3B71C12D-23EA-303F-9B6F-F65D642A3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1A3A73A-1B0F-1189-D39D-66BEF051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(MGD + logit KD)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E364B97-9400-8ECE-4893-0A85ED492867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49BDCD3-B3C8-ABEE-6C7E-D340EEEAEA4A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0531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896B1-9F93-A808-D5D7-47A45637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E92728-4D1E-4630-5D40-47F5C1E4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繪圖, 螢幕擷取畫面, 行 的圖片&#10;&#10;AI 產生的內容可能不正確。">
            <a:extLst>
              <a:ext uri="{FF2B5EF4-FFF2-40B4-BE49-F238E27FC236}">
                <a16:creationId xmlns:a16="http://schemas.microsoft.com/office/drawing/2014/main" id="{ACE376A7-5E11-A6FD-B2BE-443E68528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2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FB3A-76CE-7B99-745D-1D959131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35E48-7C99-5711-E8F0-37150E1B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ECEC04C-C2AB-5853-830A-59FE73A0C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893033"/>
              </p:ext>
            </p:extLst>
          </p:nvPr>
        </p:nvGraphicFramePr>
        <p:xfrm>
          <a:off x="838200" y="1675829"/>
          <a:ext cx="7679378" cy="2614858"/>
        </p:xfrm>
        <a:graphic>
          <a:graphicData uri="http://schemas.openxmlformats.org/drawingml/2006/table">
            <a:tbl>
              <a:tblPr/>
              <a:tblGrid>
                <a:gridCol w="1474291">
                  <a:extLst>
                    <a:ext uri="{9D8B030D-6E8A-4147-A177-3AD203B41FA5}">
                      <a16:colId xmlns:a16="http://schemas.microsoft.com/office/drawing/2014/main" val="1384698806"/>
                    </a:ext>
                  </a:extLst>
                </a:gridCol>
                <a:gridCol w="886441">
                  <a:extLst>
                    <a:ext uri="{9D8B030D-6E8A-4147-A177-3AD203B41FA5}">
                      <a16:colId xmlns:a16="http://schemas.microsoft.com/office/drawing/2014/main" val="2228614201"/>
                    </a:ext>
                  </a:extLst>
                </a:gridCol>
                <a:gridCol w="886441">
                  <a:extLst>
                    <a:ext uri="{9D8B030D-6E8A-4147-A177-3AD203B41FA5}">
                      <a16:colId xmlns:a16="http://schemas.microsoft.com/office/drawing/2014/main" val="823836298"/>
                    </a:ext>
                  </a:extLst>
                </a:gridCol>
                <a:gridCol w="886441">
                  <a:extLst>
                    <a:ext uri="{9D8B030D-6E8A-4147-A177-3AD203B41FA5}">
                      <a16:colId xmlns:a16="http://schemas.microsoft.com/office/drawing/2014/main" val="4208677224"/>
                    </a:ext>
                  </a:extLst>
                </a:gridCol>
                <a:gridCol w="886441">
                  <a:extLst>
                    <a:ext uri="{9D8B030D-6E8A-4147-A177-3AD203B41FA5}">
                      <a16:colId xmlns:a16="http://schemas.microsoft.com/office/drawing/2014/main" val="2416381686"/>
                    </a:ext>
                  </a:extLst>
                </a:gridCol>
                <a:gridCol w="886441">
                  <a:extLst>
                    <a:ext uri="{9D8B030D-6E8A-4147-A177-3AD203B41FA5}">
                      <a16:colId xmlns:a16="http://schemas.microsoft.com/office/drawing/2014/main" val="468662118"/>
                    </a:ext>
                  </a:extLst>
                </a:gridCol>
                <a:gridCol w="886441">
                  <a:extLst>
                    <a:ext uri="{9D8B030D-6E8A-4147-A177-3AD203B41FA5}">
                      <a16:colId xmlns:a16="http://schemas.microsoft.com/office/drawing/2014/main" val="2753812439"/>
                    </a:ext>
                  </a:extLst>
                </a:gridCol>
                <a:gridCol w="886441">
                  <a:extLst>
                    <a:ext uri="{9D8B030D-6E8A-4147-A177-3AD203B41FA5}">
                      <a16:colId xmlns:a16="http://schemas.microsoft.com/office/drawing/2014/main" val="3171745748"/>
                    </a:ext>
                  </a:extLst>
                </a:gridCol>
              </a:tblGrid>
              <a:tr h="411001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Epoch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521655"/>
                  </a:ext>
                </a:extLst>
              </a:tr>
              <a:tr h="5188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69.23%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80.54%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94.12%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54.75%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91.40%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72.85%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89.59%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43079"/>
                  </a:ext>
                </a:extLst>
              </a:tr>
              <a:tr h="5188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66.06%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65.61%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63.80%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70.59%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71.95%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80.09%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85.07%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569107"/>
                  </a:ext>
                </a:extLst>
              </a:tr>
              <a:tr h="4799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84.16%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87.78%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76.47%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81.00%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89.59%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87.78%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86.43%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049186"/>
                  </a:ext>
                </a:extLst>
              </a:tr>
              <a:tr h="4799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+ Logit KD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78.73%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78.28%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85.97%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86.43%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89.14%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87.33%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86.88%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200730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A8FE433C-2405-D874-A4DB-E99A1D680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9055BD5-E346-3469-AC20-30415833D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323047"/>
              </p:ext>
            </p:extLst>
          </p:nvPr>
        </p:nvGraphicFramePr>
        <p:xfrm>
          <a:off x="838200" y="4384764"/>
          <a:ext cx="7679378" cy="2115233"/>
        </p:xfrm>
        <a:graphic>
          <a:graphicData uri="http://schemas.openxmlformats.org/drawingml/2006/table">
            <a:tbl>
              <a:tblPr/>
              <a:tblGrid>
                <a:gridCol w="1475416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3101981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3101981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94.12%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85.07%</a:t>
                      </a:r>
                      <a:endParaRPr lang="zh-TW" alt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92.31%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152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7103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MGD + Logit KD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91.40%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166412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09C26A0-D835-C988-837E-2ED178E19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3B39047-DC24-4CB7-0A0A-BA30CD6E82BF}"/>
              </a:ext>
            </a:extLst>
          </p:cNvPr>
          <p:cNvSpPr txBox="1"/>
          <p:nvPr/>
        </p:nvSpPr>
        <p:spPr>
          <a:xfrm>
            <a:off x="8730140" y="2856317"/>
            <a:ext cx="2370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zh-TW" sz="1800" b="0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Blue</a:t>
            </a: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Performance of the Teacher checkpoint used for KD.</a:t>
            </a:r>
            <a:endParaRPr lang="en-US" altLang="zh-TW" b="0" dirty="0">
              <a:effectLst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A66B501-51A0-C678-171C-4FDC4C1AB21D}"/>
              </a:ext>
            </a:extLst>
          </p:cNvPr>
          <p:cNvCxnSpPr/>
          <p:nvPr/>
        </p:nvCxnSpPr>
        <p:spPr>
          <a:xfrm>
            <a:off x="838200" y="1675829"/>
            <a:ext cx="1475416" cy="61937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778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413FE-C435-195A-643F-05A4FB97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29395-E7AF-E5CC-8AFF-DDCB7AC4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954A88-63E0-993D-5CE2-7B31AFE87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combine AFL-KD (Adaptive Feature-Logit KD)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Re-train the teacher model with SGD and learning rate scheduler</a:t>
            </a:r>
          </a:p>
        </p:txBody>
      </p:sp>
    </p:spTree>
    <p:extLst>
      <p:ext uri="{BB962C8B-B14F-4D97-AF65-F5344CB8AC3E}">
        <p14:creationId xmlns:p14="http://schemas.microsoft.com/office/powerpoint/2010/main" val="3945503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3576</TotalTime>
  <Words>424</Words>
  <Application>Microsoft Office PowerPoint</Application>
  <PresentationFormat>寬螢幕</PresentationFormat>
  <Paragraphs>114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1/13 個人咪挺 MGD Implementation Result</vt:lpstr>
      <vt:lpstr>Recall – MGD Process</vt:lpstr>
      <vt:lpstr>Recall – MGD Pseudo code</vt:lpstr>
      <vt:lpstr>Train Setting</vt:lpstr>
      <vt:lpstr>Selected Feature Layers</vt:lpstr>
      <vt:lpstr>Loss Curve (MGD only)</vt:lpstr>
      <vt:lpstr>Metric Curve (TDR@FDR=1%)</vt:lpstr>
      <vt:lpstr>Combine with Logit KD</vt:lpstr>
      <vt:lpstr>Loss Curve (MGD + logit KD)</vt:lpstr>
      <vt:lpstr>Metric Curve (TDR@FDR=1%)</vt:lpstr>
      <vt:lpstr>Result Metric (TDR@FDR=1%)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57</cp:revision>
  <dcterms:created xsi:type="dcterms:W3CDTF">2025-09-01T15:41:03Z</dcterms:created>
  <dcterms:modified xsi:type="dcterms:W3CDTF">2026-01-13T02:59:08Z</dcterms:modified>
</cp:coreProperties>
</file>
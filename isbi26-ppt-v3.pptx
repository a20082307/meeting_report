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5" r:id="rId5"/>
    <p:sldId id="266" r:id="rId6"/>
    <p:sldId id="259" r:id="rId7"/>
    <p:sldId id="261" r:id="rId8"/>
    <p:sldId id="262" r:id="rId9"/>
    <p:sldId id="272" r:id="rId10"/>
    <p:sldId id="273" r:id="rId11"/>
    <p:sldId id="27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2A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24" autoAdjust="0"/>
    <p:restoredTop sz="94720" autoAdjust="0"/>
  </p:normalViewPr>
  <p:slideViewPr>
    <p:cSldViewPr snapToGrid="0">
      <p:cViewPr varScale="1">
        <p:scale>
          <a:sx n="77" d="100"/>
          <a:sy n="77" d="100"/>
        </p:scale>
        <p:origin x="120" y="18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445EF0-C5E4-4E49-9904-A43A082A2417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80CF2D-DCA2-4B18-A4B4-DFA1470793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9320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0CF2D-DCA2-4B18-A4B4-DFA1470793D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8277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93F0CD6A-1A72-6DD5-C32F-61AA71FBC8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AD1724-21A8-ED77-2110-50FCEA11F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62348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B7CB37-B0B9-E353-0E4D-7C15886875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42023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9" name="Picture 8" descr="A black and white text with white text&#10;&#10;AI-generated content may be incorrect.">
            <a:extLst>
              <a:ext uri="{FF2B5EF4-FFF2-40B4-BE49-F238E27FC236}">
                <a16:creationId xmlns:a16="http://schemas.microsoft.com/office/drawing/2014/main" id="{473D484B-B21D-6D45-DFBE-4E310416210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969" y="1176246"/>
            <a:ext cx="6940062" cy="231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215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0B21F-263D-7C17-C3B8-7C5388B32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78AC8-5488-4CD0-DB18-22DE966B6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D4F1B-B59C-F579-543B-7F3A58803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6079D-EE38-4F32-A384-3AE47E3190E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150B1-4D5D-8749-2527-E2BA5B77E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0B7D0-FA20-CC0E-C33D-27EC79D8D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DD652-33DF-4844-91CF-905271228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496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FDE25-277D-4AB2-A3AF-78FCF436A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074D4C-4729-DFB1-FA8E-CC12E1E49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D23C9-397C-C60F-707E-83AFD2200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6079D-EE38-4F32-A384-3AE47E3190E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13BE4-38BF-1E83-1521-938583CBF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3EC05-8C20-FE71-8F80-10C6D61CB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DD652-33DF-4844-91CF-905271228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52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7D90-5DDF-12ED-BBA9-7619A90D2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E4A13-FDFE-DD93-3DD3-04087B24CE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7C8BB8-A7C8-3C12-8800-C35699B821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FCBEA0-8D30-392C-E824-095BC12E7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6079D-EE38-4F32-A384-3AE47E3190E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8F336-6336-F1E9-2948-74CB1B911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43318C-2F3F-0A07-E1C5-28F136593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DD652-33DF-4844-91CF-905271228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059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95CE4-AE60-2E42-3AC9-E9C02FBA9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DBDDB-6F0A-3031-CE1F-E6C90920E2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BC142B-5FD2-1BA1-70D3-85CABFEDA6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5B2CEA-DFF7-3CB9-F6B9-532FE3428F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7C969F-3359-1417-F583-592D743136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00AA87-0216-4D3C-A7C4-264612E6E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6079D-EE38-4F32-A384-3AE47E3190E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F32040-585A-69BC-2815-1163EF9A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EDEF98-8231-EE39-74A9-663045441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DD652-33DF-4844-91CF-905271228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6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9BBD4-29C7-84D8-240D-B29D6677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D16DAD-7DAE-7697-A9BB-86F1FADA2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6079D-EE38-4F32-A384-3AE47E3190E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A12755-3F89-932F-A683-922819E13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914743-D3CE-5643-4367-30A1326F5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DD652-33DF-4844-91CF-905271228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326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EACDD1-78B2-DC5F-CB58-CCF25B057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6079D-EE38-4F32-A384-3AE47E3190E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50B8AE-7CB4-3E8D-EE46-46A1C2A2C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619D9-359A-5E0B-161D-B636B76A5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DD652-33DF-4844-91CF-905271228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933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B06C3-C0A7-E7F9-04B6-4696BE4B6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36DAA-B550-C495-AACB-E2B03A5D7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DF9B71-2E18-D4ED-D717-8B2D7BF428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8C7BF8-DCA3-F0BC-4E00-DD9C6E3E6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6079D-EE38-4F32-A384-3AE47E3190E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183B2F-A48A-5E5E-EC26-3E3B3B286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C286A9-8E15-4FA0-AF3F-6C25B7EBD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DD652-33DF-4844-91CF-905271228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881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0099D-3629-2850-41C2-9094E8838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813CE7-8B8C-8B1F-3015-E028657081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0EC61F-FC14-1E22-98DE-E765C9327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4D0214-62BF-6DDF-4BBC-1B2737A34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6079D-EE38-4F32-A384-3AE47E3190E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E4F60F-0BBB-25D8-72C4-501EF7275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8D8157-C6F1-A134-0AA4-48CD669A9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DD652-33DF-4844-91CF-905271228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41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D5C9F-3B7F-E296-566F-6A937B436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795D98-C0A6-F70F-DE1C-63CE29CCE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6B815-86CB-5FDA-7F2F-E31BE4686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6079D-EE38-4F32-A384-3AE47E3190E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42CC6-EAE2-F81D-0753-DC4F4B585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949D1-BF69-5D93-550C-1D03E11AD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DD652-33DF-4844-91CF-905271228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550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00761E-3462-97B9-D432-4AC042E4FD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09F9E3-E5EF-FC13-E004-FEF1A54F9E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C9F8A-5243-6EBD-615D-90E6A7926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6079D-EE38-4F32-A384-3AE47E3190E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75DE2-4603-9322-0CB1-3E8BB52AB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CD8B4-C1E6-43D4-884A-03571D744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DD652-33DF-4844-91CF-905271228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712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buildings and a clock tower&#10;&#10;AI-generated content may be incorrect.">
            <a:extLst>
              <a:ext uri="{FF2B5EF4-FFF2-40B4-BE49-F238E27FC236}">
                <a16:creationId xmlns:a16="http://schemas.microsoft.com/office/drawing/2014/main" id="{90DDD159-401B-7097-7C31-173486189BC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83E6CD-138F-3C79-FE72-3CCC0DF49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B4B2B-9204-278E-60BB-744686C82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735BA-0965-539D-3087-C8362848BE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26079D-EE38-4F32-A384-3AE47E3190E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C7B57-D297-DE8F-8AF1-488153F3F6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D17C5-12BC-608D-1F0C-57689142C1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DDD652-33DF-4844-91CF-905271228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716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72A5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AEB58-AFEA-F0F4-E578-B8796548D7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5029" y="3516451"/>
            <a:ext cx="11561942" cy="1229444"/>
          </a:xfrm>
        </p:spPr>
        <p:txBody>
          <a:bodyPr>
            <a:normAutofit/>
          </a:bodyPr>
          <a:lstStyle/>
          <a:p>
            <a:r>
              <a:rPr lang="zh-TW" altLang="zh-TW" sz="3800">
                <a:latin typeface="Times New Roman"/>
                <a:ea typeface="Times New Roman"/>
                <a:cs typeface="Times New Roman"/>
                <a:sym typeface="Times New Roman"/>
              </a:rPr>
              <a:t>AMIE: </a:t>
            </a:r>
            <a:r>
              <a:rPr lang="zh-TW" altLang="zh-TW" sz="3800" dirty="0">
                <a:latin typeface="Times New Roman"/>
                <a:ea typeface="Times New Roman"/>
                <a:cs typeface="Times New Roman"/>
                <a:sym typeface="Times New Roman"/>
              </a:rPr>
              <a:t>Affine-Attentive Matching and Interpretive Imprint Evaluation for Partial Fingerprint Verification</a:t>
            </a:r>
            <a:endParaRPr lang="en-US" sz="3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F4A4F8-D169-D1CC-4FF1-4CB500A44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167" y="4767922"/>
            <a:ext cx="10481847" cy="202563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Tsai-Chieh Chen</a:t>
            </a:r>
            <a:r>
              <a:rPr lang="en-US" baseline="30000" dirty="0"/>
              <a:t>*</a:t>
            </a:r>
            <a:r>
              <a:rPr lang="en-US" dirty="0"/>
              <a:t>, </a:t>
            </a:r>
            <a:r>
              <a:rPr lang="en-US" b="1" u="sng" dirty="0"/>
              <a:t>Ching-</a:t>
            </a:r>
            <a:r>
              <a:rPr lang="en-US" b="1" u="sng" dirty="0" err="1"/>
              <a:t>Te</a:t>
            </a:r>
            <a:r>
              <a:rPr lang="en-US" b="1" u="sng" dirty="0"/>
              <a:t> Chiu</a:t>
            </a:r>
            <a:r>
              <a:rPr lang="en-US" b="1" u="sng" baseline="30000" dirty="0"/>
              <a:t>*</a:t>
            </a:r>
            <a:br>
              <a:rPr lang="en-US" dirty="0"/>
            </a:br>
            <a:r>
              <a:rPr lang="en-US" dirty="0"/>
              <a:t>Ned Lin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dirty="0"/>
              <a:t>, Ang Yu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dirty="0"/>
              <a:t>, Paul Lai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dirty="0"/>
              <a:t>, Daniel Chen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Chia-Yi Lin</a:t>
            </a:r>
            <a:r>
              <a:rPr lang="en-US" baseline="30000" dirty="0"/>
              <a:t>*</a:t>
            </a:r>
          </a:p>
          <a:p>
            <a:endParaRPr lang="en-US" baseline="30000" dirty="0"/>
          </a:p>
          <a:p>
            <a:pPr algn="l"/>
            <a:r>
              <a:rPr lang="en-US" sz="2000" baseline="30000" dirty="0"/>
              <a:t>* </a:t>
            </a:r>
            <a:r>
              <a:rPr lang="en-US" sz="2000" dirty="0"/>
              <a:t>Department of Computer Science, National Tsing Hua University, Taiwan</a:t>
            </a:r>
            <a:br>
              <a:rPr lang="en-US" sz="2000" dirty="0"/>
            </a:br>
            <a:r>
              <a:rPr lang="en-US" altLang="zh-TW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sz="2000" dirty="0"/>
              <a:t> </a:t>
            </a:r>
            <a:r>
              <a:rPr lang="en-US" altLang="zh-TW" sz="2000" dirty="0"/>
              <a:t>FocalTech Electronics Co., Ltd., Taiwan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75663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C9DD0-BE79-8FEC-0B92-DCF61E393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F4688-9926-1A3E-384A-0EAE42F2F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Detector: High-Coverage </a:t>
            </a:r>
            <a:r>
              <a:rPr lang="en-US" dirty="0" err="1"/>
              <a:t>Keypoint</a:t>
            </a:r>
            <a:r>
              <a:rPr lang="en-US" dirty="0"/>
              <a:t> Extraction</a:t>
            </a:r>
          </a:p>
          <a:p>
            <a:r>
              <a:rPr lang="en-US" dirty="0"/>
              <a:t>Matcher: Affine-Attentive </a:t>
            </a:r>
            <a:r>
              <a:rPr lang="en-US" dirty="0" err="1"/>
              <a:t>Keypoint</a:t>
            </a:r>
            <a:r>
              <a:rPr lang="en-US" dirty="0"/>
              <a:t> Matching</a:t>
            </a:r>
          </a:p>
          <a:p>
            <a:r>
              <a:rPr lang="en-US" dirty="0"/>
              <a:t>Verifier: Final Decision on Aligned ROI Pair</a:t>
            </a:r>
          </a:p>
          <a:p>
            <a:r>
              <a:rPr lang="en-US" dirty="0"/>
              <a:t>Experimental Results</a:t>
            </a:r>
          </a:p>
          <a:p>
            <a:r>
              <a:rPr lang="en-US" dirty="0"/>
              <a:t>Conclusion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770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57E30-5A73-61DB-EEDA-B1356F542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A0629-15B3-0970-7983-133F9191C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-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AF0DA-44E7-97AA-C94E-20A179B95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45593"/>
          </a:xfrm>
        </p:spPr>
        <p:txBody>
          <a:bodyPr>
            <a:normAutofit/>
          </a:bodyPr>
          <a:lstStyle/>
          <a:p>
            <a:r>
              <a:rPr lang="en-US" sz="2400" dirty="0"/>
              <a:t>Mobile devices now use smaller sensors, capturing only </a:t>
            </a:r>
            <a:r>
              <a:rPr lang="en-US" sz="2400" dirty="0">
                <a:solidFill>
                  <a:srgbClr val="FF0000"/>
                </a:solidFill>
              </a:rPr>
              <a:t>partial fingerprints.</a:t>
            </a:r>
          </a:p>
          <a:p>
            <a:r>
              <a:rPr lang="en-US" sz="2400" dirty="0"/>
              <a:t>Traditional minutiae-based matchers fail on partial prints due to</a:t>
            </a:r>
          </a:p>
          <a:p>
            <a:pPr lvl="1">
              <a:buClr>
                <a:srgbClr val="172A53"/>
              </a:buClr>
            </a:pPr>
            <a:r>
              <a:rPr lang="en-US" sz="2200" dirty="0">
                <a:solidFill>
                  <a:srgbClr val="FF0000"/>
                </a:solidFill>
              </a:rPr>
              <a:t>Few detectable minutiae</a:t>
            </a:r>
            <a:r>
              <a:rPr lang="en-US" sz="2200" dirty="0"/>
              <a:t> and </a:t>
            </a:r>
            <a:r>
              <a:rPr lang="en-US" sz="2200" dirty="0">
                <a:solidFill>
                  <a:srgbClr val="FF0000"/>
                </a:solidFill>
              </a:rPr>
              <a:t>poor overlap.</a:t>
            </a:r>
          </a:p>
          <a:p>
            <a:pPr lvl="1">
              <a:buClr>
                <a:srgbClr val="172A53"/>
              </a:buClr>
            </a:pPr>
            <a:r>
              <a:rPr lang="en-US" sz="2200" dirty="0">
                <a:solidFill>
                  <a:srgbClr val="FF0000"/>
                </a:solidFill>
              </a:rPr>
              <a:t>Distortions</a:t>
            </a:r>
            <a:r>
              <a:rPr lang="en-US" sz="2200" dirty="0"/>
              <a:t> from pressure, dry/wet skin, and image degradation.</a:t>
            </a:r>
          </a:p>
          <a:p>
            <a:pPr lvl="1"/>
            <a:r>
              <a:rPr lang="en-US" sz="2200" dirty="0"/>
              <a:t>Accuracy drops sharply when </a:t>
            </a:r>
            <a:r>
              <a:rPr lang="en-US" sz="2200" dirty="0">
                <a:solidFill>
                  <a:srgbClr val="FF0000"/>
                </a:solidFill>
              </a:rPr>
              <a:t>ridge detail is poor</a:t>
            </a:r>
            <a:r>
              <a:rPr lang="en-US" sz="2200" dirty="0"/>
              <a:t>. </a:t>
            </a:r>
          </a:p>
          <a:p>
            <a:endParaRPr lang="en-US" sz="2400" dirty="0"/>
          </a:p>
        </p:txBody>
      </p:sp>
      <p:pic>
        <p:nvPicPr>
          <p:cNvPr id="4" name="Google Shape;132;p16" title="PartialPrints-2.png">
            <a:extLst>
              <a:ext uri="{FF2B5EF4-FFF2-40B4-BE49-F238E27FC236}">
                <a16:creationId xmlns:a16="http://schemas.microsoft.com/office/drawing/2014/main" id="{FEE3E4E8-19AD-E24A-0DA8-7039CFB2C8C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60066" y="3872751"/>
            <a:ext cx="5012179" cy="289846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D471F39F-72ED-B529-44C0-4D581ABBB37D}"/>
              </a:ext>
            </a:extLst>
          </p:cNvPr>
          <p:cNvSpPr txBox="1"/>
          <p:nvPr/>
        </p:nvSpPr>
        <p:spPr>
          <a:xfrm>
            <a:off x="405647" y="4755443"/>
            <a:ext cx="352089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/>
              <a:t>Fig. 1.</a:t>
            </a:r>
            <a:r>
              <a:rPr lang="en-US" altLang="zh-TW" sz="1600" dirty="0"/>
              <a:t> Examples of challenging partial fingerprint pairs (top) and overlap showcases (bottom)</a:t>
            </a:r>
          </a:p>
          <a:p>
            <a:pPr marL="342900" indent="-342900">
              <a:buAutoNum type="alphaLcParenBoth"/>
            </a:pPr>
            <a:r>
              <a:rPr lang="en-US" altLang="zh-TW" sz="1600" dirty="0"/>
              <a:t>Small overlap area + poor quality</a:t>
            </a:r>
          </a:p>
          <a:p>
            <a:pPr marL="342900" indent="-342900">
              <a:buAutoNum type="alphaLcParenBoth"/>
            </a:pPr>
            <a:r>
              <a:rPr lang="zh-TW" altLang="zh-TW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Wet fingers causing ridge swelling</a:t>
            </a:r>
            <a:endParaRPr lang="en-US" altLang="zh-TW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indent="-342900">
              <a:buAutoNum type="alphaLcParenBoth"/>
            </a:pPr>
            <a:r>
              <a:rPr lang="zh-TW" altLang="zh-TW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Blurry prints with slight distortion from pressure or angle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778577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5F693-DB49-2BA0-326B-D3B5D1248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C9148-DE4A-4217-E32C-130B7669C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- 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74F06-6CA5-4D52-02C6-2A531C029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</a:rPr>
              <a:t>Having robustness </a:t>
            </a:r>
            <a:r>
              <a:rPr lang="en-US" altLang="zh-TW" sz="2400" dirty="0"/>
              <a:t>by detecting </a:t>
            </a:r>
            <a:r>
              <a:rPr lang="en-US" altLang="zh-TW" sz="2400" dirty="0" err="1"/>
              <a:t>keypoints</a:t>
            </a:r>
            <a:r>
              <a:rPr lang="en-US" altLang="zh-TW" sz="2400" dirty="0"/>
              <a:t> in almost every ridge block.</a:t>
            </a:r>
          </a:p>
          <a:p>
            <a:pPr lvl="1">
              <a:buClr>
                <a:schemeClr val="tx1"/>
              </a:buClr>
            </a:pPr>
            <a:r>
              <a:rPr lang="zh-TW" altLang="zh-TW" sz="2000" dirty="0"/>
              <a:t>SuperPoint-based Detector with stride-4</a:t>
            </a:r>
            <a:r>
              <a:rPr lang="en-US" altLang="zh-TW" sz="2000" dirty="0"/>
              <a:t> and fingerprint-specific fine-tuning.</a:t>
            </a:r>
            <a:endParaRPr lang="en-US" sz="2400" dirty="0">
              <a:solidFill>
                <a:srgbClr val="FF0000"/>
              </a:solidFill>
            </a:endParaRPr>
          </a:p>
          <a:p>
            <a:pPr>
              <a:buClr>
                <a:schemeClr val="tx1"/>
              </a:buClr>
            </a:pPr>
            <a:r>
              <a:rPr lang="en-US" sz="2400" dirty="0">
                <a:solidFill>
                  <a:srgbClr val="FF0000"/>
                </a:solidFill>
              </a:rPr>
              <a:t>Aligning pairs reliably</a:t>
            </a:r>
            <a:r>
              <a:rPr lang="en-US" sz="2400" dirty="0"/>
              <a:t> under minimal overlap.</a:t>
            </a:r>
          </a:p>
          <a:p>
            <a:pPr lvl="1">
              <a:buClr>
                <a:schemeClr val="tx1"/>
              </a:buClr>
            </a:pPr>
            <a:r>
              <a:rPr lang="en-US" sz="2000" dirty="0"/>
              <a:t>Geometry-aware attention via 24-param RPE (Relative Positional Encoding) in </a:t>
            </a:r>
            <a:r>
              <a:rPr lang="en-US" sz="2000" dirty="0" err="1"/>
              <a:t>LightGlue</a:t>
            </a:r>
            <a:r>
              <a:rPr lang="en-US" sz="2000" dirty="0"/>
              <a:t> </a:t>
            </a:r>
          </a:p>
          <a:p>
            <a:pPr lvl="1">
              <a:buClr>
                <a:schemeClr val="tx1"/>
              </a:buClr>
            </a:pPr>
            <a:r>
              <a:rPr lang="en-US" sz="2000" dirty="0"/>
              <a:t>Combined with MAGSAC++ for affine fitting at low overlaps </a:t>
            </a:r>
          </a:p>
          <a:p>
            <a:pPr>
              <a:buClr>
                <a:schemeClr val="tx1"/>
              </a:buClr>
            </a:pPr>
            <a:r>
              <a:rPr lang="en-US" sz="2400" dirty="0">
                <a:solidFill>
                  <a:srgbClr val="FF0000"/>
                </a:solidFill>
              </a:rPr>
              <a:t>Interpretable, CNN-free</a:t>
            </a:r>
            <a:r>
              <a:rPr lang="en-US" sz="2400" dirty="0"/>
              <a:t>, avoids heuristic segmentation/cropping .</a:t>
            </a:r>
          </a:p>
          <a:p>
            <a:pPr lvl="1"/>
            <a:r>
              <a:rPr lang="en-US" altLang="zh-TW" sz="2000" dirty="0"/>
              <a:t>Affine-warped binary mask defines pixel-accurate ROI (Region of Interest, possible overlapped area).</a:t>
            </a:r>
          </a:p>
          <a:p>
            <a:r>
              <a:rPr lang="en-US" altLang="zh-TW" sz="2400" dirty="0">
                <a:solidFill>
                  <a:srgbClr val="FF0000"/>
                </a:solidFill>
              </a:rPr>
              <a:t>Generalizing across different sensors </a:t>
            </a:r>
            <a:r>
              <a:rPr lang="en-US" altLang="zh-TW" sz="2400" dirty="0"/>
              <a:t>without re-training.</a:t>
            </a:r>
          </a:p>
          <a:p>
            <a:pPr lvl="1"/>
            <a:r>
              <a:rPr lang="en-US" sz="2000" dirty="0"/>
              <a:t>Lightweight </a:t>
            </a:r>
            <a:r>
              <a:rPr lang="en-US" sz="2000" dirty="0" err="1"/>
              <a:t>ResNet</a:t>
            </a:r>
            <a:r>
              <a:rPr lang="en-US" sz="2000" dirty="0"/>
              <a:t> (1.28M parameters) classifies only the aligned, ROI-masked region</a:t>
            </a:r>
          </a:p>
          <a:p>
            <a:pPr lvl="1"/>
            <a:endParaRPr lang="en-US" sz="20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60548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C13AA-D46A-A13A-6787-B31326C85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076F7-121E-0273-C6A0-819392E71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- Data flowchart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CF2A6553-D787-8C8A-367F-8219BF2E3D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6118" y="3824375"/>
            <a:ext cx="4044832" cy="303362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69367A-91A1-F4D9-E2BE-76879204B43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/>
          </a:p>
          <a:p>
            <a:endParaRPr lang="en-US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E61C9E4-7F3F-53DA-3FF0-D81659036985}"/>
              </a:ext>
            </a:extLst>
          </p:cNvPr>
          <p:cNvSpPr txBox="1">
            <a:spLocks/>
          </p:cNvSpPr>
          <p:nvPr/>
        </p:nvSpPr>
        <p:spPr>
          <a:xfrm>
            <a:off x="926051" y="1913476"/>
            <a:ext cx="7192767" cy="49445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Detector</a:t>
            </a:r>
          </a:p>
          <a:p>
            <a:pPr lvl="1"/>
            <a:r>
              <a:rPr lang="en-US" sz="2200" dirty="0"/>
              <a:t>A </a:t>
            </a:r>
            <a:r>
              <a:rPr lang="en-US" sz="2200" dirty="0" err="1">
                <a:solidFill>
                  <a:srgbClr val="FF0000"/>
                </a:solidFill>
              </a:rPr>
              <a:t>SuperPoint</a:t>
            </a:r>
            <a:r>
              <a:rPr lang="en-US" sz="2200" dirty="0">
                <a:solidFill>
                  <a:srgbClr val="FF0000"/>
                </a:solidFill>
              </a:rPr>
              <a:t>-based </a:t>
            </a:r>
            <a:r>
              <a:rPr lang="en-US" sz="2200" dirty="0" err="1"/>
              <a:t>keypoint</a:t>
            </a:r>
            <a:r>
              <a:rPr lang="en-US" sz="2200" dirty="0"/>
              <a:t> detector for </a:t>
            </a:r>
            <a:r>
              <a:rPr lang="en-US" sz="2200" dirty="0">
                <a:solidFill>
                  <a:srgbClr val="FF0000"/>
                </a:solidFill>
              </a:rPr>
              <a:t>high-coverage fingerprint features.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Matcher</a:t>
            </a:r>
          </a:p>
          <a:p>
            <a:pPr lvl="1"/>
            <a:r>
              <a:rPr lang="en-US" sz="2200" dirty="0"/>
              <a:t>An </a:t>
            </a:r>
            <a:r>
              <a:rPr lang="en-US" sz="2200" dirty="0">
                <a:solidFill>
                  <a:srgbClr val="FF0000"/>
                </a:solidFill>
              </a:rPr>
              <a:t>affine-attentive</a:t>
            </a:r>
            <a:r>
              <a:rPr lang="en-US" sz="2200" dirty="0"/>
              <a:t> matcher combining </a:t>
            </a:r>
            <a:r>
              <a:rPr lang="en-US" sz="2200" dirty="0" err="1"/>
              <a:t>LightGlue</a:t>
            </a:r>
            <a:r>
              <a:rPr lang="en-US" sz="2200" dirty="0"/>
              <a:t> with FC-GNN and followed by affine alignment via MAGSAC++ for </a:t>
            </a:r>
            <a:r>
              <a:rPr lang="en-US" sz="2200" dirty="0">
                <a:solidFill>
                  <a:srgbClr val="FF0000"/>
                </a:solidFill>
              </a:rPr>
              <a:t>geometry-aware attention.</a:t>
            </a:r>
          </a:p>
          <a:p>
            <a:pPr lvl="1"/>
            <a:r>
              <a:rPr lang="en-US" altLang="zh-TW" sz="2200" dirty="0"/>
              <a:t>A </a:t>
            </a:r>
            <a:r>
              <a:rPr lang="en-US" altLang="zh-TW" sz="2200" dirty="0">
                <a:solidFill>
                  <a:srgbClr val="FF0000"/>
                </a:solidFill>
              </a:rPr>
              <a:t>pixel-level, affine-warped binary ROI mask </a:t>
            </a:r>
            <a:r>
              <a:rPr lang="en-US" altLang="zh-TW" sz="2200" dirty="0"/>
              <a:t>enabling </a:t>
            </a:r>
            <a:r>
              <a:rPr lang="en-US" altLang="zh-TW" sz="2200" dirty="0">
                <a:solidFill>
                  <a:srgbClr val="FF0000"/>
                </a:solidFill>
              </a:rPr>
              <a:t>interpretable imprint localization.</a:t>
            </a:r>
            <a:endParaRPr lang="en-US" sz="2200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Verifier</a:t>
            </a:r>
          </a:p>
          <a:p>
            <a:pPr lvl="1"/>
            <a:r>
              <a:rPr lang="en-US" sz="2200" dirty="0"/>
              <a:t>An </a:t>
            </a:r>
            <a:r>
              <a:rPr lang="en-US" sz="2200" dirty="0">
                <a:solidFill>
                  <a:srgbClr val="FF0000"/>
                </a:solidFill>
              </a:rPr>
              <a:t>ROI-aware</a:t>
            </a:r>
            <a:r>
              <a:rPr lang="en-US" sz="2200" dirty="0"/>
              <a:t> verifier based on a lightweight </a:t>
            </a:r>
            <a:r>
              <a:rPr lang="en-US" sz="2200" dirty="0" err="1"/>
              <a:t>ResNet</a:t>
            </a:r>
            <a:r>
              <a:rPr lang="en-US" sz="2200" dirty="0"/>
              <a:t>, </a:t>
            </a:r>
            <a:r>
              <a:rPr lang="en-US" sz="2200" dirty="0">
                <a:solidFill>
                  <a:srgbClr val="FF0000"/>
                </a:solidFill>
              </a:rPr>
              <a:t>operating exclusively on aligned and masked regions.</a:t>
            </a:r>
          </a:p>
        </p:txBody>
      </p:sp>
      <p:pic>
        <p:nvPicPr>
          <p:cNvPr id="10" name="Google Shape;308;p36">
            <a:extLst>
              <a:ext uri="{FF2B5EF4-FFF2-40B4-BE49-F238E27FC236}">
                <a16:creationId xmlns:a16="http://schemas.microsoft.com/office/drawing/2014/main" id="{29281BEE-B3E9-4928-6572-A2706C48032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8164"/>
          <a:stretch/>
        </p:blipFill>
        <p:spPr>
          <a:xfrm>
            <a:off x="8354098" y="-38100"/>
            <a:ext cx="3809552" cy="363331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1BFCBAEC-D33C-744D-2E52-5AA970E8A9AC}"/>
              </a:ext>
            </a:extLst>
          </p:cNvPr>
          <p:cNvSpPr txBox="1"/>
          <p:nvPr/>
        </p:nvSpPr>
        <p:spPr>
          <a:xfrm>
            <a:off x="8878035" y="3464037"/>
            <a:ext cx="35208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/>
              <a:t>Fig. 2. </a:t>
            </a:r>
            <a:r>
              <a:rPr lang="en-US" altLang="zh-TW" sz="1600" dirty="0"/>
              <a:t>Pseudo algorithm of</a:t>
            </a:r>
            <a:r>
              <a:rPr lang="zh-TW" altLang="en-US" sz="1600" dirty="0"/>
              <a:t> </a:t>
            </a:r>
            <a:r>
              <a:rPr lang="en-US" altLang="zh-TW" sz="1600" dirty="0"/>
              <a:t>AMIE</a:t>
            </a:r>
            <a:endParaRPr lang="zh-TW" altLang="en-US" sz="16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FD347D3-BE96-AEB9-DCD8-6BC31D179A1D}"/>
              </a:ext>
            </a:extLst>
          </p:cNvPr>
          <p:cNvSpPr txBox="1"/>
          <p:nvPr/>
        </p:nvSpPr>
        <p:spPr>
          <a:xfrm>
            <a:off x="7975884" y="6541229"/>
            <a:ext cx="4320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/>
              <a:t>Fig. 3. </a:t>
            </a:r>
            <a:r>
              <a:rPr lang="en-US" altLang="zh-TW" sz="1600" dirty="0"/>
              <a:t>Overview of AMIE modules and data flow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246922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9A7BE-0222-8C8A-3560-49C9D466A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9BCE0-A55C-A8E8-5525-3A5A4B149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Detector: High-Coverage </a:t>
            </a:r>
            <a:r>
              <a:rPr lang="en-US" altLang="zh-TW" dirty="0" err="1"/>
              <a:t>Keypoint</a:t>
            </a:r>
            <a:r>
              <a:rPr lang="en-US" altLang="zh-TW" dirty="0"/>
              <a:t> Extraction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744B46-7E73-40E6-6C64-83A83B109D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3600" b="1" dirty="0"/>
                  <a:t>Role</a:t>
                </a:r>
              </a:p>
              <a:p>
                <a:r>
                  <a:rPr lang="en-US" sz="2400" dirty="0"/>
                  <a:t>Predict </a:t>
                </a:r>
                <a:r>
                  <a:rPr lang="en-US" sz="2400" dirty="0" err="1"/>
                  <a:t>keypoints</a:t>
                </a:r>
                <a:r>
                  <a:rPr lang="en-US" sz="2400" dirty="0"/>
                  <a:t> and descriptors for input images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p>
                    </m:sSup>
                  </m:oMath>
                </a14:m>
                <a:endParaRPr lang="en-US" sz="2400" b="0" dirty="0"/>
              </a:p>
              <a:p>
                <a:r>
                  <a:rPr lang="en-US" sz="2400" dirty="0"/>
                  <a:t>Inputs: Image pair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p>
                    </m:sSup>
                  </m:oMath>
                </a14:m>
                <a:endParaRPr lang="en-US" sz="2400" dirty="0"/>
              </a:p>
              <a:p>
                <a:r>
                  <a:rPr lang="en-US" sz="2400" dirty="0"/>
                  <a:t>Outputs: </a:t>
                </a:r>
                <a:r>
                  <a:rPr lang="en-US" sz="2400" dirty="0" err="1"/>
                  <a:t>Keypoints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×2</m:t>
                        </m:r>
                      </m:sup>
                    </m:sSup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and Descriptors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br>
                  <a:rPr lang="en-US" sz="2400" b="0" dirty="0"/>
                </a:br>
                <a:r>
                  <a:rPr lang="en-US" sz="2400" b="0" dirty="0"/>
                  <a:t>Where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0" dirty="0"/>
                  <a:t>is the number of top response by NMS</a:t>
                </a:r>
                <a:br>
                  <a:rPr lang="en-US" sz="2400" dirty="0"/>
                </a:br>
                <a:r>
                  <a:rPr lang="en-US" sz="2400" dirty="0"/>
                  <a:t>  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b="0" dirty="0"/>
                  <a:t> is the descriptor dimension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744B46-7E73-40E6-6C64-83A83B109D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97" t="-32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oogle Shape;316;p37" title="Detector2.png">
            <a:extLst>
              <a:ext uri="{FF2B5EF4-FFF2-40B4-BE49-F238E27FC236}">
                <a16:creationId xmlns:a16="http://schemas.microsoft.com/office/drawing/2014/main" id="{39760ED4-FC3C-BEF5-2ABA-402BD7C60B7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9760" y="4367605"/>
            <a:ext cx="9892480" cy="24903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71542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19050-50DE-5B5F-2B1B-EF40D5597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1702B-55F2-BF0A-6D78-F11BBA4B9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Matcher: Affine-Attentive </a:t>
            </a:r>
            <a:r>
              <a:rPr lang="en-US" altLang="zh-TW" dirty="0" err="1"/>
              <a:t>Keypoint</a:t>
            </a:r>
            <a:r>
              <a:rPr lang="en-US" altLang="zh-TW" dirty="0"/>
              <a:t> Matching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1FD25A0-CE10-BA02-93B8-97BE7406A7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3600" b="1" dirty="0"/>
                  <a:t>Role</a:t>
                </a:r>
              </a:p>
              <a:p>
                <a:r>
                  <a:rPr lang="en-US" sz="2400" b="0" dirty="0"/>
                  <a:t>Match </a:t>
                </a:r>
                <a:r>
                  <a:rPr lang="en-US" sz="2400" b="0" dirty="0" err="1"/>
                  <a:t>k</a:t>
                </a:r>
                <a:r>
                  <a:rPr lang="en-US" sz="2400" dirty="0" err="1"/>
                  <a:t>eypoints</a:t>
                </a:r>
                <a:r>
                  <a:rPr lang="en-US" sz="2400" dirty="0"/>
                  <a:t> and descriptors</a:t>
                </a:r>
                <a:endParaRPr lang="en-US" sz="2400" b="0" dirty="0"/>
              </a:p>
              <a:p>
                <a:r>
                  <a:rPr lang="en-US" sz="2400" dirty="0"/>
                  <a:t>Inputs: </a:t>
                </a:r>
                <a:r>
                  <a:rPr lang="en-US" sz="2400" dirty="0" err="1"/>
                  <a:t>K</a:t>
                </a:r>
                <a:r>
                  <a:rPr lang="en-US" altLang="zh-TW" sz="2400" dirty="0" err="1"/>
                  <a:t>eypoints</a:t>
                </a:r>
                <a:r>
                  <a:rPr lang="en-US" altLang="zh-TW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a:rPr lang="en-US" altLang="zh-TW" sz="2400" b="1" i="1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zh-TW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×2</m:t>
                        </m:r>
                      </m:sup>
                    </m:sSup>
                  </m:oMath>
                </a14:m>
                <a:r>
                  <a:rPr lang="en-US" altLang="zh-TW" sz="2400" b="1" dirty="0"/>
                  <a:t> </a:t>
                </a:r>
                <a:r>
                  <a:rPr lang="en-US" altLang="zh-TW" sz="2400" dirty="0"/>
                  <a:t>and Descriptors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endParaRPr lang="en-US" altLang="zh-TW" sz="2400" dirty="0"/>
              </a:p>
              <a:p>
                <a:r>
                  <a:rPr lang="en-US" sz="2400" dirty="0"/>
                  <a:t>Outputs: Similarity matrix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br>
                  <a:rPr lang="en-US" b="0" dirty="0"/>
                </a:br>
                <a:endParaRPr lang="en-US" b="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1FD25A0-CE10-BA02-93B8-97BE7406A7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797" t="-32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3AF311EE-BBFF-C096-46DD-ABAAE2889F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549" y="3904934"/>
            <a:ext cx="6438901" cy="2902962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1A08B086-2E63-F15A-C9FF-ABBE77D5F0F4}"/>
              </a:ext>
            </a:extLst>
          </p:cNvPr>
          <p:cNvSpPr txBox="1"/>
          <p:nvPr/>
        </p:nvSpPr>
        <p:spPr>
          <a:xfrm>
            <a:off x="4424937" y="6519446"/>
            <a:ext cx="3342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/>
              <a:t>Fig. 5. </a:t>
            </a:r>
            <a:r>
              <a:rPr lang="en-US" altLang="zh-TW" sz="1600" dirty="0"/>
              <a:t>Matcher module architecture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483899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FF5CB-5BDD-C0BC-8415-CEAF879B8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07A84-B1F8-45D3-7402-D1FB699FB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Verifier: Final Decision on Aligned ROI Pair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4F1D0C-D5B4-FD7A-2C25-154B439C7A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600" b="1" dirty="0"/>
                  <a:t>Role</a:t>
                </a:r>
              </a:p>
              <a:p>
                <a:r>
                  <a:rPr lang="en-US" sz="2400" dirty="0"/>
                  <a:t>Final decision head that takes the aligned, imprint-masked ROI pair and predicts a single match probability</a:t>
                </a:r>
              </a:p>
              <a:p>
                <a:r>
                  <a:rPr lang="en-US" sz="2400" dirty="0"/>
                  <a:t>Inputs: Concatenated ROI-masked imprints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𝑅𝑂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𝑅𝑂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Outputs: Scalar probability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∈[0, 1]</m:t>
                    </m:r>
                  </m:oMath>
                </a14:m>
                <a:r>
                  <a:rPr lang="en-US" sz="2400" dirty="0"/>
                  <a:t>, indicating “same finger”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4F1D0C-D5B4-FD7A-2C25-154B439C7A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97" t="-32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9214BC94-CB7D-B9D9-EBB5-CB4A664821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7699" y="4147299"/>
            <a:ext cx="3796602" cy="271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773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EC0EB-325C-610D-9553-343D2673C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BDD71-9704-20DF-5427-829D170F8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– Dataset &amp; Settings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B3E6FF-FE61-25DB-AA7D-3077EA968D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We evaluate models on three datasets</a:t>
                </a:r>
              </a:p>
              <a:p>
                <a:pPr lvl="1"/>
                <a:r>
                  <a:rPr lang="en-US" sz="2200" dirty="0">
                    <a:solidFill>
                      <a:srgbClr val="FF0000"/>
                    </a:solidFill>
                  </a:rPr>
                  <a:t>NASIC</a:t>
                </a:r>
                <a:r>
                  <a:rPr lang="en-US" sz="2200" dirty="0"/>
                  <a:t> (primary),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MixDataset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/>
                  <a:t>(composed) and </a:t>
                </a:r>
                <a:r>
                  <a:rPr lang="en-US" sz="2200" dirty="0">
                    <a:solidFill>
                      <a:srgbClr val="FF0000"/>
                    </a:solidFill>
                  </a:rPr>
                  <a:t>FT9399</a:t>
                </a:r>
                <a:r>
                  <a:rPr lang="en-US" sz="2200" dirty="0"/>
                  <a:t> (vendor-held)</a:t>
                </a:r>
              </a:p>
              <a:p>
                <a:r>
                  <a:rPr lang="en-US" sz="2400" dirty="0"/>
                  <a:t>Training on i9-12900K with one RTX 3090 Ti</a:t>
                </a:r>
              </a:p>
              <a:p>
                <a:r>
                  <a:rPr lang="en-US" sz="2400" dirty="0"/>
                  <a:t>Compared with </a:t>
                </a:r>
                <a:r>
                  <a:rPr lang="en-US" sz="2400" dirty="0" err="1"/>
                  <a:t>JIPNet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PFVNet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DeepPrint</a:t>
                </a:r>
                <a:r>
                  <a:rPr lang="en-US" sz="2400" dirty="0"/>
                  <a:t> and AFR-Net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2400" dirty="0">
                    <a:solidFill>
                      <a:srgbClr val="FF0000"/>
                    </a:solidFill>
                  </a:rPr>
                  <a:t>All of models are trained on NASIC</a:t>
                </a:r>
                <a:r>
                  <a:rPr lang="en-US" sz="2400" dirty="0"/>
                  <a:t>, and harmonized to accept 176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400" dirty="0"/>
                  <a:t>30 inputs</a:t>
                </a:r>
              </a:p>
              <a:p>
                <a:pPr>
                  <a:buClr>
                    <a:srgbClr val="172A53"/>
                  </a:buClr>
                </a:pPr>
                <a:r>
                  <a:rPr lang="en-US" sz="2400" dirty="0">
                    <a:solidFill>
                      <a:srgbClr val="FF0000"/>
                    </a:solidFill>
                  </a:rPr>
                  <a:t>EER</a:t>
                </a:r>
                <a:r>
                  <a:rPr lang="en-US" sz="2400" dirty="0"/>
                  <a:t>, </a:t>
                </a:r>
                <a:r>
                  <a:rPr lang="en-US" sz="2400" dirty="0">
                    <a:solidFill>
                      <a:srgbClr val="FF0000"/>
                    </a:solidFill>
                  </a:rPr>
                  <a:t>FRR@FAR=0.01% </a:t>
                </a:r>
                <a:r>
                  <a:rPr lang="en-US" sz="2400" dirty="0"/>
                  <a:t>and </a:t>
                </a:r>
                <a:r>
                  <a:rPr lang="en-US" sz="2400" dirty="0">
                    <a:solidFill>
                      <a:srgbClr val="FF0000"/>
                    </a:solidFill>
                  </a:rPr>
                  <a:t>MCE</a:t>
                </a:r>
                <a:r>
                  <a:rPr lang="en-US" sz="2400" dirty="0"/>
                  <a:t> are used as the metrics</a:t>
                </a:r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B3E6FF-FE61-25DB-AA7D-3077EA968D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821" r="-4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>
            <a:extLst>
              <a:ext uri="{FF2B5EF4-FFF2-40B4-BE49-F238E27FC236}">
                <a16:creationId xmlns:a16="http://schemas.microsoft.com/office/drawing/2014/main" id="{5843238A-DF5A-DFE2-8010-6A3A56F03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0118" y="4405521"/>
            <a:ext cx="7451764" cy="2452479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F0B74F6D-9036-DC57-33DC-ADA69AAB92D3}"/>
              </a:ext>
            </a:extLst>
          </p:cNvPr>
          <p:cNvSpPr txBox="1"/>
          <p:nvPr/>
        </p:nvSpPr>
        <p:spPr>
          <a:xfrm>
            <a:off x="9821882" y="5339372"/>
            <a:ext cx="2456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/>
              <a:t>Table 1. </a:t>
            </a:r>
            <a:r>
              <a:rPr lang="en-US" altLang="zh-TW" sz="1600" dirty="0"/>
              <a:t>Information of each dataset</a:t>
            </a:r>
            <a:endParaRPr lang="zh-TW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948602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F2F27-D058-8543-1AA2-F7AB16144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9887C-4561-7EB3-1E97-A4F117A90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–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6EA43-FCEF-C5AB-F42C-8B8681A50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AMIE is </a:t>
            </a:r>
            <a:r>
              <a:rPr lang="en-US" sz="2400" dirty="0">
                <a:solidFill>
                  <a:srgbClr val="FF0000"/>
                </a:solidFill>
              </a:rPr>
              <a:t>over six times more compact </a:t>
            </a:r>
            <a:r>
              <a:rPr lang="en-US" sz="2400" dirty="0"/>
              <a:t>than any other baselines</a:t>
            </a:r>
          </a:p>
          <a:p>
            <a:r>
              <a:rPr lang="en-US" sz="2400" dirty="0"/>
              <a:t>AMIE </a:t>
            </a:r>
            <a:r>
              <a:rPr lang="en-US" sz="2400" dirty="0">
                <a:solidFill>
                  <a:srgbClr val="FF0000"/>
                </a:solidFill>
              </a:rPr>
              <a:t>provides state-of-the-art accuracy, efficiency, and robustness </a:t>
            </a:r>
            <a:r>
              <a:rPr lang="en-US" sz="2400" dirty="0"/>
              <a:t>across both challenging real and synthetic benchmarks.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229B679-5DF6-E4DB-F281-94769E84F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598" y="3775646"/>
            <a:ext cx="9154803" cy="2191056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75C6B16-AB85-FB43-B6B6-19CC14E3B59F}"/>
              </a:ext>
            </a:extLst>
          </p:cNvPr>
          <p:cNvSpPr txBox="1"/>
          <p:nvPr/>
        </p:nvSpPr>
        <p:spPr>
          <a:xfrm>
            <a:off x="4634109" y="3272997"/>
            <a:ext cx="2923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/>
              <a:t>Table 2. </a:t>
            </a:r>
            <a:r>
              <a:rPr lang="en-US" altLang="zh-TW" sz="1600" dirty="0"/>
              <a:t>Performance of each model on different dataset</a:t>
            </a:r>
            <a:endParaRPr lang="zh-TW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445999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EB549-AB44-4F8C-605C-E68F2D11A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EBB55-E824-5631-0187-7FC000946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89AD34-A8E9-94E0-48E0-633F70734D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78071"/>
                <a:ext cx="10515600" cy="5379929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AMIE</a:t>
                </a:r>
              </a:p>
              <a:p>
                <a:pPr lvl="1"/>
                <a:r>
                  <a:rPr lang="en-US" sz="2200" dirty="0"/>
                  <a:t>A geometry-aware pipeline for partial fingerprint verification</a:t>
                </a:r>
              </a:p>
              <a:p>
                <a:pPr lvl="1"/>
                <a:r>
                  <a:rPr lang="en-US" sz="2200" dirty="0"/>
                  <a:t>Combines Detector</a:t>
                </a:r>
                <a14:m>
                  <m:oMath xmlns:m="http://schemas.openxmlformats.org/officeDocument/2006/math"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sz="2200" dirty="0"/>
                  <a:t>Matcher</a:t>
                </a:r>
                <a14:m>
                  <m:oMath xmlns:m="http://schemas.openxmlformats.org/officeDocument/2006/math">
                    <m:r>
                      <a:rPr lang="en-US" sz="22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sz="2200" b="0" dirty="0"/>
                  <a:t>Verifier with explicit alignment + ROI masking</a:t>
                </a:r>
              </a:p>
              <a:p>
                <a:pPr lvl="1"/>
                <a:r>
                  <a:rPr lang="en-US" sz="2200" dirty="0"/>
                  <a:t>Achieves robust and interpretable verification by enforcing geometry aware alignment and co-visible region masking</a:t>
                </a:r>
              </a:p>
              <a:p>
                <a:r>
                  <a:rPr lang="en-US" sz="2600" dirty="0"/>
                  <a:t>Performance Achievements</a:t>
                </a:r>
              </a:p>
              <a:p>
                <a:pPr lvl="1"/>
                <a:r>
                  <a:rPr lang="en-US" sz="2200" dirty="0"/>
                  <a:t>NASIC: EER ↓ 2.26%, FRR₀.₀₁% ↓ 6.07% (state-of-the-art)</a:t>
                </a:r>
              </a:p>
              <a:p>
                <a:pPr lvl="1"/>
                <a:r>
                  <a:rPr lang="en-US" sz="2200" dirty="0" err="1"/>
                  <a:t>MixDataset</a:t>
                </a:r>
                <a:r>
                  <a:rPr lang="en-US" sz="2200" dirty="0"/>
                  <a:t>: Alignment (MCE ↓ 6.24 </a:t>
                </a:r>
                <a:r>
                  <a:rPr lang="en-US" sz="2200" dirty="0" err="1"/>
                  <a:t>px</a:t>
                </a:r>
                <a:r>
                  <a:rPr lang="en-US" sz="2200" dirty="0"/>
                  <a:t>) while keeping EER &lt; 1%</a:t>
                </a:r>
              </a:p>
              <a:p>
                <a:pPr lvl="1"/>
                <a:r>
                  <a:rPr lang="en-US" sz="2200" dirty="0"/>
                  <a:t>Outperforms </a:t>
                </a:r>
                <a:r>
                  <a:rPr lang="en-US" sz="2200" dirty="0" err="1"/>
                  <a:t>JIPNet</a:t>
                </a:r>
                <a:r>
                  <a:rPr lang="en-US" sz="2200" dirty="0"/>
                  <a:t>, </a:t>
                </a:r>
                <a:r>
                  <a:rPr lang="en-US" sz="2200" dirty="0" err="1"/>
                  <a:t>PFVNet</a:t>
                </a:r>
                <a:r>
                  <a:rPr lang="en-US" sz="2200" dirty="0"/>
                  <a:t>, </a:t>
                </a:r>
                <a:r>
                  <a:rPr lang="en-US" sz="2200" dirty="0" err="1"/>
                  <a:t>DeepPrint</a:t>
                </a:r>
                <a:r>
                  <a:rPr lang="en-US" sz="2200" dirty="0"/>
                  <a:t>, </a:t>
                </a:r>
                <a:r>
                  <a:rPr lang="en-US" sz="2200" dirty="0" err="1"/>
                  <a:t>AFRNet</a:t>
                </a:r>
                <a:r>
                  <a:rPr lang="en-US" sz="2200" dirty="0"/>
                  <a:t> across strict operating points</a:t>
                </a:r>
              </a:p>
              <a:p>
                <a:pPr lvl="1"/>
                <a:r>
                  <a:rPr lang="zh-TW" altLang="zh-TW" dirty="0"/>
                  <a:t>Only 6.2M params, inference 6.8 ms/pair (vs. 38–57M params for baselines)</a:t>
                </a:r>
                <a:endParaRPr lang="en-US" sz="2200" dirty="0"/>
              </a:p>
              <a:p>
                <a:r>
                  <a:rPr lang="en-US" sz="2400" dirty="0"/>
                  <a:t>Insufficiency</a:t>
                </a:r>
              </a:p>
              <a:p>
                <a:pPr lvl="1"/>
                <a:r>
                  <a:rPr lang="en-US" sz="2200" b="0" dirty="0"/>
                  <a:t>Alignment accuracy may </a:t>
                </a:r>
                <a:r>
                  <a:rPr lang="en-US" sz="2200" b="0" dirty="0">
                    <a:solidFill>
                      <a:srgbClr val="FF0000"/>
                    </a:solidFill>
                  </a:rPr>
                  <a:t>degrade in cases of extremely minimal </a:t>
                </a:r>
                <a:br>
                  <a:rPr lang="en-US" sz="2200" b="0" dirty="0">
                    <a:solidFill>
                      <a:srgbClr val="FF0000"/>
                    </a:solidFill>
                  </a:rPr>
                </a:br>
                <a:r>
                  <a:rPr lang="en-US" sz="2200" b="0" dirty="0">
                    <a:solidFill>
                      <a:srgbClr val="FF0000"/>
                    </a:solidFill>
                  </a:rPr>
                  <a:t>overlap or rotation degree </a:t>
                </a:r>
                <a:r>
                  <a:rPr lang="en-US" sz="2200" dirty="0">
                    <a:solidFill>
                      <a:srgbClr val="FF0000"/>
                    </a:solidFill>
                  </a:rPr>
                  <a:t>exceeds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a:rPr lang="en-US" altLang="zh-TW" sz="2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𝜊</m:t>
                        </m:r>
                      </m:sup>
                    </m:sSup>
                  </m:oMath>
                </a14:m>
                <a:endParaRPr lang="en-US" sz="2200" b="0" dirty="0"/>
              </a:p>
              <a:p>
                <a:pPr lvl="1"/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89AD34-A8E9-94E0-48E0-633F70734D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78071"/>
                <a:ext cx="10515600" cy="5379929"/>
              </a:xfrm>
              <a:blipFill>
                <a:blip r:embed="rId2"/>
                <a:stretch>
                  <a:fillRect l="-928" t="-14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6030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666</TotalTime>
  <Words>766</Words>
  <Application>Microsoft Office PowerPoint</Application>
  <PresentationFormat>寬螢幕</PresentationFormat>
  <Paragraphs>82</Paragraphs>
  <Slides>11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Times New Roman</vt:lpstr>
      <vt:lpstr>Office Theme</vt:lpstr>
      <vt:lpstr>AMIE: Affine-Attentive Matching and Interpretive Imprint Evaluation for Partial Fingerprint Verification</vt:lpstr>
      <vt:lpstr>Outline</vt:lpstr>
      <vt:lpstr>Introduction - Background</vt:lpstr>
      <vt:lpstr>Introduction - Contributions</vt:lpstr>
      <vt:lpstr>Introduction - Data flowchart</vt:lpstr>
      <vt:lpstr>Detector: High-Coverage Keypoint Extraction</vt:lpstr>
      <vt:lpstr>Matcher: Affine-Attentive Keypoint Matching</vt:lpstr>
      <vt:lpstr>Verifier: Final Decision on Aligned ROI Pair</vt:lpstr>
      <vt:lpstr>Experiment – Dataset &amp; Settings</vt:lpstr>
      <vt:lpstr>Experiment – Result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Hough,Mackenzie C</dc:creator>
  <cp:lastModifiedBy>林家逸</cp:lastModifiedBy>
  <cp:revision>19</cp:revision>
  <dcterms:created xsi:type="dcterms:W3CDTF">2025-12-15T15:34:05Z</dcterms:created>
  <dcterms:modified xsi:type="dcterms:W3CDTF">2026-03-26T07:08:00Z</dcterms:modified>
</cp:coreProperties>
</file>
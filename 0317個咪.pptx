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314" r:id="rId3"/>
    <p:sldId id="319" r:id="rId4"/>
    <p:sldId id="326" r:id="rId5"/>
    <p:sldId id="320" r:id="rId6"/>
    <p:sldId id="313" r:id="rId7"/>
    <p:sldId id="318" r:id="rId8"/>
    <p:sldId id="327" r:id="rId9"/>
    <p:sldId id="328" r:id="rId10"/>
    <p:sldId id="312" r:id="rId11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F98F"/>
    <a:srgbClr val="FCDB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7" autoAdjust="0"/>
    <p:restoredTop sz="97484" autoAdjust="0"/>
  </p:normalViewPr>
  <p:slideViewPr>
    <p:cSldViewPr snapToGrid="0">
      <p:cViewPr varScale="1">
        <p:scale>
          <a:sx n="161" d="100"/>
          <a:sy n="161" d="100"/>
        </p:scale>
        <p:origin x="228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1702F5-EEC7-43F1-8753-E49F1251FB00}" type="datetimeFigureOut">
              <a:rPr lang="zh-TW" altLang="en-US" smtClean="0"/>
              <a:t>2026/3/17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36AB37-21CE-43C9-98D2-EEC12DC16FE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30484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4F47C-490F-90B9-82A0-AC43D6CA5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BFEE019-2C36-0710-2A70-F03814F005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3A7811C-2A84-7188-C080-EF987252A2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580C3D2-94C8-9949-39D7-869D0929E5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984119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5BCD1-1DB1-2D4B-5814-67E7FE084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1F070D8B-DEB5-DC23-1DE8-8E1BB6495B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6EFCCC3-D748-9ADF-1AF9-7782D20E18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C57AA0E-6F4E-1C1B-11FC-A6C1507736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75090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D4609-00EA-87D8-4F1B-3FE5FCC6A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623D2AC9-2FFF-3204-D716-E5966FE84A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F5474A6-7AB3-414D-1996-D154A15838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939A8AC-E180-0598-CF97-8D16C9AF1B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476385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38709-312E-164A-E169-609D39421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D8F1E5F-1FC2-C3B3-8E6D-3710EFE609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1094909-9C90-7255-9694-C2DE91F525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FF29F62-47CE-9A63-BD96-475DD4A671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286178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28D7A-F5B3-C1D8-E5D1-851A501B3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91D77C0-9270-61D6-75FE-A5A5DE0C92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9873FF7-1B8F-1AAE-AC48-71DE5037A9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BBE85BD-668D-2032-3C7C-5006AEE03D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622224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28B83-81F0-AEF6-5DFB-810F4C1D5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EAB739B9-1D26-28FA-C09D-32B000C99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B461D11-6812-AA98-B3D9-601EF95595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D854294-6615-CEB4-062D-5A18B56CE3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132537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AAC43-1192-1D38-364F-A98B845BE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8EBB8611-BC2A-BA66-5AD0-AD7DF4BBBE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43F4B7DC-E1BD-BC26-42B8-9E3C493E0F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BA5DD9E-FF88-14F1-4BBD-AFF53D98CB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689822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D1C7A6-F359-B699-F76D-8CBE3940B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3E061D51-232C-D893-95C6-F8C45136C7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8409095-A2C6-5C36-7C14-8F2031EB75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8FB9832-60C6-EA70-06B2-E92E7419F1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641872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EA62C-1E51-4A1A-1E4D-9CBCF0B83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746CC45-491A-04C3-9BB8-05AF07FDD1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4EE372E-FF46-8D67-DAE3-EB94102EA4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4881C7C-9C99-58E3-57AC-925A4753D3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26181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D4DCBA-51AC-D91B-47BB-225CDD2CAE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BD35443-63AB-3EC9-4C95-14517F26F5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E7DC0BC-8B6B-5D06-F648-6BEC56232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2026/3/17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CA1CF83-B8C3-0527-DB73-39EF864D5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D3C2DC4-176A-869E-5524-2BB4AC92F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5278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CE5284-E6A7-DB8E-F4AD-683E72284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DC3518F-E7CF-A5A9-772C-686B8E7618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12D7864-750A-0C68-0679-1E0658508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2026/3/17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17D2C57-3681-4A39-E0B0-4A4A93864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E25840A-99A4-0733-D2A5-3C6DA7AB0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51991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62A5DA9-35BA-51E2-0602-E45F73A0E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970AA28-5A70-EF53-8E37-3BBF60A72F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E086CC4-5AE6-24A5-8E01-5AA15EE9E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2026/3/17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2E24F4A-A52C-43FE-C759-83753D3DA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19929D9-41D6-A96B-F658-3093CF768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44134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0667688-E3C2-365B-E7B1-3A09A26F3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EB6CCC1-A33B-201B-5126-CC5DF3A3AE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EDB83EA-3693-E5A1-4DA0-D7C260403D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8A9F6EB-DF8A-7785-28B5-E1DD7893C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2026/3/17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B4D81CD-4A15-EB38-5E54-9CF64E96B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07FE8CD-30B4-82D9-6A3D-B5B7948D7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97338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38288C8-1A78-D9CD-48BD-C78FC8C85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3F2DA23-D978-4625-4958-134BDCAE95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A290B02-5C50-D04F-76AD-4D18BB038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D1D64ED-6A45-9F9E-18DB-FAFE0C0478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15BFBE9D-957A-678B-4E8F-6BF86C2A03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94BA2C9A-E056-8B84-773D-956B58F4A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2026/3/17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252D1E4F-C411-E9C1-184F-C47589427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B52ED124-F997-8EDB-DC6D-5791A1277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53753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578DDD-85A0-8A88-85BC-77BC25968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D3DC6CF-DE9A-8D77-4454-27F7EC81C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2026/3/17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B63892C1-B560-38AF-0E46-C7384C100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8D7D0F1-C437-5040-82FC-AEB9ADA05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12108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C2FC309F-5D21-2DC0-2299-EECC9A91B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2026/3/17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9B7DFA01-E969-6DD8-CB5B-DDAB9A55D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E4946CC-D32E-B973-93C3-DF7B666B5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82354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30BF451-5FC6-82F6-637D-0F7A83332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D9D7F59-F1BE-F3D4-37A5-69E826EB80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A7818BD-75ED-0ED7-9684-90CF26D314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059D47E-1CD2-7F02-8736-BEA8066F9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2026/3/17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4970CE9-FE59-884B-AA87-6525267E3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98824D4-B6A6-7EC0-3559-C0116A43D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356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B3BD5F-7280-1728-56F0-858936365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90250C36-27A7-A928-3E18-262A19162A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326AF92-F7AE-DFE9-668F-2301504B8A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265A76F-A3EE-A51A-DFE1-4ED26DB12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2026/3/17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A6173AB-9719-AA37-2A31-BF074D476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61EE834-E54F-316C-CB95-5DEDD844F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23299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FFA9E8-094A-D4BE-26F7-3C24200EF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6962626-7AC7-B1E5-C4CC-9DEEDC124D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AC26FA6-3AB6-5F0F-96BC-7C1E58F0E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2026/3/17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79942ED-8906-52F9-E382-E7C8FEF53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2B9C5B7-32BF-6057-C07A-F35836BF1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91324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C563645D-7CB2-6F76-9456-8622C20F0E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2D5E55E-6695-B7B7-9C3E-81A7FA8CE0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C7D1E62-79D6-81D5-417F-04A183605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2026/3/17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77AB272-8120-A724-2DD5-02DF78AAD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95E0427-9A80-23C2-23DD-0E0788B5D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2078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AFC02BF7-E234-88FF-25C1-67A0168DB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FF9B0BC-6ECF-7838-6875-F96D7CEC29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E6892DF-9D40-70F0-ADDE-D0298766F7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697C4A-BE63-4EF5-B0E1-B2249042B5A8}" type="datetimeFigureOut">
              <a:rPr lang="zh-TW" altLang="en-US" smtClean="0"/>
              <a:t>2026/3/17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584B6F0-6550-3CE3-1E23-FA4AEE9213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081F80E-2576-6419-3956-6B702AF862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38301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B6E718C-0417-3EF3-A019-EEE0579E7A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8438" y="2672204"/>
            <a:ext cx="9015124" cy="1513592"/>
          </a:xfrm>
        </p:spPr>
        <p:txBody>
          <a:bodyPr>
            <a:noAutofit/>
          </a:bodyPr>
          <a:lstStyle/>
          <a:p>
            <a:r>
              <a:rPr lang="en-US" altLang="zh-TW" sz="7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3/17 </a:t>
            </a:r>
            <a:r>
              <a:rPr lang="zh-TW" altLang="en-US" sz="72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個人</a:t>
            </a:r>
            <a:r>
              <a:rPr lang="zh-TW" altLang="en-US" sz="7200" dirty="0">
                <a:latin typeface="標楷體" panose="03000509000000000000" pitchFamily="65" charset="-120"/>
                <a:ea typeface="標楷體" panose="03000509000000000000" pitchFamily="65" charset="-120"/>
              </a:rPr>
              <a:t>咪挺</a:t>
            </a:r>
            <a:br>
              <a:rPr lang="en-US" altLang="zh-TW" sz="7200" dirty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The result of MGD with multiple feature layers</a:t>
            </a:r>
            <a:endParaRPr lang="zh-TW" altLang="en-US" sz="3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56840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45836-8FC3-1E0D-3890-E44FC3D88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CA4D3D-EA8B-909B-BA62-2BB3F4173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Notation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4" name="群組 53">
            <a:extLst>
              <a:ext uri="{FF2B5EF4-FFF2-40B4-BE49-F238E27FC236}">
                <a16:creationId xmlns:a16="http://schemas.microsoft.com/office/drawing/2014/main" id="{EE485152-795E-2AC3-58A4-6276713A6DBF}"/>
              </a:ext>
            </a:extLst>
          </p:cNvPr>
          <p:cNvGrpSpPr/>
          <p:nvPr/>
        </p:nvGrpSpPr>
        <p:grpSpPr>
          <a:xfrm>
            <a:off x="978231" y="1690688"/>
            <a:ext cx="10235538" cy="4318226"/>
            <a:chOff x="1339147" y="1690688"/>
            <a:chExt cx="9407030" cy="3818857"/>
          </a:xfrm>
        </p:grpSpPr>
        <p:grpSp>
          <p:nvGrpSpPr>
            <p:cNvPr id="50" name="群組 49">
              <a:extLst>
                <a:ext uri="{FF2B5EF4-FFF2-40B4-BE49-F238E27FC236}">
                  <a16:creationId xmlns:a16="http://schemas.microsoft.com/office/drawing/2014/main" id="{D10701E5-E2F2-4947-B3AD-86C22B22E44F}"/>
                </a:ext>
              </a:extLst>
            </p:cNvPr>
            <p:cNvGrpSpPr/>
            <p:nvPr/>
          </p:nvGrpSpPr>
          <p:grpSpPr>
            <a:xfrm>
              <a:off x="2018021" y="1690688"/>
              <a:ext cx="8728156" cy="3818857"/>
              <a:chOff x="2018021" y="1690688"/>
              <a:chExt cx="8728156" cy="3818857"/>
            </a:xfrm>
          </p:grpSpPr>
          <p:grpSp>
            <p:nvGrpSpPr>
              <p:cNvPr id="48" name="群組 47">
                <a:extLst>
                  <a:ext uri="{FF2B5EF4-FFF2-40B4-BE49-F238E27FC236}">
                    <a16:creationId xmlns:a16="http://schemas.microsoft.com/office/drawing/2014/main" id="{6F7AC5C5-4650-12ED-410E-91E2E13C4285}"/>
                  </a:ext>
                </a:extLst>
              </p:cNvPr>
              <p:cNvGrpSpPr/>
              <p:nvPr/>
            </p:nvGrpSpPr>
            <p:grpSpPr>
              <a:xfrm>
                <a:off x="2018021" y="1690688"/>
                <a:ext cx="8155957" cy="3818857"/>
                <a:chOff x="2018021" y="1690688"/>
                <a:chExt cx="8155957" cy="3818857"/>
              </a:xfrm>
            </p:grpSpPr>
            <p:pic>
              <p:nvPicPr>
                <p:cNvPr id="5" name="Picture 4">
                  <a:extLst>
                    <a:ext uri="{FF2B5EF4-FFF2-40B4-BE49-F238E27FC236}">
                      <a16:creationId xmlns:a16="http://schemas.microsoft.com/office/drawing/2014/main" id="{C233CB55-5F90-7AD8-DACF-6E70B7CA9438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018021" y="1690688"/>
                  <a:ext cx="8155957" cy="3818857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6" name="矩形 5">
                  <a:extLst>
                    <a:ext uri="{FF2B5EF4-FFF2-40B4-BE49-F238E27FC236}">
                      <a16:creationId xmlns:a16="http://schemas.microsoft.com/office/drawing/2014/main" id="{AD706AF3-D138-93A5-1E40-2D08818AF02F}"/>
                    </a:ext>
                  </a:extLst>
                </p:cNvPr>
                <p:cNvSpPr/>
                <p:nvPr/>
              </p:nvSpPr>
              <p:spPr>
                <a:xfrm>
                  <a:off x="2095995" y="2012868"/>
                  <a:ext cx="3544784" cy="130628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8" name="矩形 7">
                  <a:extLst>
                    <a:ext uri="{FF2B5EF4-FFF2-40B4-BE49-F238E27FC236}">
                      <a16:creationId xmlns:a16="http://schemas.microsoft.com/office/drawing/2014/main" id="{F8CA5AB9-E9CD-6511-B7AF-1D84460360B0}"/>
                    </a:ext>
                  </a:extLst>
                </p:cNvPr>
                <p:cNvSpPr/>
                <p:nvPr/>
              </p:nvSpPr>
              <p:spPr>
                <a:xfrm>
                  <a:off x="2095995" y="2311296"/>
                  <a:ext cx="3544784" cy="130628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81425E57-CDD4-1C06-1C82-1C2F4B214CA4}"/>
                    </a:ext>
                  </a:extLst>
                </p:cNvPr>
                <p:cNvSpPr/>
                <p:nvPr/>
              </p:nvSpPr>
              <p:spPr>
                <a:xfrm>
                  <a:off x="2095995" y="2603786"/>
                  <a:ext cx="3544784" cy="130628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E5C6F402-87F9-7973-08D0-68BC8D8B3BA0}"/>
                    </a:ext>
                  </a:extLst>
                </p:cNvPr>
                <p:cNvSpPr/>
                <p:nvPr/>
              </p:nvSpPr>
              <p:spPr>
                <a:xfrm>
                  <a:off x="2095995" y="3049979"/>
                  <a:ext cx="3544784" cy="130628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1" name="矩形 10">
                  <a:extLst>
                    <a:ext uri="{FF2B5EF4-FFF2-40B4-BE49-F238E27FC236}">
                      <a16:creationId xmlns:a16="http://schemas.microsoft.com/office/drawing/2014/main" id="{9F5C767F-3FBD-1A3A-C92C-6260B8FACBAD}"/>
                    </a:ext>
                  </a:extLst>
                </p:cNvPr>
                <p:cNvSpPr/>
                <p:nvPr/>
              </p:nvSpPr>
              <p:spPr>
                <a:xfrm>
                  <a:off x="2095995" y="4099837"/>
                  <a:ext cx="3544784" cy="130628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2" name="矩形 11">
                  <a:extLst>
                    <a:ext uri="{FF2B5EF4-FFF2-40B4-BE49-F238E27FC236}">
                      <a16:creationId xmlns:a16="http://schemas.microsoft.com/office/drawing/2014/main" id="{7F758B06-49DB-B022-F9ED-08EEFCEE0393}"/>
                    </a:ext>
                  </a:extLst>
                </p:cNvPr>
                <p:cNvSpPr/>
                <p:nvPr/>
              </p:nvSpPr>
              <p:spPr>
                <a:xfrm>
                  <a:off x="5872348" y="2066306"/>
                  <a:ext cx="4120737" cy="172192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3" name="矩形 12">
                  <a:extLst>
                    <a:ext uri="{FF2B5EF4-FFF2-40B4-BE49-F238E27FC236}">
                      <a16:creationId xmlns:a16="http://schemas.microsoft.com/office/drawing/2014/main" id="{4EF19511-84D7-1D34-F284-7B2E0223A15C}"/>
                    </a:ext>
                  </a:extLst>
                </p:cNvPr>
                <p:cNvSpPr/>
                <p:nvPr/>
              </p:nvSpPr>
              <p:spPr>
                <a:xfrm>
                  <a:off x="5872347" y="2251920"/>
                  <a:ext cx="4120737" cy="172192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4" name="矩形 13">
                  <a:extLst>
                    <a:ext uri="{FF2B5EF4-FFF2-40B4-BE49-F238E27FC236}">
                      <a16:creationId xmlns:a16="http://schemas.microsoft.com/office/drawing/2014/main" id="{5BDFE407-66B1-8479-1E1A-AA91A6B31E0A}"/>
                    </a:ext>
                  </a:extLst>
                </p:cNvPr>
                <p:cNvSpPr/>
                <p:nvPr/>
              </p:nvSpPr>
              <p:spPr>
                <a:xfrm>
                  <a:off x="5872347" y="2431595"/>
                  <a:ext cx="4120737" cy="172192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5" name="矩形 14">
                  <a:extLst>
                    <a:ext uri="{FF2B5EF4-FFF2-40B4-BE49-F238E27FC236}">
                      <a16:creationId xmlns:a16="http://schemas.microsoft.com/office/drawing/2014/main" id="{D2D404A9-F997-911E-D705-6EECE098A319}"/>
                    </a:ext>
                  </a:extLst>
                </p:cNvPr>
                <p:cNvSpPr/>
                <p:nvPr/>
              </p:nvSpPr>
              <p:spPr>
                <a:xfrm>
                  <a:off x="5872347" y="2799730"/>
                  <a:ext cx="4120737" cy="172192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7" name="矩形 16">
                  <a:extLst>
                    <a:ext uri="{FF2B5EF4-FFF2-40B4-BE49-F238E27FC236}">
                      <a16:creationId xmlns:a16="http://schemas.microsoft.com/office/drawing/2014/main" id="{9B954716-2EAF-3F44-C3CB-3B89C26288EB}"/>
                    </a:ext>
                  </a:extLst>
                </p:cNvPr>
                <p:cNvSpPr/>
                <p:nvPr/>
              </p:nvSpPr>
              <p:spPr>
                <a:xfrm>
                  <a:off x="5872346" y="3713887"/>
                  <a:ext cx="4120737" cy="172192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cxnSp>
              <p:nvCxnSpPr>
                <p:cNvPr id="19" name="直線接點 18">
                  <a:extLst>
                    <a:ext uri="{FF2B5EF4-FFF2-40B4-BE49-F238E27FC236}">
                      <a16:creationId xmlns:a16="http://schemas.microsoft.com/office/drawing/2014/main" id="{4DE0B037-DAE0-94E5-D3F3-1959209A0DBC}"/>
                    </a:ext>
                  </a:extLst>
                </p:cNvPr>
                <p:cNvCxnSpPr>
                  <a:stCxn id="6" idx="3"/>
                  <a:endCxn id="12" idx="1"/>
                </p:cNvCxnSpPr>
                <p:nvPr/>
              </p:nvCxnSpPr>
              <p:spPr>
                <a:xfrm>
                  <a:off x="5640779" y="2078182"/>
                  <a:ext cx="231569" cy="74220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直線接點 19">
                  <a:extLst>
                    <a:ext uri="{FF2B5EF4-FFF2-40B4-BE49-F238E27FC236}">
                      <a16:creationId xmlns:a16="http://schemas.microsoft.com/office/drawing/2014/main" id="{954B0778-57F2-FE81-76D9-0685CA99F004}"/>
                    </a:ext>
                  </a:extLst>
                </p:cNvPr>
                <p:cNvCxnSpPr>
                  <a:cxnSpLocks/>
                  <a:endCxn id="13" idx="1"/>
                </p:cNvCxnSpPr>
                <p:nvPr/>
              </p:nvCxnSpPr>
              <p:spPr>
                <a:xfrm flipV="1">
                  <a:off x="5640778" y="2338016"/>
                  <a:ext cx="231569" cy="38594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直線接點 22">
                  <a:extLst>
                    <a:ext uri="{FF2B5EF4-FFF2-40B4-BE49-F238E27FC236}">
                      <a16:creationId xmlns:a16="http://schemas.microsoft.com/office/drawing/2014/main" id="{50A51206-A6B4-9A18-A27C-2E6F7C39FF4F}"/>
                    </a:ext>
                  </a:extLst>
                </p:cNvPr>
                <p:cNvCxnSpPr>
                  <a:cxnSpLocks/>
                  <a:endCxn id="14" idx="1"/>
                </p:cNvCxnSpPr>
                <p:nvPr/>
              </p:nvCxnSpPr>
              <p:spPr>
                <a:xfrm flipV="1">
                  <a:off x="5640778" y="2517691"/>
                  <a:ext cx="231569" cy="146957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直線接點 25">
                  <a:extLst>
                    <a:ext uri="{FF2B5EF4-FFF2-40B4-BE49-F238E27FC236}">
                      <a16:creationId xmlns:a16="http://schemas.microsoft.com/office/drawing/2014/main" id="{ED5C0FFF-1D29-AF1F-00DB-EBAE89C830D8}"/>
                    </a:ext>
                  </a:extLst>
                </p:cNvPr>
                <p:cNvCxnSpPr>
                  <a:cxnSpLocks/>
                  <a:endCxn id="15" idx="1"/>
                </p:cNvCxnSpPr>
                <p:nvPr/>
              </p:nvCxnSpPr>
              <p:spPr>
                <a:xfrm flipV="1">
                  <a:off x="5640778" y="2885826"/>
                  <a:ext cx="231569" cy="229467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直線接點 28">
                  <a:extLst>
                    <a:ext uri="{FF2B5EF4-FFF2-40B4-BE49-F238E27FC236}">
                      <a16:creationId xmlns:a16="http://schemas.microsoft.com/office/drawing/2014/main" id="{F1A847D6-BA9B-8DBC-7ECB-371F2D10178E}"/>
                    </a:ext>
                  </a:extLst>
                </p:cNvPr>
                <p:cNvCxnSpPr>
                  <a:cxnSpLocks/>
                  <a:stCxn id="11" idx="3"/>
                </p:cNvCxnSpPr>
                <p:nvPr/>
              </p:nvCxnSpPr>
              <p:spPr>
                <a:xfrm flipV="1">
                  <a:off x="5640779" y="3799983"/>
                  <a:ext cx="231567" cy="365168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9" name="群組 48">
                <a:extLst>
                  <a:ext uri="{FF2B5EF4-FFF2-40B4-BE49-F238E27FC236}">
                    <a16:creationId xmlns:a16="http://schemas.microsoft.com/office/drawing/2014/main" id="{F170B0DA-A3D8-9482-0C2C-D229A56DC3BC}"/>
                  </a:ext>
                </a:extLst>
              </p:cNvPr>
              <p:cNvGrpSpPr/>
              <p:nvPr/>
            </p:nvGrpSpPr>
            <p:grpSpPr>
              <a:xfrm>
                <a:off x="9993082" y="2035196"/>
                <a:ext cx="753095" cy="1883540"/>
                <a:chOff x="9993082" y="2035196"/>
                <a:chExt cx="753095" cy="1883540"/>
              </a:xfrm>
            </p:grpSpPr>
            <p:sp>
              <p:nvSpPr>
                <p:cNvPr id="42" name="內容版面配置區 2">
                  <a:extLst>
                    <a:ext uri="{FF2B5EF4-FFF2-40B4-BE49-F238E27FC236}">
                      <a16:creationId xmlns:a16="http://schemas.microsoft.com/office/drawing/2014/main" id="{1071DFA2-ACFB-135C-CC6C-5C56D0183D18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9993083" y="2035196"/>
                  <a:ext cx="753094" cy="237506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Font typeface="Arial" panose="020B0604020202020204" pitchFamily="34" charset="0"/>
                    <a:buNone/>
                  </a:pPr>
                  <a:r>
                    <a:rPr lang="en-US" altLang="zh-TW" sz="1200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stride2[0]</a:t>
                  </a:r>
                </a:p>
              </p:txBody>
            </p:sp>
            <p:sp>
              <p:nvSpPr>
                <p:cNvPr id="43" name="內容版面配置區 2">
                  <a:extLst>
                    <a:ext uri="{FF2B5EF4-FFF2-40B4-BE49-F238E27FC236}">
                      <a16:creationId xmlns:a16="http://schemas.microsoft.com/office/drawing/2014/main" id="{DE200425-F232-5E90-EF62-F5BE38E8E7A1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9993082" y="2222448"/>
                  <a:ext cx="753094" cy="237506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Font typeface="Arial" panose="020B0604020202020204" pitchFamily="34" charset="0"/>
                    <a:buNone/>
                  </a:pPr>
                  <a:r>
                    <a:rPr lang="en-US" altLang="zh-TW" sz="1200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stride2[1]</a:t>
                  </a:r>
                </a:p>
              </p:txBody>
            </p:sp>
            <p:sp>
              <p:nvSpPr>
                <p:cNvPr id="44" name="內容版面配置區 2">
                  <a:extLst>
                    <a:ext uri="{FF2B5EF4-FFF2-40B4-BE49-F238E27FC236}">
                      <a16:creationId xmlns:a16="http://schemas.microsoft.com/office/drawing/2014/main" id="{ADFDA82C-A764-2212-F079-72F7A73530B9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9993083" y="2398938"/>
                  <a:ext cx="753094" cy="237506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Font typeface="Arial" panose="020B0604020202020204" pitchFamily="34" charset="0"/>
                    <a:buNone/>
                  </a:pPr>
                  <a:r>
                    <a:rPr lang="en-US" altLang="zh-TW" sz="1200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stride2[2]</a:t>
                  </a:r>
                </a:p>
              </p:txBody>
            </p:sp>
            <p:sp>
              <p:nvSpPr>
                <p:cNvPr id="45" name="內容版面配置區 2">
                  <a:extLst>
                    <a:ext uri="{FF2B5EF4-FFF2-40B4-BE49-F238E27FC236}">
                      <a16:creationId xmlns:a16="http://schemas.microsoft.com/office/drawing/2014/main" id="{476F95BB-F04C-9987-45DD-B369375A6DF8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9993083" y="2785200"/>
                  <a:ext cx="753094" cy="237506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Font typeface="Arial" panose="020B0604020202020204" pitchFamily="34" charset="0"/>
                    <a:buNone/>
                  </a:pPr>
                  <a:r>
                    <a:rPr lang="en-US" altLang="zh-TW" sz="1200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stride2[3]</a:t>
                  </a:r>
                </a:p>
              </p:txBody>
            </p:sp>
            <p:sp>
              <p:nvSpPr>
                <p:cNvPr id="46" name="內容版面配置區 2">
                  <a:extLst>
                    <a:ext uri="{FF2B5EF4-FFF2-40B4-BE49-F238E27FC236}">
                      <a16:creationId xmlns:a16="http://schemas.microsoft.com/office/drawing/2014/main" id="{E25A0F5D-A9B4-5D45-8396-D57423BDF661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9993083" y="3681230"/>
                  <a:ext cx="753094" cy="237506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Font typeface="Arial" panose="020B0604020202020204" pitchFamily="34" charset="0"/>
                    <a:buNone/>
                  </a:pPr>
                  <a:r>
                    <a:rPr lang="en-US" altLang="zh-TW" sz="1200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stride2[4]</a:t>
                  </a:r>
                </a:p>
              </p:txBody>
            </p:sp>
          </p:grpSp>
        </p:grpSp>
        <p:grpSp>
          <p:nvGrpSpPr>
            <p:cNvPr id="53" name="群組 52">
              <a:extLst>
                <a:ext uri="{FF2B5EF4-FFF2-40B4-BE49-F238E27FC236}">
                  <a16:creationId xmlns:a16="http://schemas.microsoft.com/office/drawing/2014/main" id="{44F19F73-5040-AE52-A1BF-FD9ACF3B18EA}"/>
                </a:ext>
              </a:extLst>
            </p:cNvPr>
            <p:cNvGrpSpPr/>
            <p:nvPr/>
          </p:nvGrpSpPr>
          <p:grpSpPr>
            <a:xfrm>
              <a:off x="1339147" y="1953056"/>
              <a:ext cx="753094" cy="2330848"/>
              <a:chOff x="1339147" y="1953056"/>
              <a:chExt cx="753094" cy="2330848"/>
            </a:xfrm>
          </p:grpSpPr>
          <p:grpSp>
            <p:nvGrpSpPr>
              <p:cNvPr id="51" name="群組 50">
                <a:extLst>
                  <a:ext uri="{FF2B5EF4-FFF2-40B4-BE49-F238E27FC236}">
                    <a16:creationId xmlns:a16="http://schemas.microsoft.com/office/drawing/2014/main" id="{2A6ED467-D50B-50D1-E5E5-46727E701490}"/>
                  </a:ext>
                </a:extLst>
              </p:cNvPr>
              <p:cNvGrpSpPr/>
              <p:nvPr/>
            </p:nvGrpSpPr>
            <p:grpSpPr>
              <a:xfrm>
                <a:off x="1339147" y="2260146"/>
                <a:ext cx="753094" cy="2023758"/>
                <a:chOff x="1339147" y="2260146"/>
                <a:chExt cx="753094" cy="2023758"/>
              </a:xfrm>
            </p:grpSpPr>
            <p:sp>
              <p:nvSpPr>
                <p:cNvPr id="33" name="內容版面配置區 2">
                  <a:extLst>
                    <a:ext uri="{FF2B5EF4-FFF2-40B4-BE49-F238E27FC236}">
                      <a16:creationId xmlns:a16="http://schemas.microsoft.com/office/drawing/2014/main" id="{A72C97EA-975D-6CF4-11C4-F513C903922F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339147" y="2260146"/>
                  <a:ext cx="753094" cy="237506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Font typeface="Arial" panose="020B0604020202020204" pitchFamily="34" charset="0"/>
                    <a:buNone/>
                  </a:pPr>
                  <a:r>
                    <a:rPr lang="en-US" altLang="zh-TW" sz="1200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stride2[1]</a:t>
                  </a:r>
                </a:p>
              </p:txBody>
            </p:sp>
            <p:sp>
              <p:nvSpPr>
                <p:cNvPr id="34" name="內容版面配置區 2">
                  <a:extLst>
                    <a:ext uri="{FF2B5EF4-FFF2-40B4-BE49-F238E27FC236}">
                      <a16:creationId xmlns:a16="http://schemas.microsoft.com/office/drawing/2014/main" id="{19F64221-69C1-E3F4-F520-78A8C5CA4712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339147" y="2553379"/>
                  <a:ext cx="753094" cy="237506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Font typeface="Arial" panose="020B0604020202020204" pitchFamily="34" charset="0"/>
                    <a:buNone/>
                  </a:pPr>
                  <a:r>
                    <a:rPr lang="en-US" altLang="zh-TW" sz="1200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stride2[2]</a:t>
                  </a:r>
                </a:p>
              </p:txBody>
            </p:sp>
            <p:sp>
              <p:nvSpPr>
                <p:cNvPr id="35" name="內容版面配置區 2">
                  <a:extLst>
                    <a:ext uri="{FF2B5EF4-FFF2-40B4-BE49-F238E27FC236}">
                      <a16:creationId xmlns:a16="http://schemas.microsoft.com/office/drawing/2014/main" id="{F9C83E72-E66B-C95F-1AB7-32FE7864AACF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339147" y="2991714"/>
                  <a:ext cx="753094" cy="237506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Font typeface="Arial" panose="020B0604020202020204" pitchFamily="34" charset="0"/>
                    <a:buNone/>
                  </a:pPr>
                  <a:r>
                    <a:rPr lang="en-US" altLang="zh-TW" sz="1200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stride2[3]</a:t>
                  </a:r>
                </a:p>
              </p:txBody>
            </p:sp>
            <p:sp>
              <p:nvSpPr>
                <p:cNvPr id="36" name="內容版面配置區 2">
                  <a:extLst>
                    <a:ext uri="{FF2B5EF4-FFF2-40B4-BE49-F238E27FC236}">
                      <a16:creationId xmlns:a16="http://schemas.microsoft.com/office/drawing/2014/main" id="{DEC7A82E-D5B8-D535-07A6-D636AD5A9A93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339147" y="4046398"/>
                  <a:ext cx="753094" cy="237506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Font typeface="Arial" panose="020B0604020202020204" pitchFamily="34" charset="0"/>
                    <a:buNone/>
                  </a:pPr>
                  <a:r>
                    <a:rPr lang="en-US" altLang="zh-TW" sz="1200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stride2[4]</a:t>
                  </a:r>
                </a:p>
              </p:txBody>
            </p:sp>
          </p:grpSp>
          <p:sp>
            <p:nvSpPr>
              <p:cNvPr id="52" name="內容版面配置區 2">
                <a:extLst>
                  <a:ext uri="{FF2B5EF4-FFF2-40B4-BE49-F238E27FC236}">
                    <a16:creationId xmlns:a16="http://schemas.microsoft.com/office/drawing/2014/main" id="{AB37FD06-2F91-D168-78FA-2D0174CAB2F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39147" y="1953056"/>
                <a:ext cx="753094" cy="23750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altLang="zh-TW" sz="1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stride2[0]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278486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5F162-12E8-7AC0-FC8A-4DD96D46A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AC8F8D97-428C-DAF6-B7D8-B430581EBB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2373" y="2920093"/>
            <a:ext cx="876523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26BA3CE9-9E97-AEE9-19CE-C0AC183D72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0002889"/>
              </p:ext>
            </p:extLst>
          </p:nvPr>
        </p:nvGraphicFramePr>
        <p:xfrm>
          <a:off x="290583" y="1155372"/>
          <a:ext cx="5579858" cy="5623560"/>
        </p:xfrm>
        <a:graphic>
          <a:graphicData uri="http://schemas.openxmlformats.org/drawingml/2006/table">
            <a:tbl>
              <a:tblPr/>
              <a:tblGrid>
                <a:gridCol w="3408581">
                  <a:extLst>
                    <a:ext uri="{9D8B030D-6E8A-4147-A177-3AD203B41FA5}">
                      <a16:colId xmlns:a16="http://schemas.microsoft.com/office/drawing/2014/main" val="401869850"/>
                    </a:ext>
                  </a:extLst>
                </a:gridCol>
                <a:gridCol w="2171277">
                  <a:extLst>
                    <a:ext uri="{9D8B030D-6E8A-4147-A177-3AD203B41FA5}">
                      <a16:colId xmlns:a16="http://schemas.microsoft.com/office/drawing/2014/main" val="287966880"/>
                    </a:ext>
                  </a:extLst>
                </a:gridCol>
              </a:tblGrid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(Test image size)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MACs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(Approx. inference time)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6915357"/>
                  </a:ext>
                </a:extLst>
              </a:tr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Teacher,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torchvision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version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(3x224x224)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230.04M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(136.93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3984657"/>
                  </a:ext>
                </a:extLst>
              </a:tr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Teacher, handwrite version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(3x224x224)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230.93M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(137.46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9691903"/>
                  </a:ext>
                </a:extLst>
              </a:tr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Teacher,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torchvision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version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(3x128x80)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51.05M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(30.39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8563146"/>
                  </a:ext>
                </a:extLst>
              </a:tr>
              <a:tr h="48950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Teacher, handwrite version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altLang="zh-TW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(3x128x80)</a:t>
                      </a:r>
                      <a:endParaRPr lang="en-US" sz="12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51.24M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(30.50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8164109"/>
                  </a:ext>
                </a:extLst>
              </a:tr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Teacher, handwrite version, stride2[0]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altLang="zh-TW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(3x128x80)</a:t>
                      </a:r>
                      <a:endParaRPr lang="en-US" sz="12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189.02M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(112.51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6212079"/>
                  </a:ext>
                </a:extLst>
              </a:tr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Teacher, handwrite version, stride2[1]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altLang="zh-TW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(3x128x80)</a:t>
                      </a:r>
                      <a:endParaRPr lang="en-US" sz="12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171.57M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(102.125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21822"/>
                  </a:ext>
                </a:extLst>
              </a:tr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Teacher, handwrite version, stride2[2]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altLang="zh-TW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(3x128x80)</a:t>
                      </a:r>
                      <a:endParaRPr lang="en-US" sz="12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153.8M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(91.55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1700545"/>
                  </a:ext>
                </a:extLst>
              </a:tr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Teacher, handwrite version, stride2[3]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altLang="zh-TW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(3x128x80)</a:t>
                      </a:r>
                      <a:endParaRPr lang="en-US" sz="12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133.03M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(79.18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7194629"/>
                  </a:ext>
                </a:extLst>
              </a:tr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Teacher, handwrite version, stride2[4]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altLang="zh-TW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(3x128x80)</a:t>
                      </a:r>
                      <a:endParaRPr lang="en-US" sz="12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78.1M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(76.49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3328956"/>
                  </a:ext>
                </a:extLst>
              </a:tr>
            </a:tbl>
          </a:graphicData>
        </a:graphic>
      </p:graphicFrame>
      <p:sp>
        <p:nvSpPr>
          <p:cNvPr id="9" name="Rectangle 3">
            <a:extLst>
              <a:ext uri="{FF2B5EF4-FFF2-40B4-BE49-F238E27FC236}">
                <a16:creationId xmlns:a16="http://schemas.microsoft.com/office/drawing/2014/main" id="{634792D7-C222-0E3E-99A3-D20434E8D7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8650" y="3265488"/>
            <a:ext cx="5476681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10" name="標題 1">
            <a:extLst>
              <a:ext uri="{FF2B5EF4-FFF2-40B4-BE49-F238E27FC236}">
                <a16:creationId xmlns:a16="http://schemas.microsoft.com/office/drawing/2014/main" id="{37FAB7B8-F81C-7565-8FF9-E85E00773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190" y="0"/>
            <a:ext cx="10515600" cy="1325563"/>
          </a:xfrm>
        </p:spPr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 – Result Metric (MMAC)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381C0AED-C46D-E67B-169D-7671FD26EE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8745831"/>
              </p:ext>
            </p:extLst>
          </p:nvPr>
        </p:nvGraphicFramePr>
        <p:xfrm>
          <a:off x="6321559" y="1155371"/>
          <a:ext cx="5579858" cy="5623560"/>
        </p:xfrm>
        <a:graphic>
          <a:graphicData uri="http://schemas.openxmlformats.org/drawingml/2006/table">
            <a:tbl>
              <a:tblPr/>
              <a:tblGrid>
                <a:gridCol w="3408581">
                  <a:extLst>
                    <a:ext uri="{9D8B030D-6E8A-4147-A177-3AD203B41FA5}">
                      <a16:colId xmlns:a16="http://schemas.microsoft.com/office/drawing/2014/main" val="401869850"/>
                    </a:ext>
                  </a:extLst>
                </a:gridCol>
                <a:gridCol w="2171277">
                  <a:extLst>
                    <a:ext uri="{9D8B030D-6E8A-4147-A177-3AD203B41FA5}">
                      <a16:colId xmlns:a16="http://schemas.microsoft.com/office/drawing/2014/main" val="287966880"/>
                    </a:ext>
                  </a:extLst>
                </a:gridCol>
              </a:tblGrid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(Test image size)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MACs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(Approx. inference time)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6915357"/>
                  </a:ext>
                </a:extLst>
              </a:tr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Student,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torchvision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version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(3x224x224)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59.89M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(35.65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3984657"/>
                  </a:ext>
                </a:extLst>
              </a:tr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Student, handwrite version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(3x224x224)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60.07M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(35.76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9691903"/>
                  </a:ext>
                </a:extLst>
              </a:tr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Student,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torchvision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version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(3x128x80)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13.76M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(8.19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8563146"/>
                  </a:ext>
                </a:extLst>
              </a:tr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Student, handwrite version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(3x128x80)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13.8M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(8.21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8164109"/>
                  </a:ext>
                </a:extLst>
              </a:tr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Student, handwrite version, stride2[0]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(3x128x80)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49.23M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(29.30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6212079"/>
                  </a:ext>
                </a:extLst>
              </a:tr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Student, handwrite version, stride2[1]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(3x128x80)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45.66M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(27.18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21822"/>
                  </a:ext>
                </a:extLst>
              </a:tr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Student, handwrite version, stride2[2]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(3x128x80)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41.82M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(24.89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1700545"/>
                  </a:ext>
                </a:extLst>
              </a:tr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Student, handwrite version, stride2[3]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(3x128x80)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36.51M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(21.73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7194629"/>
                  </a:ext>
                </a:extLst>
              </a:tr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Student, handwrite version, stride2[4]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(3x128x80)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23.63M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(14.07 </a:t>
                      </a:r>
                      <a:r>
                        <a:rPr lang="en-US" sz="1200" b="1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3328956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551BCDFF-1D08-8127-0679-FCD996CFDE64}"/>
              </a:ext>
            </a:extLst>
          </p:cNvPr>
          <p:cNvSpPr txBox="1"/>
          <p:nvPr/>
        </p:nvSpPr>
        <p:spPr>
          <a:xfrm>
            <a:off x="10373096" y="139708"/>
            <a:ext cx="159174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dirty="0"/>
              <a:t>Teacher: </a:t>
            </a:r>
          </a:p>
          <a:p>
            <a:r>
              <a:rPr lang="en-US" altLang="zh-TW" sz="1200" b="1" dirty="0" err="1"/>
              <a:t>MobileNet</a:t>
            </a:r>
            <a:r>
              <a:rPr lang="en-US" altLang="zh-TW" sz="1200" b="1" dirty="0"/>
              <a:t> V3 Large</a:t>
            </a:r>
          </a:p>
          <a:p>
            <a:endParaRPr lang="en-US" altLang="zh-TW" sz="1200" b="1" dirty="0"/>
          </a:p>
          <a:p>
            <a:r>
              <a:rPr lang="en-US" altLang="zh-TW" sz="1200" b="1" dirty="0"/>
              <a:t>Student: </a:t>
            </a:r>
          </a:p>
          <a:p>
            <a:r>
              <a:rPr lang="en-US" altLang="zh-TW" sz="1200" b="1" dirty="0" err="1"/>
              <a:t>MobileNet</a:t>
            </a:r>
            <a:r>
              <a:rPr lang="en-US" altLang="zh-TW" sz="1200" b="1" dirty="0"/>
              <a:t> V3 Small</a:t>
            </a:r>
            <a:endParaRPr lang="zh-TW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7969736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9492C-7A66-F24C-E5BB-34F0D9EDE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F876FC4-34CC-DD21-C166-1B9D36898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Modified Model Structure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4" name="群組 53">
            <a:extLst>
              <a:ext uri="{FF2B5EF4-FFF2-40B4-BE49-F238E27FC236}">
                <a16:creationId xmlns:a16="http://schemas.microsoft.com/office/drawing/2014/main" id="{3ADD6765-398E-4D67-0DF3-101F583BC4A4}"/>
              </a:ext>
            </a:extLst>
          </p:cNvPr>
          <p:cNvGrpSpPr/>
          <p:nvPr/>
        </p:nvGrpSpPr>
        <p:grpSpPr>
          <a:xfrm>
            <a:off x="978231" y="1690688"/>
            <a:ext cx="10235538" cy="4318226"/>
            <a:chOff x="1339147" y="1690688"/>
            <a:chExt cx="9407030" cy="3818857"/>
          </a:xfrm>
        </p:grpSpPr>
        <p:grpSp>
          <p:nvGrpSpPr>
            <p:cNvPr id="50" name="群組 49">
              <a:extLst>
                <a:ext uri="{FF2B5EF4-FFF2-40B4-BE49-F238E27FC236}">
                  <a16:creationId xmlns:a16="http://schemas.microsoft.com/office/drawing/2014/main" id="{B23B1C22-040E-3E6F-48E9-535682F8F739}"/>
                </a:ext>
              </a:extLst>
            </p:cNvPr>
            <p:cNvGrpSpPr/>
            <p:nvPr/>
          </p:nvGrpSpPr>
          <p:grpSpPr>
            <a:xfrm>
              <a:off x="2018021" y="1690688"/>
              <a:ext cx="8728156" cy="3818857"/>
              <a:chOff x="2018021" y="1690688"/>
              <a:chExt cx="8728156" cy="3818857"/>
            </a:xfrm>
          </p:grpSpPr>
          <p:grpSp>
            <p:nvGrpSpPr>
              <p:cNvPr id="48" name="群組 47">
                <a:extLst>
                  <a:ext uri="{FF2B5EF4-FFF2-40B4-BE49-F238E27FC236}">
                    <a16:creationId xmlns:a16="http://schemas.microsoft.com/office/drawing/2014/main" id="{499EDD16-36C2-F2E3-741C-BD560B7ED341}"/>
                  </a:ext>
                </a:extLst>
              </p:cNvPr>
              <p:cNvGrpSpPr/>
              <p:nvPr/>
            </p:nvGrpSpPr>
            <p:grpSpPr>
              <a:xfrm>
                <a:off x="2018021" y="1690688"/>
                <a:ext cx="8155957" cy="3818857"/>
                <a:chOff x="2018021" y="1690688"/>
                <a:chExt cx="8155957" cy="3818857"/>
              </a:xfrm>
            </p:grpSpPr>
            <p:pic>
              <p:nvPicPr>
                <p:cNvPr id="5" name="Picture 4">
                  <a:extLst>
                    <a:ext uri="{FF2B5EF4-FFF2-40B4-BE49-F238E27FC236}">
                      <a16:creationId xmlns:a16="http://schemas.microsoft.com/office/drawing/2014/main" id="{B4C99C20-4EC1-0268-E68D-E3136AAEA1FE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018021" y="1690688"/>
                  <a:ext cx="8155957" cy="3818857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6" name="矩形 5">
                  <a:extLst>
                    <a:ext uri="{FF2B5EF4-FFF2-40B4-BE49-F238E27FC236}">
                      <a16:creationId xmlns:a16="http://schemas.microsoft.com/office/drawing/2014/main" id="{143B64E2-1408-EA69-BD11-80BA903229DE}"/>
                    </a:ext>
                  </a:extLst>
                </p:cNvPr>
                <p:cNvSpPr/>
                <p:nvPr/>
              </p:nvSpPr>
              <p:spPr>
                <a:xfrm>
                  <a:off x="2095995" y="2012868"/>
                  <a:ext cx="3544784" cy="130628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/>
                </a:p>
              </p:txBody>
            </p:sp>
            <p:sp>
              <p:nvSpPr>
                <p:cNvPr id="17" name="矩形 16">
                  <a:extLst>
                    <a:ext uri="{FF2B5EF4-FFF2-40B4-BE49-F238E27FC236}">
                      <a16:creationId xmlns:a16="http://schemas.microsoft.com/office/drawing/2014/main" id="{812F139D-9710-FBCA-274F-5C75974A6D94}"/>
                    </a:ext>
                  </a:extLst>
                </p:cNvPr>
                <p:cNvSpPr/>
                <p:nvPr/>
              </p:nvSpPr>
              <p:spPr>
                <a:xfrm>
                  <a:off x="5872346" y="3713887"/>
                  <a:ext cx="4120737" cy="172192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</p:grpSp>
          <p:sp>
            <p:nvSpPr>
              <p:cNvPr id="46" name="內容版面配置區 2">
                <a:extLst>
                  <a:ext uri="{FF2B5EF4-FFF2-40B4-BE49-F238E27FC236}">
                    <a16:creationId xmlns:a16="http://schemas.microsoft.com/office/drawing/2014/main" id="{DB089BA5-A6D4-53C0-C3D5-F23D42ACB2C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993083" y="3681231"/>
                <a:ext cx="753094" cy="23750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altLang="zh-TW" sz="1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stride2[4]</a:t>
                </a:r>
              </a:p>
            </p:txBody>
          </p:sp>
        </p:grpSp>
        <p:sp>
          <p:nvSpPr>
            <p:cNvPr id="52" name="內容版面配置區 2">
              <a:extLst>
                <a:ext uri="{FF2B5EF4-FFF2-40B4-BE49-F238E27FC236}">
                  <a16:creationId xmlns:a16="http://schemas.microsoft.com/office/drawing/2014/main" id="{44265336-D3AB-4187-9E4B-A70BF0BDF9B4}"/>
                </a:ext>
              </a:extLst>
            </p:cNvPr>
            <p:cNvSpPr txBox="1">
              <a:spLocks/>
            </p:cNvSpPr>
            <p:nvPr/>
          </p:nvSpPr>
          <p:spPr>
            <a:xfrm>
              <a:off x="1339147" y="1953056"/>
              <a:ext cx="753094" cy="237506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anose="020B0604020202020204" pitchFamily="34" charset="0"/>
                <a:buNone/>
              </a:pPr>
              <a:r>
                <a:rPr lang="en-US" altLang="zh-TW" sz="1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stride2[0]</a:t>
              </a:r>
            </a:p>
          </p:txBody>
        </p:sp>
      </p:grpSp>
      <p:sp>
        <p:nvSpPr>
          <p:cNvPr id="3" name="文字方塊 2">
            <a:extLst>
              <a:ext uri="{FF2B5EF4-FFF2-40B4-BE49-F238E27FC236}">
                <a16:creationId xmlns:a16="http://schemas.microsoft.com/office/drawing/2014/main" id="{1E5500B4-653A-78E9-83A8-20F4730E7980}"/>
              </a:ext>
            </a:extLst>
          </p:cNvPr>
          <p:cNvSpPr txBox="1"/>
          <p:nvPr/>
        </p:nvSpPr>
        <p:spPr>
          <a:xfrm>
            <a:off x="5394899" y="1985752"/>
            <a:ext cx="266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>
                <a:solidFill>
                  <a:srgbClr val="FF0000"/>
                </a:solidFill>
                <a:highlight>
                  <a:srgbClr val="FFFF00"/>
                </a:highlight>
              </a:rPr>
              <a:t>1</a:t>
            </a:r>
            <a:endParaRPr lang="zh-TW" altLang="en-US" sz="1200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2033074E-3FD1-26CC-F2BA-CFCD67DEA151}"/>
              </a:ext>
            </a:extLst>
          </p:cNvPr>
          <p:cNvSpPr txBox="1"/>
          <p:nvPr/>
        </p:nvSpPr>
        <p:spPr>
          <a:xfrm>
            <a:off x="1762024" y="2161309"/>
            <a:ext cx="4645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solidFill>
                  <a:srgbClr val="FF0000"/>
                </a:solidFill>
                <a:highlight>
                  <a:srgbClr val="FFFF00"/>
                </a:highlight>
              </a:rPr>
              <a:t>224</a:t>
            </a:r>
            <a:endParaRPr lang="zh-TW" altLang="en-US" sz="1200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215CB286-B745-4F98-C425-27FCCE692998}"/>
              </a:ext>
            </a:extLst>
          </p:cNvPr>
          <p:cNvSpPr txBox="1"/>
          <p:nvPr/>
        </p:nvSpPr>
        <p:spPr>
          <a:xfrm>
            <a:off x="1760045" y="2313709"/>
            <a:ext cx="4645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solidFill>
                  <a:srgbClr val="FF0000"/>
                </a:solidFill>
                <a:highlight>
                  <a:srgbClr val="FFFF00"/>
                </a:highlight>
              </a:rPr>
              <a:t>224</a:t>
            </a:r>
            <a:endParaRPr lang="zh-TW" altLang="en-US" sz="1200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6F0EED79-8713-669B-94DF-21D6FAE255D1}"/>
              </a:ext>
            </a:extLst>
          </p:cNvPr>
          <p:cNvSpPr txBox="1"/>
          <p:nvPr/>
        </p:nvSpPr>
        <p:spPr>
          <a:xfrm>
            <a:off x="1720855" y="2492176"/>
            <a:ext cx="4645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solidFill>
                  <a:srgbClr val="FF0000"/>
                </a:solidFill>
                <a:highlight>
                  <a:srgbClr val="FFFF00"/>
                </a:highlight>
              </a:rPr>
              <a:t>112</a:t>
            </a:r>
            <a:endParaRPr lang="zh-TW" altLang="en-US" sz="1200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94CEF438-8286-D9FF-CC1C-51E3DBF4CA23}"/>
              </a:ext>
            </a:extLst>
          </p:cNvPr>
          <p:cNvSpPr txBox="1"/>
          <p:nvPr/>
        </p:nvSpPr>
        <p:spPr>
          <a:xfrm>
            <a:off x="1724816" y="2644576"/>
            <a:ext cx="4645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solidFill>
                  <a:srgbClr val="FF0000"/>
                </a:solidFill>
                <a:highlight>
                  <a:srgbClr val="FFFF00"/>
                </a:highlight>
              </a:rPr>
              <a:t>112</a:t>
            </a:r>
            <a:endParaRPr lang="zh-TW" altLang="en-US" sz="1200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1DA816D9-C11C-183C-7C5E-53BD36B6F14B}"/>
              </a:ext>
            </a:extLst>
          </p:cNvPr>
          <p:cNvSpPr txBox="1"/>
          <p:nvPr/>
        </p:nvSpPr>
        <p:spPr>
          <a:xfrm>
            <a:off x="1803814" y="2844770"/>
            <a:ext cx="4645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solidFill>
                  <a:srgbClr val="FF0000"/>
                </a:solidFill>
                <a:highlight>
                  <a:srgbClr val="FFFF00"/>
                </a:highlight>
              </a:rPr>
              <a:t>56</a:t>
            </a:r>
            <a:endParaRPr lang="zh-TW" altLang="en-US" sz="1200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9EE51030-CEEE-74CC-9B95-0564E903062F}"/>
              </a:ext>
            </a:extLst>
          </p:cNvPr>
          <p:cNvSpPr txBox="1"/>
          <p:nvPr/>
        </p:nvSpPr>
        <p:spPr>
          <a:xfrm>
            <a:off x="1807772" y="3009046"/>
            <a:ext cx="4645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solidFill>
                  <a:srgbClr val="FF0000"/>
                </a:solidFill>
                <a:highlight>
                  <a:srgbClr val="FFFF00"/>
                </a:highlight>
              </a:rPr>
              <a:t>56</a:t>
            </a:r>
            <a:endParaRPr lang="zh-TW" altLang="en-US" sz="1200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9A52B7F7-1993-C075-69D6-F3A128086B59}"/>
              </a:ext>
            </a:extLst>
          </p:cNvPr>
          <p:cNvSpPr txBox="1"/>
          <p:nvPr/>
        </p:nvSpPr>
        <p:spPr>
          <a:xfrm>
            <a:off x="1807772" y="3181242"/>
            <a:ext cx="4645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solidFill>
                  <a:srgbClr val="FF0000"/>
                </a:solidFill>
                <a:highlight>
                  <a:srgbClr val="FFFF00"/>
                </a:highlight>
              </a:rPr>
              <a:t>56</a:t>
            </a:r>
            <a:endParaRPr lang="zh-TW" altLang="en-US" sz="1200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1CF3B421-E8A7-FE8E-8495-87F1DFF0A43F}"/>
              </a:ext>
            </a:extLst>
          </p:cNvPr>
          <p:cNvSpPr txBox="1"/>
          <p:nvPr/>
        </p:nvSpPr>
        <p:spPr>
          <a:xfrm>
            <a:off x="1807772" y="3349543"/>
            <a:ext cx="4645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solidFill>
                  <a:srgbClr val="FF0000"/>
                </a:solidFill>
                <a:highlight>
                  <a:srgbClr val="FFFF00"/>
                </a:highlight>
              </a:rPr>
              <a:t>28</a:t>
            </a:r>
            <a:endParaRPr lang="zh-TW" altLang="en-US" sz="1200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09ACD97A-FA86-7CE8-7EF0-426BD862ECCA}"/>
              </a:ext>
            </a:extLst>
          </p:cNvPr>
          <p:cNvSpPr txBox="1"/>
          <p:nvPr/>
        </p:nvSpPr>
        <p:spPr>
          <a:xfrm>
            <a:off x="1803814" y="2803204"/>
            <a:ext cx="4645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solidFill>
                  <a:srgbClr val="FF0000"/>
                </a:solidFill>
                <a:highlight>
                  <a:srgbClr val="FFFF00"/>
                </a:highlight>
              </a:rPr>
              <a:t>56</a:t>
            </a:r>
            <a:endParaRPr lang="zh-TW" altLang="en-US" sz="1200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341D8448-70E3-E31E-5DDC-72BD7BABED84}"/>
              </a:ext>
            </a:extLst>
          </p:cNvPr>
          <p:cNvSpPr txBox="1"/>
          <p:nvPr/>
        </p:nvSpPr>
        <p:spPr>
          <a:xfrm>
            <a:off x="1811730" y="3513819"/>
            <a:ext cx="4645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solidFill>
                  <a:srgbClr val="FF0000"/>
                </a:solidFill>
                <a:highlight>
                  <a:srgbClr val="FFFF00"/>
                </a:highlight>
              </a:rPr>
              <a:t>28</a:t>
            </a:r>
            <a:endParaRPr lang="zh-TW" altLang="en-US" sz="1200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BC4D3960-E17D-AF58-3359-C5CE90604F0A}"/>
              </a:ext>
            </a:extLst>
          </p:cNvPr>
          <p:cNvSpPr txBox="1"/>
          <p:nvPr/>
        </p:nvSpPr>
        <p:spPr>
          <a:xfrm>
            <a:off x="1817665" y="3680076"/>
            <a:ext cx="4645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solidFill>
                  <a:srgbClr val="FF0000"/>
                </a:solidFill>
                <a:highlight>
                  <a:srgbClr val="FFFF00"/>
                </a:highlight>
              </a:rPr>
              <a:t>28</a:t>
            </a:r>
            <a:endParaRPr lang="zh-TW" altLang="en-US" sz="1200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020665F0-E21D-9484-B772-F2841E4C5A1E}"/>
              </a:ext>
            </a:extLst>
          </p:cNvPr>
          <p:cNvSpPr txBox="1"/>
          <p:nvPr/>
        </p:nvSpPr>
        <p:spPr>
          <a:xfrm>
            <a:off x="1817668" y="3846330"/>
            <a:ext cx="4645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solidFill>
                  <a:srgbClr val="FF0000"/>
                </a:solidFill>
                <a:highlight>
                  <a:srgbClr val="FFFF00"/>
                </a:highlight>
              </a:rPr>
              <a:t>28</a:t>
            </a:r>
            <a:endParaRPr lang="zh-TW" altLang="en-US" sz="1200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CD8AA14A-0904-5CF3-35C0-676B0EBFA901}"/>
              </a:ext>
            </a:extLst>
          </p:cNvPr>
          <p:cNvSpPr txBox="1"/>
          <p:nvPr/>
        </p:nvSpPr>
        <p:spPr>
          <a:xfrm>
            <a:off x="1776104" y="4024460"/>
            <a:ext cx="4645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solidFill>
                  <a:srgbClr val="FF0000"/>
                </a:solidFill>
                <a:highlight>
                  <a:srgbClr val="FFFF00"/>
                </a:highlight>
              </a:rPr>
              <a:t>28</a:t>
            </a:r>
            <a:endParaRPr lang="zh-TW" altLang="en-US" sz="1200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5EBD82B7-E783-724B-B85C-7D9F1FBE17E4}"/>
              </a:ext>
            </a:extLst>
          </p:cNvPr>
          <p:cNvSpPr txBox="1"/>
          <p:nvPr/>
        </p:nvSpPr>
        <p:spPr>
          <a:xfrm>
            <a:off x="1782043" y="4196650"/>
            <a:ext cx="4645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solidFill>
                  <a:srgbClr val="FF0000"/>
                </a:solidFill>
                <a:highlight>
                  <a:srgbClr val="FFFF00"/>
                </a:highlight>
              </a:rPr>
              <a:t>28</a:t>
            </a:r>
            <a:endParaRPr lang="zh-TW" altLang="en-US" sz="1200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04E025B9-4F88-59D0-E0E7-31F2BDCF5CAF}"/>
              </a:ext>
            </a:extLst>
          </p:cNvPr>
          <p:cNvSpPr txBox="1"/>
          <p:nvPr/>
        </p:nvSpPr>
        <p:spPr>
          <a:xfrm>
            <a:off x="1782042" y="4356967"/>
            <a:ext cx="4645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solidFill>
                  <a:srgbClr val="FF0000"/>
                </a:solidFill>
                <a:highlight>
                  <a:srgbClr val="FFFF00"/>
                </a:highlight>
              </a:rPr>
              <a:t>28</a:t>
            </a:r>
            <a:endParaRPr lang="zh-TW" altLang="en-US" sz="1200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04D73B6D-4F44-8C87-D0C0-6B23488EF856}"/>
              </a:ext>
            </a:extLst>
          </p:cNvPr>
          <p:cNvSpPr txBox="1"/>
          <p:nvPr/>
        </p:nvSpPr>
        <p:spPr>
          <a:xfrm>
            <a:off x="1734538" y="4539172"/>
            <a:ext cx="4645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solidFill>
                  <a:srgbClr val="FF0000"/>
                </a:solidFill>
                <a:highlight>
                  <a:srgbClr val="FFFF00"/>
                </a:highlight>
              </a:rPr>
              <a:t>14</a:t>
            </a:r>
            <a:endParaRPr lang="zh-TW" altLang="en-US" sz="1200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9DAE0C42-9AB7-0E2A-F2A5-83B91E7336A8}"/>
              </a:ext>
            </a:extLst>
          </p:cNvPr>
          <p:cNvSpPr txBox="1"/>
          <p:nvPr/>
        </p:nvSpPr>
        <p:spPr>
          <a:xfrm>
            <a:off x="1738496" y="4697510"/>
            <a:ext cx="4645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solidFill>
                  <a:srgbClr val="FF0000"/>
                </a:solidFill>
                <a:highlight>
                  <a:srgbClr val="FFFF00"/>
                </a:highlight>
              </a:rPr>
              <a:t>14</a:t>
            </a:r>
            <a:endParaRPr lang="zh-TW" altLang="en-US" sz="1200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C5F4E3EF-38AB-B2E0-8C57-80408D27068D}"/>
              </a:ext>
            </a:extLst>
          </p:cNvPr>
          <p:cNvSpPr txBox="1"/>
          <p:nvPr/>
        </p:nvSpPr>
        <p:spPr>
          <a:xfrm>
            <a:off x="1750369" y="4869705"/>
            <a:ext cx="4645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solidFill>
                  <a:srgbClr val="FF0000"/>
                </a:solidFill>
                <a:highlight>
                  <a:srgbClr val="FFFF00"/>
                </a:highlight>
              </a:rPr>
              <a:t>14</a:t>
            </a:r>
            <a:endParaRPr lang="zh-TW" altLang="en-US" sz="1200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129754E8-417A-C42F-0B08-DC299F0DAB88}"/>
              </a:ext>
            </a:extLst>
          </p:cNvPr>
          <p:cNvSpPr txBox="1"/>
          <p:nvPr/>
        </p:nvSpPr>
        <p:spPr>
          <a:xfrm>
            <a:off x="5920579" y="4145145"/>
            <a:ext cx="4645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solidFill>
                  <a:srgbClr val="FF0000"/>
                </a:solidFill>
                <a:highlight>
                  <a:srgbClr val="FFFF00"/>
                </a:highlight>
              </a:rPr>
              <a:t>14</a:t>
            </a:r>
            <a:endParaRPr lang="zh-TW" altLang="en-US" sz="1200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E2AD7A4B-6340-D909-D0B3-897EF3FF629A}"/>
              </a:ext>
            </a:extLst>
          </p:cNvPr>
          <p:cNvSpPr txBox="1"/>
          <p:nvPr/>
        </p:nvSpPr>
        <p:spPr>
          <a:xfrm>
            <a:off x="5912695" y="4353123"/>
            <a:ext cx="4645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solidFill>
                  <a:srgbClr val="FF0000"/>
                </a:solidFill>
                <a:highlight>
                  <a:srgbClr val="FFFF00"/>
                </a:highlight>
              </a:rPr>
              <a:t>14</a:t>
            </a:r>
            <a:endParaRPr lang="zh-TW" altLang="en-US" sz="1200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57" name="文字方塊 56">
            <a:extLst>
              <a:ext uri="{FF2B5EF4-FFF2-40B4-BE49-F238E27FC236}">
                <a16:creationId xmlns:a16="http://schemas.microsoft.com/office/drawing/2014/main" id="{00019015-8826-3134-EA0E-687FB7A4DCA6}"/>
              </a:ext>
            </a:extLst>
          </p:cNvPr>
          <p:cNvSpPr txBox="1"/>
          <p:nvPr/>
        </p:nvSpPr>
        <p:spPr>
          <a:xfrm>
            <a:off x="5912693" y="4572814"/>
            <a:ext cx="4645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solidFill>
                  <a:srgbClr val="FF0000"/>
                </a:solidFill>
                <a:highlight>
                  <a:srgbClr val="FFFF00"/>
                </a:highlight>
              </a:rPr>
              <a:t>14</a:t>
            </a:r>
            <a:endParaRPr lang="zh-TW" altLang="en-US" sz="1200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58" name="文字方塊 57">
            <a:extLst>
              <a:ext uri="{FF2B5EF4-FFF2-40B4-BE49-F238E27FC236}">
                <a16:creationId xmlns:a16="http://schemas.microsoft.com/office/drawing/2014/main" id="{F6B714CE-609B-A545-DFA4-C8BB9DE5F31C}"/>
              </a:ext>
            </a:extLst>
          </p:cNvPr>
          <p:cNvSpPr txBox="1"/>
          <p:nvPr/>
        </p:nvSpPr>
        <p:spPr>
          <a:xfrm>
            <a:off x="5877069" y="4774701"/>
            <a:ext cx="4645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solidFill>
                  <a:srgbClr val="FF0000"/>
                </a:solidFill>
                <a:highlight>
                  <a:srgbClr val="FFFF00"/>
                </a:highlight>
              </a:rPr>
              <a:t>14</a:t>
            </a:r>
            <a:endParaRPr lang="zh-TW" altLang="en-US" sz="1200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59" name="文字方塊 58">
            <a:extLst>
              <a:ext uri="{FF2B5EF4-FFF2-40B4-BE49-F238E27FC236}">
                <a16:creationId xmlns:a16="http://schemas.microsoft.com/office/drawing/2014/main" id="{483E6F4C-8058-C91A-0D88-14CD23728AF9}"/>
              </a:ext>
            </a:extLst>
          </p:cNvPr>
          <p:cNvSpPr txBox="1"/>
          <p:nvPr/>
        </p:nvSpPr>
        <p:spPr>
          <a:xfrm>
            <a:off x="10149476" y="3937465"/>
            <a:ext cx="266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>
                <a:solidFill>
                  <a:srgbClr val="FF0000"/>
                </a:solidFill>
                <a:highlight>
                  <a:srgbClr val="FFFF00"/>
                </a:highlight>
              </a:rPr>
              <a:t>1</a:t>
            </a:r>
            <a:endParaRPr lang="zh-TW" altLang="en-US" sz="1200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0A3DF4E9-F101-A2C7-3FF5-5B8CD61F9D74}"/>
              </a:ext>
            </a:extLst>
          </p:cNvPr>
          <p:cNvSpPr/>
          <p:nvPr/>
        </p:nvSpPr>
        <p:spPr>
          <a:xfrm>
            <a:off x="1750369" y="4735075"/>
            <a:ext cx="3856985" cy="340763"/>
          </a:xfrm>
          <a:prstGeom prst="rect">
            <a:avLst/>
          </a:prstGeom>
          <a:noFill/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F339C06B-B0EC-F00A-158D-7A226B7D1EC8}"/>
              </a:ext>
            </a:extLst>
          </p:cNvPr>
          <p:cNvSpPr/>
          <p:nvPr/>
        </p:nvSpPr>
        <p:spPr>
          <a:xfrm>
            <a:off x="5916651" y="4609742"/>
            <a:ext cx="4483664" cy="383940"/>
          </a:xfrm>
          <a:prstGeom prst="rect">
            <a:avLst/>
          </a:prstGeom>
          <a:noFill/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2" name="文字方塊 61">
            <a:extLst>
              <a:ext uri="{FF2B5EF4-FFF2-40B4-BE49-F238E27FC236}">
                <a16:creationId xmlns:a16="http://schemas.microsoft.com/office/drawing/2014/main" id="{7CB41E13-217C-1CFC-D96C-0080461E0573}"/>
              </a:ext>
            </a:extLst>
          </p:cNvPr>
          <p:cNvSpPr txBox="1"/>
          <p:nvPr/>
        </p:nvSpPr>
        <p:spPr>
          <a:xfrm>
            <a:off x="3915233" y="6083768"/>
            <a:ext cx="43615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>
                <a:solidFill>
                  <a:srgbClr val="FF0000"/>
                </a:solidFill>
              </a:rPr>
              <a:t>Red: </a:t>
            </a:r>
            <a:r>
              <a:rPr lang="en-US" altLang="zh-TW" sz="1400" dirty="0"/>
              <a:t>The layer we modified</a:t>
            </a:r>
          </a:p>
          <a:p>
            <a:r>
              <a:rPr lang="en-US" altLang="zh-TW" sz="14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Blue: </a:t>
            </a:r>
            <a:r>
              <a:rPr lang="en-US" altLang="zh-TW" sz="1400" dirty="0"/>
              <a:t>The layers we selected to compute MGD Loss</a:t>
            </a:r>
            <a:endParaRPr lang="zh-TW" altLang="en-US" sz="1400" dirty="0"/>
          </a:p>
        </p:txBody>
      </p:sp>
    </p:spTree>
    <p:extLst>
      <p:ext uri="{BB962C8B-B14F-4D97-AF65-F5344CB8AC3E}">
        <p14:creationId xmlns:p14="http://schemas.microsoft.com/office/powerpoint/2010/main" val="40594423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6F375-72CE-717C-7CCE-D3F983875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1B1FE8D-2754-CFBD-1599-C448F9526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 – MGD Process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內容版面配置區 2">
                <a:extLst>
                  <a:ext uri="{FF2B5EF4-FFF2-40B4-BE49-F238E27FC236}">
                    <a16:creationId xmlns:a16="http://schemas.microsoft.com/office/drawing/2014/main" id="{F8A3F815-B203-4A53-0C43-681295019F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44036"/>
                <a:ext cx="10515600" cy="4351338"/>
              </a:xfrm>
            </p:spPr>
            <p:txBody>
              <a:bodyPr>
                <a:normAutofit/>
              </a:bodyPr>
              <a:lstStyle/>
              <a:p>
                <a:pPr marL="457200" indent="-457200">
                  <a:buClr>
                    <a:schemeClr val="tx1"/>
                  </a:buClr>
                  <a:buFont typeface="+mj-lt"/>
                  <a:buAutoNum type="arabicPeriod"/>
                </a:pP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Set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</m:t>
                    </m:r>
                  </m:oMath>
                </a14:m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en-US" altLang="zh-TW" sz="24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random mask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to cover the student’s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en-US" altLang="zh-TW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feature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Use the corresponding mask to 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cover the student’s feature map </a:t>
                </a:r>
                <a:b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try to 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generate teacher’s feature maps with remaining pixels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Calculate the distillation loss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𝑑𝑖𝑠</m:t>
                        </m:r>
                      </m:sub>
                    </m:sSub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 MGD as follow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train all the models with total loss as follow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內容版面配置區 2">
                <a:extLst>
                  <a:ext uri="{FF2B5EF4-FFF2-40B4-BE49-F238E27FC236}">
                    <a16:creationId xmlns:a16="http://schemas.microsoft.com/office/drawing/2014/main" id="{F8A3F815-B203-4A53-0C43-681295019F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44036"/>
                <a:ext cx="10515600" cy="4351338"/>
              </a:xfrm>
              <a:blipFill>
                <a:blip r:embed="rId3"/>
                <a:stretch>
                  <a:fillRect l="-812" t="-18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2">
            <a:extLst>
              <a:ext uri="{FF2B5EF4-FFF2-40B4-BE49-F238E27FC236}">
                <a16:creationId xmlns:a16="http://schemas.microsoft.com/office/drawing/2014/main" id="{89661321-64A5-E580-1E04-143D771A4E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5103" y="3562505"/>
            <a:ext cx="741045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1DE4F170-CABE-E906-C801-5C06CEF6F0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8187" y="5319555"/>
            <a:ext cx="3095625" cy="295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07670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4B3F5-8597-5700-0C57-1B80F8DD3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1E0AE87-4545-8F6C-248F-E03E9F3B3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Setting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E1260F51-E89C-3260-3278-B4B7AA5157B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938536" cy="4351338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I5-10500 + 2080Ti</a:t>
                </a:r>
              </a:p>
              <a:p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Random seed = 42</a:t>
                </a:r>
              </a:p>
              <a:p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SGD(</a:t>
                </a:r>
                <a:r>
                  <a:rPr lang="en-US" altLang="zh-TW" sz="24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weight_decay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1e-4) + </a:t>
                </a:r>
                <a:r>
                  <a:rPr lang="en-US" altLang="zh-TW" sz="24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BCEWithLogitsLoss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</a:t>
                </a:r>
                <a:r>
                  <a:rPr lang="en-US" altLang="zh-TW" sz="24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CosineAnnealingLR</a:t>
                </a:r>
                <a:endParaRPr lang="en-US" altLang="zh-TW" sz="2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Modify the stride of layer stride2[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4</m:t>
                    </m:r>
                  </m:oMath>
                </a14:m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 from 2 to 1</a:t>
                </a:r>
              </a:p>
              <a:p>
                <a:r>
                  <a:rPr lang="en-US" altLang="zh-TW" sz="24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lr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alpha and </a:t>
                </a:r>
                <a:r>
                  <a:rPr lang="en-US" altLang="zh-TW" sz="24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lambda_mgd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changed every attempt</a:t>
                </a:r>
              </a:p>
              <a:p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ABCD Dataset as training set (0.8 for training and 0.2 for validating)</a:t>
                </a:r>
              </a:p>
              <a:p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Google Dataset as testing set</a:t>
                </a:r>
              </a:p>
              <a:p>
                <a:pPr>
                  <a:buClr>
                    <a:schemeClr val="tx1"/>
                  </a:buClr>
                </a:pP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MobileNet_V3_Large with modified stride2[0] layer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 teacher model</a:t>
                </a:r>
              </a:p>
              <a:p>
                <a:pPr>
                  <a:buClr>
                    <a:schemeClr val="tx1"/>
                  </a:buClr>
                </a:pP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MobileNet_V3_Small with modified stride2[4] layer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as student model</a:t>
                </a:r>
              </a:p>
            </p:txBody>
          </p:sp>
        </mc:Choice>
        <mc:Fallback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E1260F51-E89C-3260-3278-B4B7AA5157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938536" cy="4351338"/>
              </a:xfrm>
              <a:blipFill>
                <a:blip r:embed="rId3"/>
                <a:stretch>
                  <a:fillRect l="-780" t="-280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59638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438E0A-3968-C94B-0C79-A2B3CB86F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CABDA77-EE4A-8AA3-A9BF-1513AD633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 Curve (TDR@FDR=1%)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CB90DD7C-2423-496E-0DE6-AD158E8EED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3087" y="1690688"/>
            <a:ext cx="8505825" cy="5000625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835AD1E7-7054-0E84-F26A-23D6E01AE6A6}"/>
              </a:ext>
            </a:extLst>
          </p:cNvPr>
          <p:cNvSpPr txBox="1"/>
          <p:nvPr/>
        </p:nvSpPr>
        <p:spPr>
          <a:xfrm>
            <a:off x="10022774" y="3890917"/>
            <a:ext cx="201286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 err="1"/>
              <a:t>lr</a:t>
            </a:r>
            <a:r>
              <a:rPr lang="en-US" altLang="zh-TW" sz="1400" dirty="0"/>
              <a:t> = 0.01</a:t>
            </a:r>
          </a:p>
          <a:p>
            <a:r>
              <a:rPr lang="en-US" altLang="zh-TW" sz="1400" dirty="0"/>
              <a:t>alpha = 0.005</a:t>
            </a:r>
          </a:p>
          <a:p>
            <a:r>
              <a:rPr lang="en-US" altLang="zh-TW" sz="1400" dirty="0" err="1"/>
              <a:t>lambda_mgd</a:t>
            </a:r>
            <a:r>
              <a:rPr lang="en-US" altLang="zh-TW" sz="1400" dirty="0"/>
              <a:t> = 0.075</a:t>
            </a:r>
            <a:endParaRPr lang="zh-TW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7247327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A11E4-9F16-3F6D-137C-9CF78EA8D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5B46A8E9-5993-E197-79F7-255F42129D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3087" y="1690688"/>
            <a:ext cx="8505825" cy="5000625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67F9A53B-D024-2507-1868-E0E2DAE5A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 Curve (TDR@FDR=1%)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798E2783-9787-CF61-8AA6-CCAC9342C975}"/>
              </a:ext>
            </a:extLst>
          </p:cNvPr>
          <p:cNvSpPr txBox="1"/>
          <p:nvPr/>
        </p:nvSpPr>
        <p:spPr>
          <a:xfrm>
            <a:off x="10022774" y="3890917"/>
            <a:ext cx="201286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 err="1"/>
              <a:t>lr</a:t>
            </a:r>
            <a:r>
              <a:rPr lang="en-US" altLang="zh-TW" sz="1400" dirty="0"/>
              <a:t> = 0.02</a:t>
            </a:r>
          </a:p>
          <a:p>
            <a:r>
              <a:rPr lang="en-US" altLang="zh-TW" sz="1400" dirty="0"/>
              <a:t>alpha = 0.005</a:t>
            </a:r>
          </a:p>
          <a:p>
            <a:r>
              <a:rPr lang="en-US" altLang="zh-TW" sz="1400" dirty="0" err="1"/>
              <a:t>lambda_mgd</a:t>
            </a:r>
            <a:r>
              <a:rPr lang="en-US" altLang="zh-TW" sz="1400" dirty="0"/>
              <a:t> = 0.075</a:t>
            </a:r>
            <a:endParaRPr lang="zh-TW" altLang="en-US" sz="1400" dirty="0"/>
          </a:p>
        </p:txBody>
      </p:sp>
    </p:spTree>
    <p:extLst>
      <p:ext uri="{BB962C8B-B14F-4D97-AF65-F5344CB8AC3E}">
        <p14:creationId xmlns:p14="http://schemas.microsoft.com/office/powerpoint/2010/main" val="8800920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1CDF2-1787-2923-729C-55894EDE9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A57DD8DA-D435-932A-BD6D-240018C367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3087" y="1690688"/>
            <a:ext cx="8505825" cy="5000625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8E359FC5-AF62-5958-1865-A96FBA20A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 Curve (TDR@FDR=1%)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17F3168-E8A0-ADDA-B9F4-793741A1905F}"/>
              </a:ext>
            </a:extLst>
          </p:cNvPr>
          <p:cNvSpPr txBox="1"/>
          <p:nvPr/>
        </p:nvSpPr>
        <p:spPr>
          <a:xfrm>
            <a:off x="10022774" y="3890917"/>
            <a:ext cx="201286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 err="1"/>
              <a:t>lr</a:t>
            </a:r>
            <a:r>
              <a:rPr lang="en-US" altLang="zh-TW" sz="1400" dirty="0"/>
              <a:t> = 0.02</a:t>
            </a:r>
          </a:p>
          <a:p>
            <a:r>
              <a:rPr lang="en-US" altLang="zh-TW" sz="1400" dirty="0"/>
              <a:t>alpha = 0.0075</a:t>
            </a:r>
          </a:p>
          <a:p>
            <a:r>
              <a:rPr lang="en-US" altLang="zh-TW" sz="1400" dirty="0" err="1"/>
              <a:t>lambda_mgd</a:t>
            </a:r>
            <a:r>
              <a:rPr lang="en-US" altLang="zh-TW" sz="1400" dirty="0"/>
              <a:t> = 0.1</a:t>
            </a:r>
            <a:endParaRPr lang="zh-TW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7224572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7DDE7C-9164-8009-F780-2C99CEFFC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B081C3AC-D5B3-6E71-9193-0257AF5E39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2373" y="2920093"/>
            <a:ext cx="876523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A2EA36D5-14DF-DDA2-474D-DCBA79C6CF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4879545"/>
              </p:ext>
            </p:extLst>
          </p:nvPr>
        </p:nvGraphicFramePr>
        <p:xfrm>
          <a:off x="1151905" y="1941826"/>
          <a:ext cx="9680429" cy="3561723"/>
        </p:xfrm>
        <a:graphic>
          <a:graphicData uri="http://schemas.openxmlformats.org/drawingml/2006/table">
            <a:tbl>
              <a:tblPr/>
              <a:tblGrid>
                <a:gridCol w="3035794">
                  <a:extLst>
                    <a:ext uri="{9D8B030D-6E8A-4147-A177-3AD203B41FA5}">
                      <a16:colId xmlns:a16="http://schemas.microsoft.com/office/drawing/2014/main" val="401869850"/>
                    </a:ext>
                  </a:extLst>
                </a:gridCol>
                <a:gridCol w="1328927">
                  <a:extLst>
                    <a:ext uri="{9D8B030D-6E8A-4147-A177-3AD203B41FA5}">
                      <a16:colId xmlns:a16="http://schemas.microsoft.com/office/drawing/2014/main" val="3325375474"/>
                    </a:ext>
                  </a:extLst>
                </a:gridCol>
                <a:gridCol w="1328927">
                  <a:extLst>
                    <a:ext uri="{9D8B030D-6E8A-4147-A177-3AD203B41FA5}">
                      <a16:colId xmlns:a16="http://schemas.microsoft.com/office/drawing/2014/main" val="1005453566"/>
                    </a:ext>
                  </a:extLst>
                </a:gridCol>
                <a:gridCol w="1328927">
                  <a:extLst>
                    <a:ext uri="{9D8B030D-6E8A-4147-A177-3AD203B41FA5}">
                      <a16:colId xmlns:a16="http://schemas.microsoft.com/office/drawing/2014/main" val="3211015883"/>
                    </a:ext>
                  </a:extLst>
                </a:gridCol>
                <a:gridCol w="1328927">
                  <a:extLst>
                    <a:ext uri="{9D8B030D-6E8A-4147-A177-3AD203B41FA5}">
                      <a16:colId xmlns:a16="http://schemas.microsoft.com/office/drawing/2014/main" val="3054909154"/>
                    </a:ext>
                  </a:extLst>
                </a:gridCol>
                <a:gridCol w="1328927">
                  <a:extLst>
                    <a:ext uri="{9D8B030D-6E8A-4147-A177-3AD203B41FA5}">
                      <a16:colId xmlns:a16="http://schemas.microsoft.com/office/drawing/2014/main" val="3642255895"/>
                    </a:ext>
                  </a:extLst>
                </a:gridCol>
              </a:tblGrid>
              <a:tr h="49836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TDR@FDR=1%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ACE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APCER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BPCER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 Epoch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6915357"/>
                  </a:ext>
                </a:extLst>
              </a:tr>
              <a:tr h="41916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Teacher</a:t>
                      </a:r>
                      <a:r>
                        <a:rPr lang="en-US" altLang="zh-TW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stride2[0]</a:t>
                      </a:r>
                      <a:endParaRPr lang="en-US" sz="12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98.64%</a:t>
                      </a:r>
                      <a:endParaRPr lang="zh-TW" alt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1.02%</a:t>
                      </a:r>
                      <a:endParaRPr lang="zh-TW" alt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0.9%</a:t>
                      </a:r>
                      <a:endParaRPr lang="zh-TW" alt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1.14%</a:t>
                      </a:r>
                      <a:endParaRPr lang="zh-TW" alt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104</a:t>
                      </a:r>
                      <a:endParaRPr lang="zh-TW" alt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9802477"/>
                  </a:ext>
                </a:extLst>
              </a:tr>
              <a:tr h="41916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Student, stride2[4]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82.81%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5.09%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6.33%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3.85%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156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5440480"/>
                  </a:ext>
                </a:extLst>
              </a:tr>
              <a:tr h="41916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MGD 1 layer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lr</a:t>
                      </a: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= 0.01, alpha = 0.01, </a:t>
                      </a:r>
                      <a:r>
                        <a:rPr kumimoji="0" lang="en-US" altLang="zh-TW" sz="12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lambda_mgd</a:t>
                      </a: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= 0.15</a:t>
                      </a:r>
                      <a:endParaRPr kumimoji="0" lang="en-US" altLang="zh-TW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99.55%</a:t>
                      </a:r>
                      <a:endParaRPr lang="zh-TW" altLang="en-US" sz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0.70%</a:t>
                      </a:r>
                      <a:endParaRPr lang="zh-TW" altLang="en-US" sz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0.45%</a:t>
                      </a:r>
                      <a:endParaRPr lang="zh-TW" altLang="en-US" sz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0.95%</a:t>
                      </a:r>
                      <a:endParaRPr lang="zh-TW" altLang="en-US" sz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174</a:t>
                      </a:r>
                      <a:endParaRPr lang="zh-TW" altLang="en-US" sz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9594138"/>
                  </a:ext>
                </a:extLst>
              </a:tr>
              <a:tr h="41916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MGD 2 layer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lr</a:t>
                      </a: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= 0.01, alpha = 0.01, </a:t>
                      </a:r>
                      <a:r>
                        <a:rPr kumimoji="0" lang="en-US" altLang="zh-TW" sz="12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lambda_mgd</a:t>
                      </a: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= 0.15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97.29%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1.70%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2.26%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1.14%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176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5859686"/>
                  </a:ext>
                </a:extLst>
              </a:tr>
              <a:tr h="41916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MGD 2 layer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lr</a:t>
                      </a: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= 0.01, alpha = 0.01, </a:t>
                      </a:r>
                      <a:r>
                        <a:rPr kumimoji="0" lang="en-US" altLang="zh-TW" sz="12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lambda_mgd</a:t>
                      </a: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= 0.15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97.74%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1.34%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1.36%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1.33%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168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2106108"/>
                  </a:ext>
                </a:extLst>
              </a:tr>
              <a:tr h="41916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MGD 2 layer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lr</a:t>
                      </a: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= 0.01, alpha = 0.01, </a:t>
                      </a:r>
                      <a:r>
                        <a:rPr kumimoji="0" lang="en-US" altLang="zh-TW" sz="12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lambda_mgd</a:t>
                      </a: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= 0.15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99.55%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0.65%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0.45%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0.86%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20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188</a:t>
                      </a:r>
                      <a:endParaRPr lang="zh-TW" altLang="en-US" sz="120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1145653"/>
                  </a:ext>
                </a:extLst>
              </a:tr>
            </a:tbl>
          </a:graphicData>
        </a:graphic>
      </p:graphicFrame>
      <p:sp>
        <p:nvSpPr>
          <p:cNvPr id="9" name="Rectangle 3">
            <a:extLst>
              <a:ext uri="{FF2B5EF4-FFF2-40B4-BE49-F238E27FC236}">
                <a16:creationId xmlns:a16="http://schemas.microsoft.com/office/drawing/2014/main" id="{C752FB7A-2BAA-B0F6-A508-57DA375A45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8650" y="3265488"/>
            <a:ext cx="5476681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5C155226-6E0A-EE3E-2850-F5FFFA6571C6}"/>
              </a:ext>
            </a:extLst>
          </p:cNvPr>
          <p:cNvSpPr txBox="1"/>
          <p:nvPr/>
        </p:nvSpPr>
        <p:spPr>
          <a:xfrm>
            <a:off x="5214879" y="5754687"/>
            <a:ext cx="155448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dirty="0"/>
              <a:t>Teacher: </a:t>
            </a:r>
          </a:p>
          <a:p>
            <a:r>
              <a:rPr lang="en-US" altLang="zh-TW" sz="1200" b="1" dirty="0" err="1"/>
              <a:t>MobileNet</a:t>
            </a:r>
            <a:r>
              <a:rPr lang="en-US" altLang="zh-TW" sz="1200" b="1" dirty="0"/>
              <a:t> V3 Large</a:t>
            </a:r>
          </a:p>
          <a:p>
            <a:endParaRPr lang="en-US" altLang="zh-TW" sz="1200" b="1" dirty="0"/>
          </a:p>
          <a:p>
            <a:r>
              <a:rPr lang="en-US" altLang="zh-TW" sz="1200" b="1" dirty="0"/>
              <a:t>Student: </a:t>
            </a:r>
          </a:p>
          <a:p>
            <a:r>
              <a:rPr lang="en-US" altLang="zh-TW" sz="1200" b="1" dirty="0" err="1"/>
              <a:t>MobileNet</a:t>
            </a:r>
            <a:r>
              <a:rPr lang="en-US" altLang="zh-TW" sz="1200" b="1" dirty="0"/>
              <a:t> V3 Small</a:t>
            </a:r>
            <a:endParaRPr lang="zh-TW" altLang="en-US" sz="1200" b="1" dirty="0"/>
          </a:p>
        </p:txBody>
      </p:sp>
      <p:sp>
        <p:nvSpPr>
          <p:cNvPr id="4" name="標題 1">
            <a:extLst>
              <a:ext uri="{FF2B5EF4-FFF2-40B4-BE49-F238E27FC236}">
                <a16:creationId xmlns:a16="http://schemas.microsoft.com/office/drawing/2014/main" id="{F25DAE52-5596-1437-EA9A-820148BA36B0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Metric (TDR@FDR=1%)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59820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3945</TotalTime>
  <Words>759</Words>
  <Application>Microsoft Office PowerPoint</Application>
  <PresentationFormat>寬螢幕</PresentationFormat>
  <Paragraphs>219</Paragraphs>
  <Slides>10</Slides>
  <Notes>9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7" baseType="lpstr">
      <vt:lpstr>標楷體</vt:lpstr>
      <vt:lpstr>Aptos</vt:lpstr>
      <vt:lpstr>Aptos Display</vt:lpstr>
      <vt:lpstr>Arial</vt:lpstr>
      <vt:lpstr>Cambria Math</vt:lpstr>
      <vt:lpstr>Times New Roman</vt:lpstr>
      <vt:lpstr>Office 佈景主題</vt:lpstr>
      <vt:lpstr>3/17 個人咪挺 The result of MGD with multiple feature layers</vt:lpstr>
      <vt:lpstr>Notation</vt:lpstr>
      <vt:lpstr>Recall – Result Metric (MMAC)</vt:lpstr>
      <vt:lpstr>Modified Model Structure</vt:lpstr>
      <vt:lpstr>Recall – MGD Process</vt:lpstr>
      <vt:lpstr>Train Setting</vt:lpstr>
      <vt:lpstr>Metric Curve (TDR@FDR=1%)</vt:lpstr>
      <vt:lpstr>Metric Curve (TDR@FDR=1%)</vt:lpstr>
      <vt:lpstr>Metric Curve (TDR@FDR=1%)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林家逸</dc:creator>
  <cp:lastModifiedBy>林家逸</cp:lastModifiedBy>
  <cp:revision>91</cp:revision>
  <dcterms:created xsi:type="dcterms:W3CDTF">2025-09-01T15:41:03Z</dcterms:created>
  <dcterms:modified xsi:type="dcterms:W3CDTF">2026-03-16T16:50:57Z</dcterms:modified>
</cp:coreProperties>
</file>
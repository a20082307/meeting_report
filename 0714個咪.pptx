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31" r:id="rId3"/>
    <p:sldId id="340" r:id="rId4"/>
    <p:sldId id="349" r:id="rId5"/>
    <p:sldId id="320" r:id="rId6"/>
    <p:sldId id="366" r:id="rId7"/>
    <p:sldId id="350" r:id="rId8"/>
    <p:sldId id="360" r:id="rId9"/>
    <p:sldId id="374" r:id="rId10"/>
    <p:sldId id="375" r:id="rId11"/>
    <p:sldId id="376" r:id="rId12"/>
    <p:sldId id="377" r:id="rId13"/>
    <p:sldId id="378" r:id="rId14"/>
    <p:sldId id="347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FEE6E8"/>
    <a:srgbClr val="EFF98F"/>
    <a:srgbClr val="FBABB3"/>
    <a:srgbClr val="9FC5E8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7484" autoAdjust="0"/>
  </p:normalViewPr>
  <p:slideViewPr>
    <p:cSldViewPr snapToGrid="0">
      <p:cViewPr varScale="1">
        <p:scale>
          <a:sx n="161" d="100"/>
          <a:sy n="161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2C8B-0BE6-A698-FB0B-3AF6CDE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7A413E-FF77-ED69-C978-D9424F782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D5ED08-2A85-1656-52C3-1001481A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5FA1E1-DD64-AE1E-B96F-5DC1BAB6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42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034F-5C94-A8AC-DB66-CDCC2C4BE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1D682A5-C5D6-1D23-B075-274D91B547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CD3F290-F4DB-EE66-9A0F-434D23F39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EFCE69-EFC6-182E-3E92-0D69EC6BF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505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B4B4C-0D89-C7F5-C9A7-CD43D16E1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0B4BAA4-EB62-2A04-1C9E-1C0874C93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2E1049-927E-3BC6-DEBC-54BC026BF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2CB070-4B33-E6CD-C60B-7F4F028EA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100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E1E46-A021-DFAF-F2EC-2BC540B01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20B80D8-54EB-65BB-AF41-708F4CDFC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E0869F6-5E47-4573-E513-235765749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615167-3A2C-A49D-CF95-6E6095011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5366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A1FE2-A33A-74C7-F05E-687AA4B4F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648B3D7-19EA-7BF5-763D-2A46AD1D3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D86BCE-9A0F-4FE9-4456-B3EADAF7E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83FD91-1FA7-ECBE-6C0B-CA6548A9B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43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AF1EF-4977-3AA8-3483-8829DAACD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5D5D2A3-A364-BF3F-5E46-52505C0A9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68C1E6-B9A8-BC28-2B83-E3F25A398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697E9A-BB29-C865-9DDA-C1FAF5A26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3891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3D9AE-7FCB-F2A7-24B2-DF2132329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EE8237A-3564-4AE2-E6B8-FFDAC6C1A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13D6564-08D3-FF4C-DF3F-451017C40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B2DA225-EB68-0076-3695-1E98B778D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8398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69999-4120-3F04-ED2A-B67A14172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6CC1922-087B-018C-0AC8-0F392861B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34EE34B-75BA-B651-1420-EFF8C5CF8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8F91B9-0E5A-D992-5046-199D11270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471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94509-1EEA-39EB-C4FF-5CD448B5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AF87582-0377-7972-138F-47EEA5036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3E225FD-17E8-332A-E506-B32DE2D4E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796A47-0748-9D10-A4E5-9F30F6425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7370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33FC1-D24D-1D10-7541-C8DFEF6D8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0C63149-8C06-0751-1B5E-1FD963213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3CEDB6C-F927-D6FE-317C-0F3E4CD80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4A299B-5F9D-FD2D-92DA-8F02B88E2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7996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90016-11B1-832F-5F7B-8C53EBDA8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2944C68-E10A-0A81-C8B3-2AB85E2F1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7199187-D515-4460-BF74-377DD77A5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B5F057-5442-D786-E653-C96E39C610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39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39A2C-46F1-5B96-2DCF-2E64F76A6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11E7264-8AEF-E9E5-F552-D4C3028C2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1AFFF96-F026-A9DB-B3CE-CAE0B57D9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FDF299-338A-E4AE-7B69-48D4F506A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11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7/14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Results of adding logit loss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E14-5370-BC34-8F78-D2E2BF87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78D54948-0E07-DCD4-C6AD-59F1B4986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649" y="1915884"/>
            <a:ext cx="5010390" cy="36684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30872B2-61CA-5279-C021-3F3A2EC5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517253-E056-BDCD-6A7E-E6441616E0D1}"/>
              </a:ext>
            </a:extLst>
          </p:cNvPr>
          <p:cNvSpPr txBox="1"/>
          <p:nvPr/>
        </p:nvSpPr>
        <p:spPr>
          <a:xfrm>
            <a:off x="4564277" y="6031210"/>
            <a:ext cx="3063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F0"/>
                </a:solidFill>
              </a:rPr>
              <a:t>Blue</a:t>
            </a:r>
            <a:r>
              <a:rPr lang="en-US" altLang="zh-TW" sz="1200" dirty="0"/>
              <a:t>: Selected layer to do MGD-1layer</a:t>
            </a:r>
            <a:br>
              <a:rPr lang="en-US" altLang="zh-TW" sz="1200" dirty="0"/>
            </a:br>
            <a:r>
              <a:rPr lang="en-US" altLang="zh-TW" sz="1200" dirty="0">
                <a:solidFill>
                  <a:srgbClr val="FF0000"/>
                </a:solidFill>
              </a:rPr>
              <a:t>Red</a:t>
            </a:r>
            <a:r>
              <a:rPr lang="en-US" altLang="zh-TW" sz="1200" dirty="0"/>
              <a:t>: The layer we modified stride number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477D0B-1BFD-783F-3FF6-7D3FA8FEB257}"/>
              </a:ext>
            </a:extLst>
          </p:cNvPr>
          <p:cNvSpPr/>
          <p:nvPr/>
        </p:nvSpPr>
        <p:spPr>
          <a:xfrm>
            <a:off x="6259159" y="4061406"/>
            <a:ext cx="4794811" cy="17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B3AD89-5EA1-1FA4-F27E-83B394FFE84D}"/>
              </a:ext>
            </a:extLst>
          </p:cNvPr>
          <p:cNvSpPr/>
          <p:nvPr/>
        </p:nvSpPr>
        <p:spPr>
          <a:xfrm>
            <a:off x="6259159" y="4626158"/>
            <a:ext cx="4794811" cy="17313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CB1781C1-0B31-F08B-4A6F-13F35B69B8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16" y="1419004"/>
            <a:ext cx="4822613" cy="413864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4D9693F-CD95-0497-9C03-333C40C968EE}"/>
              </a:ext>
            </a:extLst>
          </p:cNvPr>
          <p:cNvSpPr/>
          <p:nvPr/>
        </p:nvSpPr>
        <p:spPr>
          <a:xfrm>
            <a:off x="1138030" y="4688974"/>
            <a:ext cx="4562126" cy="14812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385ED7-8688-6701-233A-529186A4496E}"/>
              </a:ext>
            </a:extLst>
          </p:cNvPr>
          <p:cNvSpPr txBox="1"/>
          <p:nvPr/>
        </p:nvSpPr>
        <p:spPr>
          <a:xfrm>
            <a:off x="1881899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Large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F3A1C2-43A9-08F7-98D7-1E69D7152F60}"/>
              </a:ext>
            </a:extLst>
          </p:cNvPr>
          <p:cNvSpPr txBox="1"/>
          <p:nvPr/>
        </p:nvSpPr>
        <p:spPr>
          <a:xfrm>
            <a:off x="7120122" y="5640926"/>
            <a:ext cx="3063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MobileNet</a:t>
            </a:r>
            <a:r>
              <a:rPr lang="en-US" altLang="zh-TW" sz="1200" dirty="0"/>
              <a:t> V3 Small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97C474-7B9C-9D3C-BE62-F5BB3EE8C1EA}"/>
              </a:ext>
            </a:extLst>
          </p:cNvPr>
          <p:cNvSpPr/>
          <p:nvPr/>
        </p:nvSpPr>
        <p:spPr>
          <a:xfrm>
            <a:off x="1022153" y="1791188"/>
            <a:ext cx="4794811" cy="173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8100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2B5E-EC8F-C191-31CD-CFB6A61B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B2587F-E3EF-8584-1014-0869BA97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vs. Custom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Bneck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8459BF8-A95E-79BE-A8E5-74C3E1EF1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24" y="2742148"/>
            <a:ext cx="5662090" cy="306000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B356B50-8C9F-5B3C-B71E-181ADD3C8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724" y="2742148"/>
            <a:ext cx="5696024" cy="30600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D270110-D70E-D44A-FEB6-0145962DA261}"/>
              </a:ext>
            </a:extLst>
          </p:cNvPr>
          <p:cNvSpPr/>
          <p:nvPr/>
        </p:nvSpPr>
        <p:spPr>
          <a:xfrm>
            <a:off x="9336501" y="4272149"/>
            <a:ext cx="730332" cy="11297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D6C02B-5F74-92EE-BE38-4D6339D67261}"/>
              </a:ext>
            </a:extLst>
          </p:cNvPr>
          <p:cNvSpPr/>
          <p:nvPr/>
        </p:nvSpPr>
        <p:spPr>
          <a:xfrm>
            <a:off x="10445725" y="4252270"/>
            <a:ext cx="88768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22B2204-AA5D-2DF1-160B-EF8CC1494C29}"/>
              </a:ext>
            </a:extLst>
          </p:cNvPr>
          <p:cNvSpPr txBox="1"/>
          <p:nvPr/>
        </p:nvSpPr>
        <p:spPr>
          <a:xfrm>
            <a:off x="906877" y="5877420"/>
            <a:ext cx="4171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Modified</a:t>
            </a:r>
          </a:p>
          <a:p>
            <a:pPr algn="ctr"/>
            <a:r>
              <a:rPr lang="en-US" altLang="zh-TW" dirty="0"/>
              <a:t>( Only change part of </a:t>
            </a:r>
            <a:r>
              <a:rPr lang="en-US" altLang="zh-TW" dirty="0" err="1"/>
              <a:t>torchvision</a:t>
            </a:r>
            <a:r>
              <a:rPr lang="en-US" altLang="zh-TW" dirty="0"/>
              <a:t> model )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34B0AF9-843E-9F4F-C5EA-5BB09717F2C2}"/>
              </a:ext>
            </a:extLst>
          </p:cNvPr>
          <p:cNvSpPr txBox="1"/>
          <p:nvPr/>
        </p:nvSpPr>
        <p:spPr>
          <a:xfrm>
            <a:off x="7232847" y="5877420"/>
            <a:ext cx="4207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Custom</a:t>
            </a:r>
          </a:p>
          <a:p>
            <a:pPr algn="ctr"/>
            <a:r>
              <a:rPr lang="en-US" altLang="zh-TW" dirty="0"/>
              <a:t>( Re-write the model with some mistake )</a:t>
            </a:r>
          </a:p>
          <a:p>
            <a:pPr algn="ctr"/>
            <a:r>
              <a:rPr lang="en-US" altLang="zh-TW" dirty="0"/>
              <a:t>( Used in previous time 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BEB774-2C1A-F198-01B5-B3B149F2D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091"/>
            <a:ext cx="10515600" cy="4351338"/>
          </a:xfrm>
        </p:spPr>
        <p:txBody>
          <a:bodyPr>
            <a:normAutofit/>
          </a:bodyPr>
          <a:lstStyle/>
          <a:p>
            <a:pPr fontAlgn="base"/>
            <a:r>
              <a:rPr lang="en-US" altLang="zh-TW" dirty="0"/>
              <a:t>Change the ordering of SE layer forward pass</a:t>
            </a:r>
          </a:p>
          <a:p>
            <a:pPr fontAlgn="base"/>
            <a:r>
              <a:rPr lang="en-US" altLang="zh-TW" dirty="0"/>
              <a:t>Add an activation function in the end of projection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86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C58D-7C7F-0763-E1B0-26909F05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224889-E59C-DE90-411A-80C2AED2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Model Type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6DAC2D-B35A-5A70-E382-1EEB3B19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 (5-stage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Modified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 (4-stage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SE forward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projection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V3, change both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2BBA14E-C6CB-A98D-46B7-1A68C0DE1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098368"/>
              </p:ext>
            </p:extLst>
          </p:nvPr>
        </p:nvGraphicFramePr>
        <p:xfrm>
          <a:off x="838201" y="4329599"/>
          <a:ext cx="10183367" cy="1848796"/>
        </p:xfrm>
        <a:graphic>
          <a:graphicData uri="http://schemas.openxmlformats.org/drawingml/2006/table">
            <a:tbl>
              <a:tblPr/>
              <a:tblGrid>
                <a:gridCol w="1460832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1744507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6157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Custom,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SE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custom,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projection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Custom,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both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61578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TW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1.52 M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616609"/>
                  </a:ext>
                </a:extLst>
              </a:tr>
              <a:tr h="61578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13..76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23.59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23.6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23.63 M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47625" marB="476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23.63 M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801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957B6-AB0B-90FC-F346-8075183E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F627B6-FCB1-C610-8310-FF3F15B1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Logit Loss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D212476B-3040-2D46-A0EC-444AFAD38F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5"/>
                <a:ext cx="10515600" cy="485958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logits from the teacher and student are first converted into softened probability distributions using temperature-scaled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softmax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e>
                    </m:d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Then, KL divergence is used to measure the difference between the two distributions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𝑙𝑜𝑔𝑖𝑡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endChr m:val="|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d>
                      <m:dPr>
                        <m:begChr m:val="|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func>
                          <m:func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</m:func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d>
                                  <m:dPr>
                                    <m:ctrlP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4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</m:sub>
                            </m:sSub>
                          </m:e>
                        </m:func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final loss then become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𝐵𝐶𝐸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𝑀𝐺𝐷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𝑙𝑜𝑔𝑖𝑡</m:t>
                        </m:r>
                      </m:sub>
                    </m:sSub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D212476B-3040-2D46-A0EC-444AFAD38F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5"/>
                <a:ext cx="10515600" cy="4859585"/>
              </a:xfrm>
              <a:blipFill>
                <a:blip r:embed="rId3"/>
                <a:stretch>
                  <a:fillRect l="-812" t="-16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4402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F6C1-95E8-53AE-FE6F-D7B07ABF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FBA747-FBB4-CC7E-C5A2-D6930710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I.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9D6608-B0AA-C77B-4D42-5865A5F23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62"/>
            <a:ext cx="10938536" cy="4849653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0.01, alpha = 0.01,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0.15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reduce_tail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True,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128,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width_mult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[0.5, 0.45]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beta = 1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MobileNet_V3_Large, change both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369672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AF4F-A60A-799B-D46A-8229CCDA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D5EC57-9CC4-3D05-3DA8-ABA3DF190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8D6AA5C-283C-97E7-7711-6D46FB052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390740"/>
              </p:ext>
            </p:extLst>
          </p:nvPr>
        </p:nvGraphicFramePr>
        <p:xfrm>
          <a:off x="3294130" y="5619144"/>
          <a:ext cx="5658598" cy="103632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0.5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87.33%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4.63%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5.88%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3.38%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136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wm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0.45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86.88%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3.99%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4.98%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3.00%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174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19315823-A800-35D0-6F67-A0B499A98006}"/>
              </a:ext>
            </a:extLst>
          </p:cNvPr>
          <p:cNvSpPr txBox="1"/>
          <p:nvPr/>
        </p:nvSpPr>
        <p:spPr>
          <a:xfrm>
            <a:off x="2522946" y="5106322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err="1"/>
              <a:t>wm</a:t>
            </a:r>
            <a:r>
              <a:rPr lang="en-US" altLang="zh-TW" dirty="0"/>
              <a:t> = 0.5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076D52-4195-FCC6-BC5E-7B2BD0224D7C}"/>
              </a:ext>
            </a:extLst>
          </p:cNvPr>
          <p:cNvSpPr txBox="1"/>
          <p:nvPr/>
        </p:nvSpPr>
        <p:spPr>
          <a:xfrm>
            <a:off x="8584660" y="5106322"/>
            <a:ext cx="1200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err="1"/>
              <a:t>wm</a:t>
            </a:r>
            <a:r>
              <a:rPr lang="en-US" altLang="zh-TW" dirty="0"/>
              <a:t> = 0.45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C519087-F117-5E8E-2318-74711CB81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6322"/>
            <a:ext cx="6111787" cy="3600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370AD08-C55F-91D5-7ED0-BB66EC1F1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1" y="1506322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162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B0FF5-51A2-BAAC-37B1-B0C62BEB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CF7D6B-7080-DC40-902D-811AF6753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Loss Curve (TDR@FDR=1%)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3367145-691E-166F-1D0E-73CA195E8B35}"/>
              </a:ext>
            </a:extLst>
          </p:cNvPr>
          <p:cNvSpPr txBox="1"/>
          <p:nvPr/>
        </p:nvSpPr>
        <p:spPr>
          <a:xfrm>
            <a:off x="2522946" y="5106322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err="1"/>
              <a:t>wm</a:t>
            </a:r>
            <a:r>
              <a:rPr lang="en-US" altLang="zh-TW" dirty="0"/>
              <a:t> = 0.5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4CC7A7E-9EDC-D7B4-C396-3D430A0AFA33}"/>
              </a:ext>
            </a:extLst>
          </p:cNvPr>
          <p:cNvSpPr txBox="1"/>
          <p:nvPr/>
        </p:nvSpPr>
        <p:spPr>
          <a:xfrm>
            <a:off x="8584660" y="5106322"/>
            <a:ext cx="1200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err="1"/>
              <a:t>wm</a:t>
            </a:r>
            <a:r>
              <a:rPr lang="en-US" altLang="zh-TW" dirty="0"/>
              <a:t> = 0.45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71BA004-0ADA-BAA6-F0DD-3143E1EA8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15" y="1506322"/>
            <a:ext cx="4800000" cy="3600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3D15B64-4023-1599-D116-44881F6CA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145" y="1506322"/>
            <a:ext cx="4800000" cy="3600000"/>
          </a:xfrm>
          <a:prstGeom prst="rect">
            <a:avLst/>
          </a:prstGeom>
        </p:spPr>
      </p:pic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B5A77A8F-4044-316B-539A-C0632475E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77345"/>
            <a:ext cx="10515600" cy="92627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suspect that the performance drop </a:t>
            </a:r>
            <a:r>
              <a:rPr lang="zh-TW" altLang="zh-TW" sz="2400" dirty="0"/>
              <a:t>is caused by the logit loss being too high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414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C77BA-6F3E-1876-A076-E1C228711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EE327B-DE0E-048A-7822-3F8C006FB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II.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F749D6-C7E8-FF4D-5D1C-2E5C96FEA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562"/>
            <a:ext cx="10938536" cy="4849653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0.01, alpha = 0.01,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0.15</a:t>
            </a:r>
          </a:p>
          <a:p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reduce_tail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True,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128,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width_mult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[0.5, 0.45]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beta = [0.1, 0.01]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MobileNet_V3_Large, change both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teacher model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MobileNet_V3_Small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student model</a:t>
            </a:r>
          </a:p>
        </p:txBody>
      </p:sp>
    </p:spTree>
    <p:extLst>
      <p:ext uri="{BB962C8B-B14F-4D97-AF65-F5344CB8AC3E}">
        <p14:creationId xmlns:p14="http://schemas.microsoft.com/office/powerpoint/2010/main" val="4252379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8B8EB-C8F4-AB29-B862-45B26EB73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1B8C08-5955-A3FD-C4B6-C78EEABD4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beta = 0.1)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28794BA-2F59-1237-52EF-136C5F41A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903875"/>
              </p:ext>
            </p:extLst>
          </p:nvPr>
        </p:nvGraphicFramePr>
        <p:xfrm>
          <a:off x="3294130" y="5619144"/>
          <a:ext cx="5658598" cy="103632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0.5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97.29%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2.71%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130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wm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0.45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97.74%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1.54%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2.26%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124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923931A0-CF1A-208F-0EC9-8702BA445B2C}"/>
              </a:ext>
            </a:extLst>
          </p:cNvPr>
          <p:cNvSpPr txBox="1"/>
          <p:nvPr/>
        </p:nvSpPr>
        <p:spPr>
          <a:xfrm>
            <a:off x="2522946" y="5106322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err="1"/>
              <a:t>wm</a:t>
            </a:r>
            <a:r>
              <a:rPr lang="en-US" altLang="zh-TW" dirty="0"/>
              <a:t> = 0.5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2DC4119-389D-3DDB-CA55-E1001BD04D86}"/>
              </a:ext>
            </a:extLst>
          </p:cNvPr>
          <p:cNvSpPr txBox="1"/>
          <p:nvPr/>
        </p:nvSpPr>
        <p:spPr>
          <a:xfrm>
            <a:off x="8584660" y="5106322"/>
            <a:ext cx="1200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err="1"/>
              <a:t>wm</a:t>
            </a:r>
            <a:r>
              <a:rPr lang="en-US" altLang="zh-TW" dirty="0"/>
              <a:t> = 0.45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E43090D-B15B-D339-192D-2023D32FC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6322"/>
            <a:ext cx="6123429" cy="3600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FBB69C85-D579-55E6-B9BC-E43A6257C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1" y="1506322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47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95FA2-E02F-2141-A28B-79A1D1387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C1B540-9045-C4A1-4D95-AC42F5D4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beta = 0.01)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0DB85BC-733C-47B4-F526-FD386C6D6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92524"/>
              </p:ext>
            </p:extLst>
          </p:nvPr>
        </p:nvGraphicFramePr>
        <p:xfrm>
          <a:off x="3294130" y="5619144"/>
          <a:ext cx="5658598" cy="1036320"/>
        </p:xfrm>
        <a:graphic>
          <a:graphicData uri="http://schemas.openxmlformats.org/drawingml/2006/table">
            <a:tbl>
              <a:tblPr/>
              <a:tblGrid>
                <a:gridCol w="1423718">
                  <a:extLst>
                    <a:ext uri="{9D8B030D-6E8A-4147-A177-3AD203B41FA5}">
                      <a16:colId xmlns:a16="http://schemas.microsoft.com/office/drawing/2014/main" val="1010475930"/>
                    </a:ext>
                  </a:extLst>
                </a:gridCol>
                <a:gridCol w="1369324">
                  <a:extLst>
                    <a:ext uri="{9D8B030D-6E8A-4147-A177-3AD203B41FA5}">
                      <a16:colId xmlns:a16="http://schemas.microsoft.com/office/drawing/2014/main" val="346798194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54110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667213240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3227198826"/>
                    </a:ext>
                  </a:extLst>
                </a:gridCol>
                <a:gridCol w="716389">
                  <a:extLst>
                    <a:ext uri="{9D8B030D-6E8A-4147-A177-3AD203B41FA5}">
                      <a16:colId xmlns:a16="http://schemas.microsoft.com/office/drawing/2014/main" val="1739147163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05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665382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0.5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95.48%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2.18%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2.26%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2.09%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178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649253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wm</a:t>
                      </a:r>
                      <a:r>
                        <a:rPr lang="en-US" altLang="zh-TW" sz="1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0.45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98.19%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1.00%</a:t>
                      </a:r>
                      <a:endParaRPr lang="zh-TW" alt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184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30378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5AC8B4E4-E3D4-F422-B252-38D4AA147BD9}"/>
              </a:ext>
            </a:extLst>
          </p:cNvPr>
          <p:cNvSpPr txBox="1"/>
          <p:nvPr/>
        </p:nvSpPr>
        <p:spPr>
          <a:xfrm>
            <a:off x="2522946" y="5106322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err="1"/>
              <a:t>wm</a:t>
            </a:r>
            <a:r>
              <a:rPr lang="en-US" altLang="zh-TW" dirty="0"/>
              <a:t> = 0.5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830C352-7D28-80E7-2ADF-96B6A1B7A0F9}"/>
              </a:ext>
            </a:extLst>
          </p:cNvPr>
          <p:cNvSpPr txBox="1"/>
          <p:nvPr/>
        </p:nvSpPr>
        <p:spPr>
          <a:xfrm>
            <a:off x="8584660" y="5106322"/>
            <a:ext cx="1200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err="1"/>
              <a:t>wm</a:t>
            </a:r>
            <a:r>
              <a:rPr lang="en-US" altLang="zh-TW" dirty="0"/>
              <a:t> = 0.45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54B5E37-C94F-A949-8446-3B9BEE632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6322"/>
            <a:ext cx="6123429" cy="3600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6E025B8-E182-94AB-1727-21F70C9C23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8571" y="1506322"/>
            <a:ext cx="612342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107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E2250-0CA9-64E5-68E3-A0104F69A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81F211-B895-E9AB-A6E8-D687760C7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Loss Curve (TDR@FDR=1%)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02BC52E-BD41-D312-E47D-69B56178FCAC}"/>
              </a:ext>
            </a:extLst>
          </p:cNvPr>
          <p:cNvSpPr txBox="1"/>
          <p:nvPr/>
        </p:nvSpPr>
        <p:spPr>
          <a:xfrm>
            <a:off x="3332163" y="6308209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err="1"/>
              <a:t>wm</a:t>
            </a:r>
            <a:r>
              <a:rPr lang="en-US" altLang="zh-TW" dirty="0"/>
              <a:t> = 0.5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4639302-9ED8-FD76-A119-CB14CAC4C058}"/>
              </a:ext>
            </a:extLst>
          </p:cNvPr>
          <p:cNvSpPr txBox="1"/>
          <p:nvPr/>
        </p:nvSpPr>
        <p:spPr>
          <a:xfrm>
            <a:off x="7720581" y="6308209"/>
            <a:ext cx="1200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err="1"/>
              <a:t>wm</a:t>
            </a:r>
            <a:r>
              <a:rPr lang="en-US" altLang="zh-TW" dirty="0"/>
              <a:t> = 0.45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6B9308B-24E2-F22C-1C32-E5E545121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934" y="1331790"/>
            <a:ext cx="3360000" cy="25200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DC77879-FAFC-4DD1-EC29-1AE5E9463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933" y="3788209"/>
            <a:ext cx="3360000" cy="252000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0E71E6F8-3300-FF93-220B-6A26892F6D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1067" y="1331790"/>
            <a:ext cx="3360000" cy="2520000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3D0A1954-C3E4-A967-2C6B-1F85143CE4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1067" y="3788209"/>
            <a:ext cx="3360000" cy="2520000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ED55551D-8DEC-C8D2-E5AD-7307CBA0075E}"/>
              </a:ext>
            </a:extLst>
          </p:cNvPr>
          <p:cNvSpPr txBox="1"/>
          <p:nvPr/>
        </p:nvSpPr>
        <p:spPr>
          <a:xfrm>
            <a:off x="895361" y="2401907"/>
            <a:ext cx="1163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beta = 0.1</a:t>
            </a:r>
            <a:endParaRPr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73081A5-BA24-C89D-6D46-F30E3A82EF09}"/>
              </a:ext>
            </a:extLst>
          </p:cNvPr>
          <p:cNvSpPr txBox="1"/>
          <p:nvPr/>
        </p:nvSpPr>
        <p:spPr>
          <a:xfrm>
            <a:off x="833645" y="4863543"/>
            <a:ext cx="1286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beta = 0.01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1708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DAF8A-A869-7FFC-3605-B87987FB4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7E5EC59E-4F59-5FE4-0D44-38D1C5223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5D3C1A2-E21C-ECD0-06A6-786DFB687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631311"/>
              </p:ext>
            </p:extLst>
          </p:nvPr>
        </p:nvGraphicFramePr>
        <p:xfrm>
          <a:off x="841416" y="2307920"/>
          <a:ext cx="10496910" cy="3770920"/>
        </p:xfrm>
        <a:graphic>
          <a:graphicData uri="http://schemas.openxmlformats.org/drawingml/2006/table">
            <a:tbl>
              <a:tblPr/>
              <a:tblGrid>
                <a:gridCol w="3852275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SPEC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≥ 85.11%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&lt; 3.489%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&lt; 6.033%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&lt; 0.956%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27214" marB="27214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zh-TW" sz="2400">
                          <a:effectLst/>
                        </a:rPr>
                        <a:t> </a:t>
                      </a: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 MobileNetV3-Large, changed both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98.64%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1.02%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1.14%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104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864171"/>
                  </a:ext>
                </a:extLst>
              </a:tr>
              <a:tr h="29124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Original MobileNetV3-Small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84.16%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5.36%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6.33%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4.38%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154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31738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 MobileNetV3-Large, changed both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Original MobileNetV3-Small, hd=128, wm=0.5, w/ rt</a:t>
                      </a:r>
                      <a:endParaRPr lang="en-US" altLang="zh-TW" sz="10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w/o logit loss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99.10%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0.93%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172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1473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Custom MobileNetV3-Large, changed both</a:t>
                      </a:r>
                      <a:endParaRPr lang="zh-TW" alt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Original MobileNetV3-Small, hd=128, wm=0.45, w/ rt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w/o logit loss</a:t>
                      </a:r>
                      <a:endParaRPr lang="zh-TW" alt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98.19%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1.36%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1.05%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152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52291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Custom MobileNetV3-Large, changed both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Original MobileNetV3-Small, hd=128, wm=0.5, w/ rt</a:t>
                      </a:r>
                      <a:endParaRPr lang="en-US" altLang="zh-TW" sz="105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w/ logit loss, beta = 0.1</a:t>
                      </a:r>
                      <a:endParaRPr lang="zh-TW" sz="2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97.29%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1.86%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2.71%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130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580913"/>
                  </a:ext>
                </a:extLst>
              </a:tr>
              <a:tr h="5501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Custom MobileNetV3-Large, changed both</a:t>
                      </a:r>
                      <a:endParaRPr lang="zh-TW" altLang="en-US" sz="105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Original MobileNetV3-Small, </a:t>
                      </a:r>
                      <a:r>
                        <a:rPr lang="en-US" altLang="zh-TW" sz="105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hd</a:t>
                      </a: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=128, </a:t>
                      </a:r>
                      <a:r>
                        <a:rPr lang="en-US" altLang="zh-TW" sz="105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wm</a:t>
                      </a:r>
                      <a:r>
                        <a:rPr lang="en-US" altLang="zh-TW" sz="105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=0.45, w/ rt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05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w/ logit loss, beta = 0.01</a:t>
                      </a:r>
                      <a:endParaRPr lang="zh-TW" altLang="en-US" sz="1050" b="1" i="0" u="none" strike="noStrik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98.19%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1.40%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1.81%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1.00%</a:t>
                      </a:r>
                      <a:endParaRPr lang="zh-TW" alt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184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781291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E519A22A-EC94-85BF-933C-1DBB55DEF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606CA85-6997-F8F2-4655-F08F255B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Matrix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54F8E34-1E7A-2002-0BC6-140AB5951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084561"/>
              </p:ext>
            </p:extLst>
          </p:nvPr>
        </p:nvGraphicFramePr>
        <p:xfrm>
          <a:off x="4687479" y="525469"/>
          <a:ext cx="6219490" cy="1154871"/>
        </p:xfrm>
        <a:graphic>
          <a:graphicData uri="http://schemas.openxmlformats.org/drawingml/2006/table">
            <a:tbl>
              <a:tblPr/>
              <a:tblGrid>
                <a:gridCol w="912190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6825">
                  <a:extLst>
                    <a:ext uri="{9D8B030D-6E8A-4147-A177-3AD203B41FA5}">
                      <a16:colId xmlns:a16="http://schemas.microsoft.com/office/drawing/2014/main" val="1400992123"/>
                    </a:ext>
                  </a:extLst>
                </a:gridCol>
                <a:gridCol w="1326825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6825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6825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</a:tblGrid>
              <a:tr h="3849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1.0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0.75</a:t>
                      </a:r>
                      <a:endParaRPr lang="zh-TW" sz="240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0.5</a:t>
                      </a:r>
                      <a:endParaRPr lang="zh-TW" sz="240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hd = 128, wm = 0.</a:t>
                      </a:r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zh-TW" sz="240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r>
                        <a:rPr 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w/ reduced_tail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3849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TW" altLang="en-US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1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params</a:t>
                      </a:r>
                      <a:endParaRPr lang="en-US" sz="11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475.95 K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306.41 K (-35.6%)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150.78 K (-68.3%)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130.36 </a:t>
                      </a: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 (-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</a:t>
                      </a: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.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339488"/>
                  </a:ext>
                </a:extLst>
              </a:tr>
              <a:tr h="38495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10.07 M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7.41 M (-26.4%)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3.68 M (-63.5%)</a:t>
                      </a:r>
                      <a:endParaRPr lang="zh-TW" sz="240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3.31 </a:t>
                      </a: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 (-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67.1</a:t>
                      </a:r>
                      <a:r>
                        <a:rPr 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%)</a:t>
                      </a:r>
                      <a:endParaRPr lang="zh-TW" sz="2400" dirty="0">
                        <a:effectLst/>
                      </a:endParaRPr>
                    </a:p>
                  </a:txBody>
                  <a:tcPr marL="54429" marR="54429" marT="54429" marB="54429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4450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13126BE-CAC8-4707-810E-5EE0B500C660}">
  <we:reference id="4b785c87-866c-4bad-85d8-5d1ae467ac9a" version="3.26.0.0" store="EXCatalog" storeType="EXCatalog"/>
  <we:alternateReferences>
    <we:reference id="WA104381909" version="3.26.0.0" store="zh-TW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6376</TotalTime>
  <Words>1137</Words>
  <Application>Microsoft Office PowerPoint</Application>
  <PresentationFormat>寬螢幕</PresentationFormat>
  <Paragraphs>236</Paragraphs>
  <Slides>14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7/14 個人咪挺 Results of adding logit loss</vt:lpstr>
      <vt:lpstr>Modified MobileNet Model Structure</vt:lpstr>
      <vt:lpstr>Modified vs. Custom Bneck Structure</vt:lpstr>
      <vt:lpstr>Current Model Type</vt:lpstr>
      <vt:lpstr>Recall – MGD Process</vt:lpstr>
      <vt:lpstr>Logit Loss</vt:lpstr>
      <vt:lpstr>Train Setting I.</vt:lpstr>
      <vt:lpstr>Metric Curve (TDR@FDR=1%)</vt:lpstr>
      <vt:lpstr>Validation Loss Curve (TDR@FDR=1%)</vt:lpstr>
      <vt:lpstr>Train Setting II.</vt:lpstr>
      <vt:lpstr>Metric Curve (TDR@FDR=1%, beta = 0.1)</vt:lpstr>
      <vt:lpstr>Metric Curve (TDR@FDR=1%, beta = 0.01)</vt:lpstr>
      <vt:lpstr>Validation Loss Curve (TDR@FDR=1%)</vt:lpstr>
      <vt:lpstr>Result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166</cp:revision>
  <dcterms:created xsi:type="dcterms:W3CDTF">2025-09-01T15:41:03Z</dcterms:created>
  <dcterms:modified xsi:type="dcterms:W3CDTF">2026-07-13T16:04:48Z</dcterms:modified>
</cp:coreProperties>
</file>

<file path=[Content_Types].xml><?xml version="1.0" encoding="utf-8"?>
<Types xmlns="http://schemas.openxmlformats.org/package/2006/content-types">
  <Default Extension="gif" ContentType="image/gi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3"/>
  </p:notesMasterIdLst>
  <p:sldIdLst>
    <p:sldId id="256" r:id="rId3"/>
    <p:sldId id="324" r:id="rId4"/>
    <p:sldId id="1550" r:id="rId5"/>
    <p:sldId id="919" r:id="rId6"/>
    <p:sldId id="921" r:id="rId7"/>
    <p:sldId id="925" r:id="rId8"/>
    <p:sldId id="927" r:id="rId9"/>
    <p:sldId id="933" r:id="rId10"/>
    <p:sldId id="936" r:id="rId11"/>
    <p:sldId id="939" r:id="rId12"/>
    <p:sldId id="940" r:id="rId13"/>
    <p:sldId id="347" r:id="rId14"/>
    <p:sldId id="275" r:id="rId15"/>
    <p:sldId id="349" r:id="rId16"/>
    <p:sldId id="943" r:id="rId17"/>
    <p:sldId id="944" r:id="rId18"/>
    <p:sldId id="946" r:id="rId19"/>
    <p:sldId id="366" r:id="rId20"/>
    <p:sldId id="947" r:id="rId21"/>
    <p:sldId id="948" r:id="rId2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哲緯 廖" initials="哲緯" lastIdx="1" clrIdx="0">
    <p:extLst>
      <p:ext uri="{19B8F6BF-5375-455C-9EA6-DF929625EA0E}">
        <p15:presenceInfo xmlns:p15="http://schemas.microsoft.com/office/powerpoint/2012/main" userId="56b83fcb6ba072c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3838"/>
    <a:srgbClr val="FAC090"/>
    <a:srgbClr val="809A47"/>
    <a:srgbClr val="D7E4BD"/>
    <a:srgbClr val="376092"/>
    <a:srgbClr val="B9CDE5"/>
    <a:srgbClr val="375F92"/>
    <a:srgbClr val="A589B2"/>
    <a:srgbClr val="E1D5E7"/>
    <a:srgbClr val="50B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5863" autoAdjust="0"/>
  </p:normalViewPr>
  <p:slideViewPr>
    <p:cSldViewPr snapToGrid="0">
      <p:cViewPr varScale="1">
        <p:scale>
          <a:sx n="49" d="100"/>
          <a:sy n="49" d="100"/>
        </p:scale>
        <p:origin x="90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41B683-B203-4D1D-997C-A26DCDD53718}" type="datetimeFigureOut">
              <a:rPr lang="zh-TW" altLang="en-US" smtClean="0"/>
              <a:t>2025/4/28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C50F20-5DB3-43B9-959E-1F1353F8CF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5631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200" b="1" dirty="0"/>
              <a:t>Nasic9395_1023 Real Dataset </a:t>
            </a:r>
            <a:r>
              <a:rPr lang="en-US" altLang="zh-TW" sz="2200" dirty="0"/>
              <a:t>is a </a:t>
            </a:r>
            <a:r>
              <a:rPr lang="en-US" altLang="zh-TW" sz="2200" dirty="0">
                <a:solidFill>
                  <a:schemeClr val="accent2"/>
                </a:solidFill>
              </a:rPr>
              <a:t>partial wet fingerprint dataset </a:t>
            </a:r>
            <a:r>
              <a:rPr lang="en-US" altLang="zh-TW" sz="2200" dirty="0"/>
              <a:t>collected using a </a:t>
            </a:r>
            <a:r>
              <a:rPr lang="en-US" altLang="zh-TW" sz="2200" dirty="0">
                <a:solidFill>
                  <a:schemeClr val="accent2"/>
                </a:solidFill>
              </a:rPr>
              <a:t>capacitive sensor </a:t>
            </a:r>
            <a:r>
              <a:rPr lang="en-US" altLang="zh-TW" sz="2200" dirty="0"/>
              <a:t>on a mobile device's side fingerprint sensor.</a:t>
            </a:r>
          </a:p>
          <a:p>
            <a:r>
              <a:rPr lang="en-US" altLang="zh-TW" sz="2200" dirty="0"/>
              <a:t>The collected images have a resolution of </a:t>
            </a:r>
            <a:r>
              <a:rPr lang="en-US" altLang="zh-TW" sz="2200" dirty="0">
                <a:solidFill>
                  <a:schemeClr val="accent2"/>
                </a:solidFill>
              </a:rPr>
              <a:t>176x36 pixels</a:t>
            </a:r>
            <a:r>
              <a:rPr lang="en-US" altLang="zh-TW" sz="2200" dirty="0"/>
              <a:t>.</a:t>
            </a:r>
          </a:p>
          <a:p>
            <a:r>
              <a:rPr lang="en-US" altLang="zh-TW" sz="2200" dirty="0"/>
              <a:t>The dataset includes </a:t>
            </a:r>
            <a:r>
              <a:rPr lang="en-US" altLang="zh-TW" sz="2200" dirty="0">
                <a:solidFill>
                  <a:schemeClr val="accent2"/>
                </a:solidFill>
              </a:rPr>
              <a:t>87,025 clean fingerprint images </a:t>
            </a:r>
            <a:r>
              <a:rPr lang="en-US" altLang="zh-TW" sz="2200" dirty="0"/>
              <a:t>and </a:t>
            </a:r>
            <a:r>
              <a:rPr lang="en-US" altLang="zh-TW" sz="2200" dirty="0">
                <a:solidFill>
                  <a:schemeClr val="accent2"/>
                </a:solidFill>
              </a:rPr>
              <a:t>63,000 wet fingerprint images</a:t>
            </a:r>
            <a:r>
              <a:rPr lang="en-US" altLang="zh-TW" sz="2200" dirty="0"/>
              <a:t> from </a:t>
            </a:r>
            <a:r>
              <a:rPr lang="en-US" altLang="zh-TW" sz="2200" dirty="0">
                <a:solidFill>
                  <a:schemeClr val="accent2"/>
                </a:solidFill>
              </a:rPr>
              <a:t>105 different fingers</a:t>
            </a:r>
            <a:r>
              <a:rPr lang="en-US" altLang="zh-TW" sz="2200" dirty="0"/>
              <a:t>.</a:t>
            </a:r>
          </a:p>
          <a:p>
            <a:r>
              <a:rPr lang="en-US" sz="2200" dirty="0"/>
              <a:t>Wet fingerprint images collection process are show below</a:t>
            </a:r>
          </a:p>
          <a:p>
            <a:pPr marL="767823" lvl="1" indent="-371532">
              <a:buFont typeface="+mj-lt"/>
              <a:buAutoNum type="arabicPeriod"/>
            </a:pPr>
            <a:r>
              <a:rPr lang="en-US" altLang="zh-TW" sz="2000" dirty="0">
                <a:cs typeface="Times New Roman"/>
              </a:rPr>
              <a:t>Hold your fingers </a:t>
            </a:r>
            <a:r>
              <a:rPr lang="en-US" altLang="zh-TW" sz="2000" dirty="0">
                <a:solidFill>
                  <a:schemeClr val="accent2"/>
                </a:solidFill>
                <a:cs typeface="Times New Roman"/>
              </a:rPr>
              <a:t>4 cm above a humidifier </a:t>
            </a:r>
            <a:r>
              <a:rPr lang="en-US" altLang="zh-TW" sz="2000" dirty="0">
                <a:cs typeface="Times New Roman"/>
              </a:rPr>
              <a:t>for </a:t>
            </a:r>
            <a:r>
              <a:rPr lang="en-US" altLang="zh-TW" sz="2000" dirty="0">
                <a:solidFill>
                  <a:schemeClr val="accent2"/>
                </a:solidFill>
                <a:cs typeface="Times New Roman"/>
              </a:rPr>
              <a:t>approximately 3 seconds.</a:t>
            </a:r>
          </a:p>
          <a:p>
            <a:pPr marL="767823" lvl="1" indent="-371532">
              <a:buFont typeface="+mj-lt"/>
              <a:buAutoNum type="arabicPeriod"/>
            </a:pPr>
            <a:r>
              <a:rPr lang="en-US" altLang="zh-TW" sz="2000" dirty="0">
                <a:cs typeface="Times New Roman"/>
              </a:rPr>
              <a:t>Collect about 5 images.</a:t>
            </a:r>
          </a:p>
          <a:p>
            <a:pPr marL="767823" lvl="1" indent="-371532">
              <a:buFont typeface="+mj-lt"/>
              <a:buAutoNum type="arabicPeriod"/>
            </a:pPr>
            <a:r>
              <a:rPr lang="en-US" altLang="zh-TW" sz="2000" dirty="0">
                <a:cs typeface="Times New Roman"/>
              </a:rPr>
              <a:t>Dry your fingers and repeat the process.</a:t>
            </a:r>
            <a:endParaRPr lang="zh-TW" altLang="en-US" sz="2000" dirty="0">
              <a:cs typeface="Times New Roman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CFCC3-67D9-4ED0-8DF9-9E6B601CA0A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2185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altLang="zh-TW" sz="1300" dirty="0"/>
              <a:t>The proposed method is</a:t>
            </a:r>
            <a:r>
              <a:rPr lang="en-US" altLang="zh-TW" sz="1300" dirty="0">
                <a:solidFill>
                  <a:schemeClr val="accent2"/>
                </a:solidFill>
              </a:rPr>
              <a:t> tested with the same recognition tool as those in [PGT-Net, FPN-</a:t>
            </a:r>
            <a:r>
              <a:rPr lang="en-US" altLang="zh-TW" sz="1300" dirty="0" err="1">
                <a:solidFill>
                  <a:schemeClr val="accent2"/>
                </a:solidFill>
              </a:rPr>
              <a:t>ResUNet</a:t>
            </a:r>
            <a:r>
              <a:rPr lang="en-US" altLang="zh-TW" sz="1300" dirty="0">
                <a:solidFill>
                  <a:schemeClr val="accent2"/>
                </a:solidFill>
              </a:rPr>
              <a:t>]</a:t>
            </a:r>
            <a:r>
              <a:rPr lang="en-US" altLang="zh-TW" sz="1300" dirty="0"/>
              <a:t>, which extracts </a:t>
            </a:r>
            <a:r>
              <a:rPr lang="en-US" altLang="zh-TW" sz="1300" dirty="0" err="1"/>
              <a:t>keypoints</a:t>
            </a:r>
            <a:r>
              <a:rPr lang="en-US" altLang="zh-TW" sz="1300" dirty="0"/>
              <a:t> and matches points similar to Scale-Invariant Feature Transform (SIFT).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CFCC3-67D9-4ED0-8DF9-9E6B601CA0A6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9891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CFCC3-67D9-4ED0-8DF9-9E6B601CA0A6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2969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gi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10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10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../media/image16.gif"/><Relationship Id="rId4" Type="http://schemas.openxmlformats.org/officeDocument/2006/relationships/image" Target="../media/image3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gif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gi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jpeg"/><Relationship Id="rId4" Type="http://schemas.openxmlformats.org/officeDocument/2006/relationships/image" Target="../media/image10.jpe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jpeg"/><Relationship Id="rId4" Type="http://schemas.openxmlformats.org/officeDocument/2006/relationships/image" Target="../media/image10.jpe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eg"/><Relationship Id="rId5" Type="http://schemas.openxmlformats.org/officeDocument/2006/relationships/image" Target="../media/image16.gif"/><Relationship Id="rId4" Type="http://schemas.openxmlformats.org/officeDocument/2006/relationships/image" Target="../media/image3.jpe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6.gif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 descr="copyright_content_bg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5929331"/>
            <a:ext cx="9144000" cy="928670"/>
          </a:xfrm>
          <a:prstGeom prst="rect">
            <a:avLst/>
          </a:prstGeom>
        </p:spPr>
      </p:pic>
      <p:pic>
        <p:nvPicPr>
          <p:cNvPr id="13" name="圖片 12" descr="mainmenu_bg2.jpg"/>
          <p:cNvPicPr preferRelativeResize="0">
            <a:picLocks/>
          </p:cNvPicPr>
          <p:nvPr/>
        </p:nvPicPr>
        <p:blipFill>
          <a:blip r:embed="rId4" cstate="print"/>
          <a:srcRect t="42331"/>
          <a:stretch>
            <a:fillRect/>
          </a:stretch>
        </p:blipFill>
        <p:spPr>
          <a:xfrm>
            <a:off x="0" y="6072208"/>
            <a:ext cx="9144000" cy="664347"/>
          </a:xfrm>
          <a:prstGeom prst="rect">
            <a:avLst/>
          </a:prstGeom>
        </p:spPr>
      </p:pic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1428729" y="2357430"/>
            <a:ext cx="6929486" cy="1828800"/>
          </a:xfrm>
        </p:spPr>
        <p:txBody>
          <a:bodyPr anchor="ctr"/>
          <a:lstStyle>
            <a:lvl1pPr algn="ctr">
              <a:defRPr cap="all" baseline="0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 dirty="0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按一下以編輯母片子標題樣式</a:t>
            </a:r>
            <a:endParaRPr kumimoji="0" lang="en-US" dirty="0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FFE3BFF3-598B-4C34-ACF3-C02D625DFD1A}" type="datetime1">
              <a:rPr lang="en-US" altLang="zh-TW" smtClean="0"/>
              <a:t>4/28/2025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2214547" y="236540"/>
            <a:ext cx="5738246" cy="365125"/>
          </a:xfrm>
        </p:spPr>
        <p:txBody>
          <a:bodyPr/>
          <a:lstStyle>
            <a:lvl1pPr algn="r">
              <a:defRPr>
                <a:solidFill>
                  <a:srgbClr val="666666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rgbClr val="666666"/>
                </a:solidFill>
              </a:defRPr>
            </a:lvl1pPr>
          </a:lstStyle>
          <a:p>
            <a:fld id="{77FBDD6D-0106-41F0-98FD-2D1AE062E9F7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4" name="圖片 13" descr="logo_main.jpg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E1E1E1"/>
              </a:clrFrom>
              <a:clrTo>
                <a:srgbClr val="E1E1E1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4282" y="214290"/>
            <a:ext cx="1802436" cy="500066"/>
          </a:xfrm>
          <a:prstGeom prst="rect">
            <a:avLst/>
          </a:prstGeom>
          <a:ln w="3175" cmpd="sng">
            <a:noFill/>
          </a:ln>
        </p:spPr>
      </p:pic>
    </p:spTree>
    <p:extLst>
      <p:ext uri="{BB962C8B-B14F-4D97-AF65-F5344CB8AC3E}">
        <p14:creationId xmlns:p14="http://schemas.microsoft.com/office/powerpoint/2010/main" val="10938679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28728" y="228600"/>
            <a:ext cx="6500858" cy="990600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214283" y="6492877"/>
            <a:ext cx="1214446" cy="365125"/>
          </a:xfrm>
        </p:spPr>
        <p:txBody>
          <a:bodyPr/>
          <a:lstStyle/>
          <a:p>
            <a:fld id="{25E57FA8-FF4C-4DCD-A5DB-43705AD3D4DF}" type="datetime1">
              <a:rPr lang="en-US" altLang="zh-TW" smtClean="0"/>
              <a:t>4/28/2025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1428728" y="6248208"/>
            <a:ext cx="4601955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575104" y="6568900"/>
            <a:ext cx="533400" cy="244476"/>
          </a:xfrm>
        </p:spPr>
        <p:txBody>
          <a:bodyPr>
            <a:noAutofit/>
          </a:bodyPr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77FBDD6D-0106-41F0-98FD-2D1AE062E9F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1428729" y="1600200"/>
            <a:ext cx="7337320" cy="4495800"/>
          </a:xfrm>
        </p:spPr>
        <p:txBody>
          <a:bodyPr/>
          <a:lstStyle>
            <a:lvl1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eaLnBrk="1" latinLnBrk="0" hangingPunct="1"/>
            <a:r>
              <a:rPr lang="zh-TW" altLang="en-US" dirty="0"/>
              <a:t>編輯母片文字樣式</a:t>
            </a:r>
          </a:p>
          <a:p>
            <a:pPr lvl="1" eaLnBrk="1" latinLnBrk="0" hangingPunct="1"/>
            <a:r>
              <a:rPr lang="zh-TW" altLang="en-US" dirty="0"/>
              <a:t>第二層</a:t>
            </a:r>
          </a:p>
          <a:p>
            <a:pPr lvl="2" eaLnBrk="1" latinLnBrk="0" hangingPunct="1"/>
            <a:r>
              <a:rPr lang="zh-TW" altLang="en-US" dirty="0"/>
              <a:t>第三層</a:t>
            </a:r>
          </a:p>
          <a:p>
            <a:pPr lvl="3" eaLnBrk="1" latinLnBrk="0" hangingPunct="1"/>
            <a:r>
              <a:rPr lang="zh-TW" altLang="en-US" dirty="0"/>
              <a:t>第四層</a:t>
            </a:r>
          </a:p>
          <a:p>
            <a:pPr lvl="4" eaLnBrk="1" latinLnBrk="0" hangingPunct="1"/>
            <a:r>
              <a:rPr lang="zh-TW" altLang="en-US" dirty="0"/>
              <a:t>第五層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937192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Pr>
        <a:blipFill dpi="0" rotWithShape="1">
          <a:blip r:embed="rId2" cstate="print"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16" descr="NTHU_Logo_.pn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</a:blip>
          <a:srcRect l="22504" b="45338"/>
          <a:stretch>
            <a:fillRect/>
          </a:stretch>
        </p:blipFill>
        <p:spPr>
          <a:xfrm>
            <a:off x="1" y="5143512"/>
            <a:ext cx="2460191" cy="1714488"/>
          </a:xfrm>
          <a:prstGeom prst="rect">
            <a:avLst/>
          </a:prstGeom>
        </p:spPr>
      </p:pic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371601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編輯母片文字樣式</a:t>
            </a:r>
          </a:p>
        </p:txBody>
      </p:sp>
      <p:pic>
        <p:nvPicPr>
          <p:cNvPr id="10" name="圖片 9" descr="mainmenu_bg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1571612"/>
            <a:ext cx="9144000" cy="107157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2" name="日期版面配置區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D8BF417-DED0-4E0B-910E-F0A78A9477D2}" type="datetime1">
              <a:rPr lang="en-US" altLang="zh-TW" smtClean="0"/>
              <a:t>4/28/2025</a:t>
            </a:fld>
            <a:endParaRPr lang="zh-TW" altLang="en-US"/>
          </a:p>
        </p:txBody>
      </p:sp>
      <p:sp>
        <p:nvSpPr>
          <p:cNvPr id="13" name="投影片編號版面配置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7FBDD6D-0106-41F0-98FD-2D1AE062E9F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頁尾版面配置區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zh-TW" altLang="en-US"/>
          </a:p>
        </p:txBody>
      </p:sp>
      <p:pic>
        <p:nvPicPr>
          <p:cNvPr id="15" name="圖片 14" descr="logo_main.jpg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E1E1E1"/>
              </a:clrFrom>
              <a:clrTo>
                <a:srgbClr val="E1E1E1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86644" y="6215082"/>
            <a:ext cx="1473506" cy="408808"/>
          </a:xfrm>
          <a:prstGeom prst="rect">
            <a:avLst/>
          </a:prstGeom>
          <a:ln w="3175" cmpd="sng">
            <a:noFill/>
          </a:ln>
        </p:spPr>
      </p:pic>
    </p:spTree>
    <p:extLst>
      <p:ext uri="{BB962C8B-B14F-4D97-AF65-F5344CB8AC3E}">
        <p14:creationId xmlns:p14="http://schemas.microsoft.com/office/powerpoint/2010/main" val="11127784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1428728" y="1589567"/>
            <a:ext cx="3517200" cy="4572000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eaLnBrk="1" latinLnBrk="0" hangingPunct="1"/>
            <a:r>
              <a:rPr lang="zh-TW" altLang="en-US"/>
              <a:t>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5214943" y="1589567"/>
            <a:ext cx="3516159" cy="4572000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eaLnBrk="1" latinLnBrk="0" hangingPunct="1"/>
            <a:r>
              <a:rPr lang="zh-TW" altLang="en-US"/>
              <a:t>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8" name="日期版面配置區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FAE8BF3-6D38-4003-9754-16F67864B702}" type="datetime1">
              <a:rPr lang="en-US" altLang="zh-TW" smtClean="0"/>
              <a:t>4/28/2025</a:t>
            </a:fld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7FBDD6D-0106-41F0-98FD-2D1AE062E9F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頁尾版面配置區 11"/>
          <p:cNvSpPr>
            <a:spLocks noGrp="1"/>
          </p:cNvSpPr>
          <p:nvPr>
            <p:ph type="ftr" sz="quarter" idx="17"/>
          </p:nvPr>
        </p:nvSpPr>
        <p:spPr>
          <a:xfrm>
            <a:off x="1428730" y="6248208"/>
            <a:ext cx="3286148" cy="365125"/>
          </a:xfrm>
        </p:spPr>
        <p:txBody>
          <a:bodyPr rtlCol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6702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29200" y="230400"/>
            <a:ext cx="6429420" cy="990000"/>
          </a:xfrm>
        </p:spPr>
        <p:txBody>
          <a:bodyPr anchor="ctr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 dirty="0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1500166" y="2438400"/>
            <a:ext cx="3517200" cy="3581400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eaLnBrk="1" latinLnBrk="0" hangingPunct="1"/>
            <a:r>
              <a:rPr lang="zh-TW" altLang="en-US"/>
              <a:t>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5214942" y="2428868"/>
            <a:ext cx="3517200" cy="3581400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eaLnBrk="1" latinLnBrk="0" hangingPunct="1"/>
            <a:r>
              <a:rPr lang="zh-TW" altLang="en-US"/>
              <a:t>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 dirty="0"/>
          </a:p>
        </p:txBody>
      </p:sp>
      <p:sp>
        <p:nvSpPr>
          <p:cNvPr id="10" name="日期版面配置區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D97750A-9476-4800-915E-5841A53B1BB3}" type="datetime1">
              <a:rPr lang="en-US" altLang="zh-TW" smtClean="0"/>
              <a:t>4/28/2025</a:t>
            </a:fld>
            <a:endParaRPr lang="zh-TW" altLang="en-US"/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7FBDD6D-0106-41F0-98FD-2D1AE062E9F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頁尾版面配置區 13"/>
          <p:cNvSpPr>
            <a:spLocks noGrp="1"/>
          </p:cNvSpPr>
          <p:nvPr>
            <p:ph type="ftr" sz="quarter" idx="17"/>
          </p:nvPr>
        </p:nvSpPr>
        <p:spPr>
          <a:xfrm>
            <a:off x="1428730" y="6248208"/>
            <a:ext cx="3286148" cy="365125"/>
          </a:xfrm>
        </p:spPr>
        <p:txBody>
          <a:bodyPr rtlCol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zh-TW" altLang="en-US"/>
          </a:p>
        </p:txBody>
      </p:sp>
      <p:sp>
        <p:nvSpPr>
          <p:cNvPr id="16" name="文字版面配置區 15"/>
          <p:cNvSpPr>
            <a:spLocks noGrp="1"/>
          </p:cNvSpPr>
          <p:nvPr>
            <p:ph type="body" sz="quarter" idx="1"/>
          </p:nvPr>
        </p:nvSpPr>
        <p:spPr>
          <a:xfrm>
            <a:off x="1500166" y="1752600"/>
            <a:ext cx="3517200" cy="640080"/>
          </a:xfrm>
          <a:blipFill>
            <a:blip r:embed="rId2" cstate="print"/>
            <a:stretch>
              <a:fillRect/>
            </a:stretch>
          </a:blip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eaLnBrk="1" latinLnBrk="0" hangingPunct="1"/>
            <a:r>
              <a:rPr kumimoji="0" lang="zh-TW" altLang="en-US"/>
              <a:t>編輯母片文字樣式</a:t>
            </a:r>
          </a:p>
        </p:txBody>
      </p:sp>
      <p:sp>
        <p:nvSpPr>
          <p:cNvPr id="15" name="文字版面配置區 14"/>
          <p:cNvSpPr>
            <a:spLocks noGrp="1"/>
          </p:cNvSpPr>
          <p:nvPr>
            <p:ph type="body" sz="quarter" idx="3"/>
          </p:nvPr>
        </p:nvSpPr>
        <p:spPr>
          <a:xfrm>
            <a:off x="5214942" y="1752600"/>
            <a:ext cx="3517200" cy="640080"/>
          </a:xfrm>
          <a:blipFill>
            <a:blip r:embed="rId2" cstate="print"/>
            <a:stretch>
              <a:fillRect/>
            </a:stretch>
          </a:blip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eaLnBrk="1" latinLnBrk="0" hangingPunct="1"/>
            <a:r>
              <a:rPr kumimoji="0"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539184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D088BAE-C332-4ED6-BFAD-69A9E82FACFC}" type="datetime1">
              <a:rPr lang="en-US" altLang="zh-TW" smtClean="0"/>
              <a:t>4/28/2025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1428730" y="6248208"/>
            <a:ext cx="3286148" cy="365125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7FBDD6D-0106-41F0-98FD-2D1AE062E9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0183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E1CFB-60B2-4906-9502-7C202C227D3D}" type="datetime1">
              <a:rPr lang="en-US" altLang="zh-TW" smtClean="0"/>
              <a:t>4/28/2025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7FBDD6D-0106-41F0-98FD-2D1AE062E9F7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 descr="logo_main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E1E1E1"/>
              </a:clrFrom>
              <a:clrTo>
                <a:srgbClr val="E1E1E1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86644" y="6215082"/>
            <a:ext cx="1473506" cy="408808"/>
          </a:xfrm>
          <a:prstGeom prst="rect">
            <a:avLst/>
          </a:prstGeom>
          <a:ln w="3175" cmpd="sng">
            <a:noFill/>
          </a:ln>
        </p:spPr>
      </p:pic>
      <p:pic>
        <p:nvPicPr>
          <p:cNvPr id="7" name="圖片 6" descr="NTHU_Logo_.pn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1390" r="9990"/>
          <a:stretch>
            <a:fillRect/>
          </a:stretch>
        </p:blipFill>
        <p:spPr>
          <a:xfrm>
            <a:off x="6286512" y="0"/>
            <a:ext cx="2857488" cy="277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653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28728" y="230400"/>
            <a:ext cx="6429600" cy="990000"/>
          </a:xfrm>
        </p:spPr>
        <p:txBody>
          <a:bodyPr anchor="ctr"/>
          <a:lstStyle>
            <a:lvl1pPr algn="l">
              <a:buNone/>
              <a:defRPr sz="44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736BE49-770B-4FEF-A2AF-C42EE7E48967}" type="datetime1">
              <a:rPr lang="en-US" altLang="zh-TW" smtClean="0"/>
              <a:t>4/28/2025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1428730" y="6248208"/>
            <a:ext cx="3286148" cy="365125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7FBDD6D-0106-41F0-98FD-2D1AE062E9F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solidFill>
            <a:srgbClr val="E1E1E1"/>
          </a:solidFill>
          <a:ln w="50800" cap="sq" cmpd="dbl" algn="ctr">
            <a:solidFill>
              <a:srgbClr val="666666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編輯母片文字樣式</a:t>
            </a:r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eaLnBrk="1" latinLnBrk="0" hangingPunct="1"/>
            <a:r>
              <a:rPr lang="zh-TW" altLang="en-US"/>
              <a:t>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6035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Pr>
        <a:blipFill dpi="0" rotWithShape="1">
          <a:blip r:embed="rId2" cstate="print">
            <a:lum/>
          </a:blip>
          <a:srcRect/>
          <a:stretch>
            <a:fillRect l="-2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編輯母片文字樣式</a:t>
            </a:r>
          </a:p>
        </p:txBody>
      </p:sp>
      <p:sp>
        <p:nvSpPr>
          <p:cNvPr id="8" name="矩形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圖片 14" descr="mainmenu_bg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4643447"/>
            <a:ext cx="9144000" cy="71438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00232" y="4648200"/>
            <a:ext cx="6915168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2" name="日期版面配置區 11"/>
          <p:cNvSpPr>
            <a:spLocks noGrp="1"/>
          </p:cNvSpPr>
          <p:nvPr>
            <p:ph type="dt" sz="half" idx="10"/>
          </p:nvPr>
        </p:nvSpPr>
        <p:spPr>
          <a:xfrm>
            <a:off x="7643834" y="6248402"/>
            <a:ext cx="1285884" cy="365125"/>
          </a:xfrm>
        </p:spPr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B27B975-0E69-491F-9FD9-28D87F53ACAE}" type="datetime1">
              <a:rPr lang="en-US" altLang="zh-TW" smtClean="0"/>
              <a:t>4/28/2025</a:t>
            </a:fld>
            <a:endParaRPr lang="zh-TW" altLang="en-US"/>
          </a:p>
        </p:txBody>
      </p:sp>
      <p:sp>
        <p:nvSpPr>
          <p:cNvPr id="13" name="投影片編號版面配置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7FBDD6D-0106-41F0-98FD-2D1AE062E9F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頁尾版面配置區 13"/>
          <p:cNvSpPr>
            <a:spLocks noGrp="1"/>
          </p:cNvSpPr>
          <p:nvPr>
            <p:ph type="ftr" sz="quarter" idx="12"/>
          </p:nvPr>
        </p:nvSpPr>
        <p:spPr>
          <a:xfrm>
            <a:off x="1600200" y="6248208"/>
            <a:ext cx="5900758" cy="365125"/>
          </a:xfrm>
        </p:spPr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562400" y="0"/>
            <a:ext cx="7583424" cy="4568952"/>
          </a:xfrm>
          <a:blipFill>
            <a:blip r:embed="rId4" cstate="print"/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>
              <a:buNone/>
              <a:defRPr sz="3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18" name="矩形 17"/>
          <p:cNvSpPr/>
          <p:nvPr/>
        </p:nvSpPr>
        <p:spPr>
          <a:xfrm>
            <a:off x="0" y="5429264"/>
            <a:ext cx="1500167" cy="14287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圖片 16" descr="comm_Logo.gif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5786454"/>
            <a:ext cx="1500198" cy="259026"/>
          </a:xfrm>
          <a:prstGeom prst="rect">
            <a:avLst/>
          </a:prstGeom>
        </p:spPr>
      </p:pic>
      <p:pic>
        <p:nvPicPr>
          <p:cNvPr id="16" name="圖片 15" descr="logo_main.jpg"/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E1E1E1"/>
              </a:clrFrom>
              <a:clrTo>
                <a:srgbClr val="E1E1E1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" y="6143646"/>
            <a:ext cx="1428728" cy="396385"/>
          </a:xfrm>
          <a:prstGeom prst="rect">
            <a:avLst/>
          </a:prstGeom>
          <a:ln w="3175" cmpd="sng">
            <a:noFill/>
          </a:ln>
        </p:spPr>
      </p:pic>
    </p:spTree>
    <p:extLst>
      <p:ext uri="{BB962C8B-B14F-4D97-AF65-F5344CB8AC3E}">
        <p14:creationId xmlns:p14="http://schemas.microsoft.com/office/powerpoint/2010/main" val="3908195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eaLnBrk="1" latinLnBrk="0" hangingPunct="1"/>
            <a:r>
              <a:rPr lang="zh-TW" altLang="en-US"/>
              <a:t>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FD7478E-2085-4513-98B9-6013FA98A4AF}" type="datetime1">
              <a:rPr lang="en-US" altLang="zh-TW" smtClean="0"/>
              <a:t>4/28/2025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1428730" y="6248208"/>
            <a:ext cx="3286148" cy="365125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7FBDD6D-0106-41F0-98FD-2D1AE062E9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386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 descr="NTHU_Logo_.pn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  <a:lum bright="23000"/>
          </a:blip>
          <a:stretch>
            <a:fillRect/>
          </a:stretch>
        </p:blipFill>
        <p:spPr>
          <a:xfrm>
            <a:off x="1785919" y="1643050"/>
            <a:ext cx="3174603" cy="3136508"/>
          </a:xfrm>
          <a:prstGeom prst="rect">
            <a:avLst/>
          </a:prstGeom>
        </p:spPr>
      </p:pic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53200" y="609602"/>
            <a:ext cx="2057400" cy="5516563"/>
          </a:xfrm>
        </p:spPr>
        <p:txBody>
          <a:bodyPr vert="eaVert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eaLnBrk="1" latinLnBrk="0" hangingPunct="1"/>
            <a:r>
              <a:rPr lang="zh-TW" altLang="en-US"/>
              <a:t>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553200" y="6248404"/>
            <a:ext cx="2209800" cy="365125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0B8E20C-9FD7-4192-AB53-55B13DFE2804}" type="datetime1">
              <a:rPr lang="en-US" altLang="zh-TW" smtClean="0"/>
              <a:t>4/28/2025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071802" y="6248209"/>
            <a:ext cx="2958882" cy="365125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zh-TW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圖片 9" descr="mainmenu_bg.jpg"/>
          <p:cNvPicPr preferRelativeResize="0"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 rot="5400000">
            <a:off x="2829510" y="3314127"/>
            <a:ext cx="6858000" cy="229749"/>
          </a:xfrm>
          <a:prstGeom prst="rect">
            <a:avLst/>
          </a:prstGeom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7FBDD6D-0106-41F0-98FD-2D1AE062E9F7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1" name="圖片 10" descr="logo_main.jpg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E1E1E1"/>
              </a:clrFrom>
              <a:clrTo>
                <a:srgbClr val="E1E1E1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00166" y="6215082"/>
            <a:ext cx="1473506" cy="408808"/>
          </a:xfrm>
          <a:prstGeom prst="rect">
            <a:avLst/>
          </a:prstGeom>
          <a:ln w="3175" cmpd="sng">
            <a:noFill/>
          </a:ln>
        </p:spPr>
      </p:pic>
      <p:pic>
        <p:nvPicPr>
          <p:cNvPr id="12" name="圖片 11" descr="comm_Logo.gif"/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2844" y="6286522"/>
            <a:ext cx="1500198" cy="25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572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 preserve="1">
  <p:cSld name="標題及物件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 txBox="1">
            <a:spLocks noGrp="1"/>
          </p:cNvSpPr>
          <p:nvPr>
            <p:ph type="title"/>
          </p:nvPr>
        </p:nvSpPr>
        <p:spPr>
          <a:xfrm>
            <a:off x="1428728" y="228600"/>
            <a:ext cx="6500858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dt" idx="10"/>
          </p:nvPr>
        </p:nvSpPr>
        <p:spPr>
          <a:xfrm>
            <a:off x="214283" y="6492877"/>
            <a:ext cx="12144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021E122-E93E-46FF-94D3-8DDBF6D3F2E3}" type="datetime1">
              <a:rPr lang="en-US" altLang="zh-TW" smtClean="0">
                <a:solidFill>
                  <a:srgbClr val="1F497D"/>
                </a:solidFill>
              </a:rPr>
              <a:t>4/28/2025</a:t>
            </a:fld>
            <a:endParaRPr>
              <a:solidFill>
                <a:srgbClr val="1F497D"/>
              </a:solidFill>
            </a:endParaRPr>
          </a:p>
        </p:txBody>
      </p:sp>
      <p:sp>
        <p:nvSpPr>
          <p:cNvPr id="43" name="Google Shape;43;p4"/>
          <p:cNvSpPr txBox="1">
            <a:spLocks noGrp="1"/>
          </p:cNvSpPr>
          <p:nvPr>
            <p:ph type="ftr" idx="11"/>
          </p:nvPr>
        </p:nvSpPr>
        <p:spPr>
          <a:xfrm>
            <a:off x="1428728" y="6248208"/>
            <a:ext cx="460195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1F497D"/>
              </a:solidFill>
            </a:endParaRPr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8575104" y="6568900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None/>
              <a:defRPr sz="16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None/>
              <a:defRPr sz="16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None/>
              <a:defRPr sz="16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None/>
              <a:defRPr sz="16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None/>
              <a:defRPr sz="16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None/>
              <a:defRPr sz="16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None/>
              <a:defRPr sz="16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None/>
              <a:defRPr sz="16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body" idx="1"/>
          </p:nvPr>
        </p:nvSpPr>
        <p:spPr>
          <a:xfrm>
            <a:off x="1428729" y="1600200"/>
            <a:ext cx="733732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9090" algn="l">
              <a:spcBef>
                <a:spcPts val="700"/>
              </a:spcBef>
              <a:spcAft>
                <a:spcPts val="0"/>
              </a:spcAft>
              <a:buSzPts val="1740"/>
              <a:buChar char="◻"/>
              <a:defRPr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4169" algn="l">
              <a:spcBef>
                <a:spcPts val="550"/>
              </a:spcBef>
              <a:spcAft>
                <a:spcPts val="0"/>
              </a:spcAft>
              <a:buSzPts val="1820"/>
              <a:buChar char="🞑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38137" algn="l">
              <a:spcBef>
                <a:spcPts val="500"/>
              </a:spcBef>
              <a:spcAft>
                <a:spcPts val="0"/>
              </a:spcAft>
              <a:buSzPts val="1725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2385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1115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9444401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標題投影片" type="title" preserve="1">
  <p:cSld name="標題投影片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5" descr="copyright_content_bg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929331"/>
            <a:ext cx="9144000" cy="928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 descr="mainmenu_bg2.jpg"/>
          <p:cNvPicPr preferRelativeResize="0"/>
          <p:nvPr/>
        </p:nvPicPr>
        <p:blipFill rotWithShape="1">
          <a:blip r:embed="rId4">
            <a:alphaModFix/>
          </a:blip>
          <a:srcRect t="42330"/>
          <a:stretch/>
        </p:blipFill>
        <p:spPr>
          <a:xfrm>
            <a:off x="0" y="6072208"/>
            <a:ext cx="9144000" cy="664347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 txBox="1">
            <a:spLocks noGrp="1"/>
          </p:cNvSpPr>
          <p:nvPr>
            <p:ph type="ctrTitle"/>
          </p:nvPr>
        </p:nvSpPr>
        <p:spPr>
          <a:xfrm>
            <a:off x="1428729" y="2357430"/>
            <a:ext cx="6929486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560"/>
              <a:buNone/>
              <a:defRPr sz="2600">
                <a:solidFill>
                  <a:srgbClr val="FFFFFF"/>
                </a:solidFill>
              </a:defRPr>
            </a:lvl1pPr>
            <a:lvl2pPr lvl="1" algn="ctr">
              <a:spcBef>
                <a:spcPts val="55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5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35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76200" y="6068699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F357C26-9463-4910-AF13-12814CB69CDD}" type="datetime1">
              <a:rPr lang="en-US" altLang="zh-TW" smtClean="0"/>
              <a:t>4/28/2025</a:t>
            </a:fld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2214547" y="236540"/>
            <a:ext cx="57382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8001000" y="2286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  <p:pic>
        <p:nvPicPr>
          <p:cNvPr id="54" name="Google Shape;54;p5" descr="logo_main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4282" y="214290"/>
            <a:ext cx="1802436" cy="5000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88244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區段標題" type="secHead" preserve="1">
  <p:cSld name="區段標題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6" descr="NTHU_Logo_.png"/>
          <p:cNvPicPr preferRelativeResize="0"/>
          <p:nvPr/>
        </p:nvPicPr>
        <p:blipFill rotWithShape="1">
          <a:blip r:embed="rId3">
            <a:alphaModFix/>
          </a:blip>
          <a:srcRect l="22504" b="45337"/>
          <a:stretch/>
        </p:blipFill>
        <p:spPr>
          <a:xfrm>
            <a:off x="1" y="5143512"/>
            <a:ext cx="2460191" cy="17144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 txBox="1">
            <a:spLocks noGrp="1"/>
          </p:cNvSpPr>
          <p:nvPr>
            <p:ph type="body" idx="1"/>
          </p:nvPr>
        </p:nvSpPr>
        <p:spPr>
          <a:xfrm>
            <a:off x="1371601" y="2743200"/>
            <a:ext cx="7123113" cy="167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680"/>
              <a:buNone/>
              <a:defRPr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550"/>
              </a:spcBef>
              <a:spcAft>
                <a:spcPts val="0"/>
              </a:spcAft>
              <a:buSzPts val="126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910"/>
              <a:buNone/>
              <a:defRPr sz="1400">
                <a:solidFill>
                  <a:srgbClr val="888888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pic>
        <p:nvPicPr>
          <p:cNvPr id="58" name="Google Shape;58;p6" descr="mainmenu_bg2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571612"/>
            <a:ext cx="9144000" cy="107157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sz="4400" b="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dt" idx="10"/>
          </p:nvPr>
        </p:nvSpPr>
        <p:spPr>
          <a:xfrm>
            <a:off x="4786314" y="6248402"/>
            <a:ext cx="12144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69EE800-0349-4F96-8153-9EAA556E3197}" type="datetime1">
              <a:rPr lang="en-US" altLang="zh-TW" smtClean="0">
                <a:solidFill>
                  <a:srgbClr val="1F497D"/>
                </a:solidFill>
              </a:rPr>
              <a:t>4/28/2025</a:t>
            </a:fld>
            <a:endParaRPr>
              <a:solidFill>
                <a:srgbClr val="1F497D"/>
              </a:solidFill>
            </a:endParaRPr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0" y="1752600"/>
            <a:ext cx="1295400" cy="701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ftr" idx="11"/>
          </p:nvPr>
        </p:nvSpPr>
        <p:spPr>
          <a:xfrm>
            <a:off x="1428729" y="6248208"/>
            <a:ext cx="328614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1F497D"/>
              </a:solidFill>
            </a:endParaRPr>
          </a:p>
        </p:txBody>
      </p:sp>
      <p:pic>
        <p:nvPicPr>
          <p:cNvPr id="63" name="Google Shape;63;p6" descr="logo_main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86644" y="6215082"/>
            <a:ext cx="1473506" cy="4088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0199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 preserve="1">
  <p:cSld name="兩項物件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 txBox="1">
            <a:spLocks noGrp="1"/>
          </p:cNvSpPr>
          <p:nvPr>
            <p:ph type="title"/>
          </p:nvPr>
        </p:nvSpPr>
        <p:spPr>
          <a:xfrm>
            <a:off x="1428728" y="228600"/>
            <a:ext cx="642942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body" idx="1"/>
          </p:nvPr>
        </p:nvSpPr>
        <p:spPr>
          <a:xfrm>
            <a:off x="1428728" y="1589567"/>
            <a:ext cx="3517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9090" algn="l">
              <a:spcBef>
                <a:spcPts val="700"/>
              </a:spcBef>
              <a:spcAft>
                <a:spcPts val="0"/>
              </a:spcAft>
              <a:buSzPts val="1740"/>
              <a:buChar char="◻"/>
              <a:defRPr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4169" algn="l">
              <a:spcBef>
                <a:spcPts val="550"/>
              </a:spcBef>
              <a:spcAft>
                <a:spcPts val="0"/>
              </a:spcAft>
              <a:buSzPts val="1820"/>
              <a:buChar char="🞑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38137" algn="l">
              <a:spcBef>
                <a:spcPts val="500"/>
              </a:spcBef>
              <a:spcAft>
                <a:spcPts val="0"/>
              </a:spcAft>
              <a:buSzPts val="1725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2385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1115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2"/>
          </p:nvPr>
        </p:nvSpPr>
        <p:spPr>
          <a:xfrm>
            <a:off x="5214943" y="1589567"/>
            <a:ext cx="3516159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9090" algn="l">
              <a:spcBef>
                <a:spcPts val="700"/>
              </a:spcBef>
              <a:spcAft>
                <a:spcPts val="0"/>
              </a:spcAft>
              <a:buSzPts val="1740"/>
              <a:buChar char="◻"/>
              <a:defRPr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4169" algn="l">
              <a:spcBef>
                <a:spcPts val="550"/>
              </a:spcBef>
              <a:spcAft>
                <a:spcPts val="0"/>
              </a:spcAft>
              <a:buSzPts val="1820"/>
              <a:buChar char="🞑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38137" algn="l">
              <a:spcBef>
                <a:spcPts val="500"/>
              </a:spcBef>
              <a:spcAft>
                <a:spcPts val="0"/>
              </a:spcAft>
              <a:buSzPts val="1725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2385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1115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8" name="Google Shape;68;p7"/>
          <p:cNvSpPr txBox="1">
            <a:spLocks noGrp="1"/>
          </p:cNvSpPr>
          <p:nvPr>
            <p:ph type="dt" idx="10"/>
          </p:nvPr>
        </p:nvSpPr>
        <p:spPr>
          <a:xfrm>
            <a:off x="4786314" y="6248402"/>
            <a:ext cx="12144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FE370EA-C0F7-4BC1-A751-98E465B34C88}" type="datetime1">
              <a:rPr lang="en-US" altLang="zh-TW" smtClean="0">
                <a:solidFill>
                  <a:srgbClr val="1F497D"/>
                </a:solidFill>
              </a:rPr>
              <a:t>4/28/2025</a:t>
            </a:fld>
            <a:endParaRPr>
              <a:solidFill>
                <a:srgbClr val="1F497D"/>
              </a:solidFill>
            </a:endParaRPr>
          </a:p>
        </p:txBody>
      </p:sp>
      <p:sp>
        <p:nvSpPr>
          <p:cNvPr id="69" name="Google Shape;69;p7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ftr" idx="11"/>
          </p:nvPr>
        </p:nvSpPr>
        <p:spPr>
          <a:xfrm>
            <a:off x="1428730" y="6248208"/>
            <a:ext cx="3286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4115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 preserve="1">
  <p:cSld name="比對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/>
          <p:cNvSpPr txBox="1">
            <a:spLocks noGrp="1"/>
          </p:cNvSpPr>
          <p:nvPr>
            <p:ph type="title"/>
          </p:nvPr>
        </p:nvSpPr>
        <p:spPr>
          <a:xfrm>
            <a:off x="1429200" y="230400"/>
            <a:ext cx="642942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73" name="Google Shape;73;p8"/>
          <p:cNvSpPr txBox="1">
            <a:spLocks noGrp="1"/>
          </p:cNvSpPr>
          <p:nvPr>
            <p:ph type="body" idx="1"/>
          </p:nvPr>
        </p:nvSpPr>
        <p:spPr>
          <a:xfrm>
            <a:off x="1500166" y="2438400"/>
            <a:ext cx="35172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9090" algn="l">
              <a:spcBef>
                <a:spcPts val="700"/>
              </a:spcBef>
              <a:spcAft>
                <a:spcPts val="0"/>
              </a:spcAft>
              <a:buSzPts val="1740"/>
              <a:buChar char="◻"/>
              <a:defRPr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4169" algn="l">
              <a:spcBef>
                <a:spcPts val="550"/>
              </a:spcBef>
              <a:spcAft>
                <a:spcPts val="0"/>
              </a:spcAft>
              <a:buSzPts val="1820"/>
              <a:buChar char="🞑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38137" algn="l">
              <a:spcBef>
                <a:spcPts val="500"/>
              </a:spcBef>
              <a:spcAft>
                <a:spcPts val="0"/>
              </a:spcAft>
              <a:buSzPts val="1725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2385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1115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74" name="Google Shape;74;p8"/>
          <p:cNvSpPr txBox="1">
            <a:spLocks noGrp="1"/>
          </p:cNvSpPr>
          <p:nvPr>
            <p:ph type="body" idx="2"/>
          </p:nvPr>
        </p:nvSpPr>
        <p:spPr>
          <a:xfrm>
            <a:off x="5214942" y="2428868"/>
            <a:ext cx="35172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9090" algn="l">
              <a:spcBef>
                <a:spcPts val="700"/>
              </a:spcBef>
              <a:spcAft>
                <a:spcPts val="0"/>
              </a:spcAft>
              <a:buSzPts val="1740"/>
              <a:buChar char="◻"/>
              <a:defRPr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4169" algn="l">
              <a:spcBef>
                <a:spcPts val="550"/>
              </a:spcBef>
              <a:spcAft>
                <a:spcPts val="0"/>
              </a:spcAft>
              <a:buSzPts val="1820"/>
              <a:buChar char="🞑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38137" algn="l">
              <a:spcBef>
                <a:spcPts val="500"/>
              </a:spcBef>
              <a:spcAft>
                <a:spcPts val="0"/>
              </a:spcAft>
              <a:buSzPts val="1725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2385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1115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75" name="Google Shape;75;p8"/>
          <p:cNvSpPr txBox="1">
            <a:spLocks noGrp="1"/>
          </p:cNvSpPr>
          <p:nvPr>
            <p:ph type="dt" idx="10"/>
          </p:nvPr>
        </p:nvSpPr>
        <p:spPr>
          <a:xfrm>
            <a:off x="4786314" y="6248402"/>
            <a:ext cx="12144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86E35A5-7C06-4B79-9305-7E8E661FDFD4}" type="datetime1">
              <a:rPr lang="en-US" altLang="zh-TW" smtClean="0">
                <a:solidFill>
                  <a:srgbClr val="1F497D"/>
                </a:solidFill>
              </a:rPr>
              <a:t>4/28/2025</a:t>
            </a:fld>
            <a:endParaRPr>
              <a:solidFill>
                <a:srgbClr val="1F497D"/>
              </a:solidFill>
            </a:endParaRPr>
          </a:p>
        </p:txBody>
      </p:sp>
      <p:sp>
        <p:nvSpPr>
          <p:cNvPr id="76" name="Google Shape;76;p8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  <p:sp>
        <p:nvSpPr>
          <p:cNvPr id="77" name="Google Shape;77;p8"/>
          <p:cNvSpPr txBox="1">
            <a:spLocks noGrp="1"/>
          </p:cNvSpPr>
          <p:nvPr>
            <p:ph type="ftr" idx="11"/>
          </p:nvPr>
        </p:nvSpPr>
        <p:spPr>
          <a:xfrm>
            <a:off x="1428730" y="6248208"/>
            <a:ext cx="3286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1F497D"/>
              </a:solidFill>
            </a:endParaRPr>
          </a:p>
        </p:txBody>
      </p:sp>
      <p:sp>
        <p:nvSpPr>
          <p:cNvPr id="78" name="Google Shape;78;p8"/>
          <p:cNvSpPr txBox="1">
            <a:spLocks noGrp="1"/>
          </p:cNvSpPr>
          <p:nvPr>
            <p:ph type="body" idx="3"/>
          </p:nvPr>
        </p:nvSpPr>
        <p:spPr>
          <a:xfrm>
            <a:off x="1500166" y="1752600"/>
            <a:ext cx="3517200" cy="64008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200"/>
              <a:buFont typeface="Calibri"/>
              <a:buNone/>
              <a:defRPr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79" name="Google Shape;79;p8"/>
          <p:cNvSpPr txBox="1">
            <a:spLocks noGrp="1"/>
          </p:cNvSpPr>
          <p:nvPr>
            <p:ph type="body" idx="4"/>
          </p:nvPr>
        </p:nvSpPr>
        <p:spPr>
          <a:xfrm>
            <a:off x="5214942" y="1752600"/>
            <a:ext cx="3517200" cy="64008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200"/>
              <a:buFont typeface="Calibri"/>
              <a:buNone/>
              <a:defRPr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57908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 preserve="1">
  <p:cSld name="只有標題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 txBox="1">
            <a:spLocks noGrp="1"/>
          </p:cNvSpPr>
          <p:nvPr>
            <p:ph type="title"/>
          </p:nvPr>
        </p:nvSpPr>
        <p:spPr>
          <a:xfrm>
            <a:off x="1428728" y="228600"/>
            <a:ext cx="642942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dt" idx="10"/>
          </p:nvPr>
        </p:nvSpPr>
        <p:spPr>
          <a:xfrm>
            <a:off x="4786314" y="6248402"/>
            <a:ext cx="12144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218C3C4-1F6C-4EBF-BBA0-900FDF70AAB2}" type="datetime1">
              <a:rPr lang="en-US" altLang="zh-TW" smtClean="0">
                <a:solidFill>
                  <a:srgbClr val="1F497D"/>
                </a:solidFill>
              </a:rPr>
              <a:t>4/28/2025</a:t>
            </a:fld>
            <a:endParaRPr>
              <a:solidFill>
                <a:srgbClr val="1F497D"/>
              </a:solidFill>
            </a:endParaRPr>
          </a:p>
        </p:txBody>
      </p:sp>
      <p:sp>
        <p:nvSpPr>
          <p:cNvPr id="83" name="Google Shape;83;p9"/>
          <p:cNvSpPr txBox="1">
            <a:spLocks noGrp="1"/>
          </p:cNvSpPr>
          <p:nvPr>
            <p:ph type="ftr" idx="11"/>
          </p:nvPr>
        </p:nvSpPr>
        <p:spPr>
          <a:xfrm>
            <a:off x="1428730" y="6248208"/>
            <a:ext cx="3286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1F497D"/>
              </a:solidFill>
            </a:endParaRPr>
          </a:p>
        </p:txBody>
      </p:sp>
      <p:sp>
        <p:nvSpPr>
          <p:cNvPr id="84" name="Google Shape;84;p9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1703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空白" type="blank" preserve="1">
  <p:cSld name="空白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>
            <a:spLocks noGrp="1"/>
          </p:cNvSpPr>
          <p:nvPr>
            <p:ph type="dt" idx="10"/>
          </p:nvPr>
        </p:nvSpPr>
        <p:spPr>
          <a:xfrm>
            <a:off x="4786314" y="6248402"/>
            <a:ext cx="12144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C029802-7C61-4533-A25D-6CBC25540858}" type="datetime1">
              <a:rPr lang="en-US" altLang="zh-TW" smtClean="0">
                <a:solidFill>
                  <a:srgbClr val="1F497D"/>
                </a:solidFill>
              </a:rPr>
              <a:t>4/28/2025</a:t>
            </a:fld>
            <a:endParaRPr>
              <a:solidFill>
                <a:srgbClr val="1F497D"/>
              </a:solidFill>
            </a:endParaRPr>
          </a:p>
        </p:txBody>
      </p:sp>
      <p:sp>
        <p:nvSpPr>
          <p:cNvPr id="87" name="Google Shape;87;p10"/>
          <p:cNvSpPr txBox="1">
            <a:spLocks noGrp="1"/>
          </p:cNvSpPr>
          <p:nvPr>
            <p:ph type="ftr" idx="11"/>
          </p:nvPr>
        </p:nvSpPr>
        <p:spPr>
          <a:xfrm>
            <a:off x="1428729" y="6248208"/>
            <a:ext cx="328614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1F497D"/>
              </a:solidFill>
            </a:endParaRPr>
          </a:p>
        </p:txBody>
      </p:sp>
      <p:sp>
        <p:nvSpPr>
          <p:cNvPr id="88" name="Google Shape;88;p10"/>
          <p:cNvSpPr txBox="1">
            <a:spLocks noGrp="1"/>
          </p:cNvSpPr>
          <p:nvPr>
            <p:ph type="sldNum" idx="12"/>
          </p:nvPr>
        </p:nvSpPr>
        <p:spPr>
          <a:xfrm>
            <a:off x="0" y="62484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400" b="1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ctr">
              <a:spcBef>
                <a:spcPts val="0"/>
              </a:spcBef>
              <a:buNone/>
              <a:defRPr sz="1400" b="1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ctr">
              <a:spcBef>
                <a:spcPts val="0"/>
              </a:spcBef>
              <a:buNone/>
              <a:defRPr sz="1400" b="1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ctr">
              <a:spcBef>
                <a:spcPts val="0"/>
              </a:spcBef>
              <a:buNone/>
              <a:defRPr sz="1400" b="1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ctr">
              <a:spcBef>
                <a:spcPts val="0"/>
              </a:spcBef>
              <a:buNone/>
              <a:defRPr sz="1400" b="1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ctr">
              <a:spcBef>
                <a:spcPts val="0"/>
              </a:spcBef>
              <a:buNone/>
              <a:defRPr sz="1400" b="1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ctr">
              <a:spcBef>
                <a:spcPts val="0"/>
              </a:spcBef>
              <a:buNone/>
              <a:defRPr sz="1400" b="1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ctr">
              <a:spcBef>
                <a:spcPts val="0"/>
              </a:spcBef>
              <a:buNone/>
              <a:defRPr sz="1400" b="1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ctr">
              <a:spcBef>
                <a:spcPts val="0"/>
              </a:spcBef>
              <a:buNone/>
              <a:defRPr sz="1400" b="1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  <p:pic>
        <p:nvPicPr>
          <p:cNvPr id="89" name="Google Shape;89;p10" descr="logo_main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86644" y="6215082"/>
            <a:ext cx="1473506" cy="408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0" descr="NTHU_Logo_.png"/>
          <p:cNvPicPr preferRelativeResize="0"/>
          <p:nvPr/>
        </p:nvPicPr>
        <p:blipFill rotWithShape="1">
          <a:blip r:embed="rId3">
            <a:alphaModFix/>
          </a:blip>
          <a:srcRect t="11390" r="9990"/>
          <a:stretch/>
        </p:blipFill>
        <p:spPr>
          <a:xfrm>
            <a:off x="6286512" y="0"/>
            <a:ext cx="2857488" cy="27792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9192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 preserve="1">
  <p:cSld name="含標題的內容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1428728" y="230400"/>
            <a:ext cx="642960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  <a:defRPr sz="4400" b="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dt" idx="10"/>
          </p:nvPr>
        </p:nvSpPr>
        <p:spPr>
          <a:xfrm>
            <a:off x="4786314" y="6248402"/>
            <a:ext cx="12144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B71F84E-FB3B-46A3-AE30-1320ED33CB61}" type="datetime1">
              <a:rPr lang="en-US" altLang="zh-TW" smtClean="0">
                <a:solidFill>
                  <a:srgbClr val="1F497D"/>
                </a:solidFill>
              </a:rPr>
              <a:t>4/28/2025</a:t>
            </a:fld>
            <a:endParaRPr>
              <a:solidFill>
                <a:srgbClr val="1F497D"/>
              </a:solidFill>
            </a:endParaRPr>
          </a:p>
        </p:txBody>
      </p:sp>
      <p:sp>
        <p:nvSpPr>
          <p:cNvPr id="94" name="Google Shape;94;p11"/>
          <p:cNvSpPr txBox="1">
            <a:spLocks noGrp="1"/>
          </p:cNvSpPr>
          <p:nvPr>
            <p:ph type="ftr" idx="11"/>
          </p:nvPr>
        </p:nvSpPr>
        <p:spPr>
          <a:xfrm>
            <a:off x="1428730" y="6248208"/>
            <a:ext cx="3286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1F497D"/>
              </a:solidFill>
            </a:endParaRPr>
          </a:p>
        </p:txBody>
      </p:sp>
      <p:sp>
        <p:nvSpPr>
          <p:cNvPr id="95" name="Google Shape;95;p11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  <p:sp>
        <p:nvSpPr>
          <p:cNvPr id="96" name="Google Shape;96;p11"/>
          <p:cNvSpPr txBox="1">
            <a:spLocks noGrp="1"/>
          </p:cNvSpPr>
          <p:nvPr>
            <p:ph type="body" idx="1"/>
          </p:nvPr>
        </p:nvSpPr>
        <p:spPr>
          <a:xfrm>
            <a:off x="609600" y="1752600"/>
            <a:ext cx="1600200" cy="4343400"/>
          </a:xfrm>
          <a:prstGeom prst="rect">
            <a:avLst/>
          </a:prstGeom>
          <a:solidFill>
            <a:srgbClr val="E1E1E1"/>
          </a:solidFill>
          <a:ln w="50800" cap="sq" cmpd="dbl">
            <a:solidFill>
              <a:srgbClr val="6666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37150" tIns="182875" rIns="137150" bIns="91425" anchor="t" anchorCtr="0">
            <a:no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08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840"/>
              <a:buNone/>
              <a:def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750"/>
              <a:buNone/>
              <a:defRPr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675"/>
              <a:buNone/>
              <a:defRPr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585"/>
              <a:buNone/>
              <a:defRPr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97" name="Google Shape;97;p11"/>
          <p:cNvSpPr txBox="1">
            <a:spLocks noGrp="1"/>
          </p:cNvSpPr>
          <p:nvPr>
            <p:ph type="body" idx="2"/>
          </p:nvPr>
        </p:nvSpPr>
        <p:spPr>
          <a:xfrm>
            <a:off x="2362200" y="1752600"/>
            <a:ext cx="6400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9090" algn="l">
              <a:spcBef>
                <a:spcPts val="700"/>
              </a:spcBef>
              <a:spcAft>
                <a:spcPts val="0"/>
              </a:spcAft>
              <a:buSzPts val="1740"/>
              <a:buChar char="◻"/>
              <a:defRPr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4169" algn="l">
              <a:spcBef>
                <a:spcPts val="550"/>
              </a:spcBef>
              <a:spcAft>
                <a:spcPts val="0"/>
              </a:spcAft>
              <a:buSzPts val="1820"/>
              <a:buChar char="🞑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38137" algn="l">
              <a:spcBef>
                <a:spcPts val="500"/>
              </a:spcBef>
              <a:spcAft>
                <a:spcPts val="0"/>
              </a:spcAft>
              <a:buSzPts val="1725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2385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1115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771990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含標題的圖片" type="picTx" preserve="1">
  <p:cSld name="含標題的圖片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/>
          <p:nvPr/>
        </p:nvSpPr>
        <p:spPr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800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2"/>
          <p:cNvSpPr txBox="1">
            <a:spLocks noGrp="1"/>
          </p:cNvSpPr>
          <p:nvPr>
            <p:ph type="body" idx="1"/>
          </p:nvPr>
        </p:nvSpPr>
        <p:spPr>
          <a:xfrm>
            <a:off x="1600200" y="54864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020"/>
              <a:buFont typeface="Calibri"/>
              <a:buNone/>
              <a:defRPr sz="17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550"/>
              </a:spcBef>
              <a:spcAft>
                <a:spcPts val="0"/>
              </a:spcAft>
              <a:buSzPts val="840"/>
              <a:buFont typeface="Times New Roman"/>
              <a:buNone/>
              <a:defRPr sz="12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750"/>
              <a:buFont typeface="Times New Roman"/>
              <a:buNone/>
              <a:defRPr sz="1000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675"/>
              <a:buFont typeface="Times New Roman"/>
              <a:buNone/>
              <a:defRPr sz="900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585"/>
              <a:buFont typeface="Times New Roman"/>
              <a:buNone/>
              <a:defRPr sz="9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01" name="Google Shape;101;p12"/>
          <p:cNvSpPr/>
          <p:nvPr/>
        </p:nvSpPr>
        <p:spPr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800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2" descr="mainmenu_bg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43447"/>
            <a:ext cx="9144000" cy="71438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2"/>
          <p:cNvSpPr txBox="1">
            <a:spLocks noGrp="1"/>
          </p:cNvSpPr>
          <p:nvPr>
            <p:ph type="title"/>
          </p:nvPr>
        </p:nvSpPr>
        <p:spPr>
          <a:xfrm>
            <a:off x="2000232" y="4648200"/>
            <a:ext cx="69151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dt" idx="10"/>
          </p:nvPr>
        </p:nvSpPr>
        <p:spPr>
          <a:xfrm>
            <a:off x="7643834" y="6248402"/>
            <a:ext cx="128588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CEB4972-56BF-4AB8-B4BC-68416E2579BE}" type="datetime1">
              <a:rPr lang="en-US" altLang="zh-TW" smtClean="0"/>
              <a:t>4/28/2025</a:t>
            </a:fld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sldNum" idx="12"/>
          </p:nvPr>
        </p:nvSpPr>
        <p:spPr>
          <a:xfrm>
            <a:off x="0" y="4667249"/>
            <a:ext cx="1447800" cy="66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  <p:sp>
        <p:nvSpPr>
          <p:cNvPr id="106" name="Google Shape;106;p12"/>
          <p:cNvSpPr txBox="1">
            <a:spLocks noGrp="1"/>
          </p:cNvSpPr>
          <p:nvPr>
            <p:ph type="ftr" idx="11"/>
          </p:nvPr>
        </p:nvSpPr>
        <p:spPr>
          <a:xfrm>
            <a:off x="1600200" y="6248208"/>
            <a:ext cx="59007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2"/>
          <p:cNvSpPr>
            <a:spLocks noGrp="1"/>
          </p:cNvSpPr>
          <p:nvPr>
            <p:ph type="pic" idx="2"/>
          </p:nvPr>
        </p:nvSpPr>
        <p:spPr>
          <a:xfrm>
            <a:off x="1562400" y="0"/>
            <a:ext cx="7583424" cy="456895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🞑"/>
              <a:defRPr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25"/>
              <a:buFont typeface="Noto Sans Symbols"/>
              <a:buChar char="■"/>
              <a:defRPr sz="2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/>
              <a:t>按一下圖示以新增圖片</a:t>
            </a:r>
            <a:endParaRPr/>
          </a:p>
        </p:txBody>
      </p:sp>
      <p:sp>
        <p:nvSpPr>
          <p:cNvPr id="108" name="Google Shape;108;p12"/>
          <p:cNvSpPr/>
          <p:nvPr/>
        </p:nvSpPr>
        <p:spPr>
          <a:xfrm>
            <a:off x="0" y="5429264"/>
            <a:ext cx="1500167" cy="142873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800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2" descr="comm_Logo.gif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5786454"/>
            <a:ext cx="1500198" cy="259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2" descr="logo_main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" y="6143646"/>
            <a:ext cx="1428728" cy="3963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54362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 preserve="1">
  <p:cSld name="標題及直排文字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 txBox="1">
            <a:spLocks noGrp="1"/>
          </p:cNvSpPr>
          <p:nvPr>
            <p:ph type="title"/>
          </p:nvPr>
        </p:nvSpPr>
        <p:spPr>
          <a:xfrm>
            <a:off x="1428728" y="228600"/>
            <a:ext cx="642942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body" idx="1"/>
          </p:nvPr>
        </p:nvSpPr>
        <p:spPr>
          <a:xfrm rot="5400000">
            <a:off x="2834248" y="194680"/>
            <a:ext cx="4526280" cy="733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9090" algn="l">
              <a:spcBef>
                <a:spcPts val="700"/>
              </a:spcBef>
              <a:spcAft>
                <a:spcPts val="0"/>
              </a:spcAft>
              <a:buSzPts val="1740"/>
              <a:buChar char="◻"/>
              <a:defRPr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4169" algn="l">
              <a:spcBef>
                <a:spcPts val="550"/>
              </a:spcBef>
              <a:spcAft>
                <a:spcPts val="0"/>
              </a:spcAft>
              <a:buSzPts val="1820"/>
              <a:buChar char="🞑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38137" algn="l">
              <a:spcBef>
                <a:spcPts val="500"/>
              </a:spcBef>
              <a:spcAft>
                <a:spcPts val="0"/>
              </a:spcAft>
              <a:buSzPts val="1725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2385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1115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dt" idx="10"/>
          </p:nvPr>
        </p:nvSpPr>
        <p:spPr>
          <a:xfrm>
            <a:off x="4786314" y="6248402"/>
            <a:ext cx="12144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057A9D8-AEA0-4CDF-B708-62E266DBD9AE}" type="datetime1">
              <a:rPr lang="en-US" altLang="zh-TW" smtClean="0">
                <a:solidFill>
                  <a:srgbClr val="1F497D"/>
                </a:solidFill>
              </a:rPr>
              <a:t>4/28/2025</a:t>
            </a:fld>
            <a:endParaRPr>
              <a:solidFill>
                <a:srgbClr val="1F497D"/>
              </a:solidFill>
            </a:endParaRPr>
          </a:p>
        </p:txBody>
      </p:sp>
      <p:sp>
        <p:nvSpPr>
          <p:cNvPr id="115" name="Google Shape;115;p13"/>
          <p:cNvSpPr txBox="1">
            <a:spLocks noGrp="1"/>
          </p:cNvSpPr>
          <p:nvPr>
            <p:ph type="ftr" idx="11"/>
          </p:nvPr>
        </p:nvSpPr>
        <p:spPr>
          <a:xfrm>
            <a:off x="1428730" y="6248208"/>
            <a:ext cx="3286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1F497D"/>
              </a:solidFill>
            </a:endParaRPr>
          </a:p>
        </p:txBody>
      </p:sp>
      <p:sp>
        <p:nvSpPr>
          <p:cNvPr id="116" name="Google Shape;116;p13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58715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直排標題及文字" type="vertTitleAndTx" preserve="1">
  <p:cSld name="直排標題及文字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4" descr="NTHU_Logo_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85919" y="1643050"/>
            <a:ext cx="3174603" cy="313650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>
            <a:spLocks noGrp="1"/>
          </p:cNvSpPr>
          <p:nvPr>
            <p:ph type="title"/>
          </p:nvPr>
        </p:nvSpPr>
        <p:spPr>
          <a:xfrm rot="5400000">
            <a:off x="4823620" y="2339181"/>
            <a:ext cx="55165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20" name="Google Shape;120;p14"/>
          <p:cNvSpPr txBox="1">
            <a:spLocks noGrp="1"/>
          </p:cNvSpPr>
          <p:nvPr>
            <p:ph type="body" idx="1"/>
          </p:nvPr>
        </p:nvSpPr>
        <p:spPr>
          <a:xfrm rot="5400000">
            <a:off x="480218" y="586582"/>
            <a:ext cx="5516564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9090" algn="l">
              <a:spcBef>
                <a:spcPts val="700"/>
              </a:spcBef>
              <a:spcAft>
                <a:spcPts val="0"/>
              </a:spcAft>
              <a:buSzPts val="1740"/>
              <a:buChar char="◻"/>
              <a:defRPr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4169" algn="l">
              <a:spcBef>
                <a:spcPts val="550"/>
              </a:spcBef>
              <a:spcAft>
                <a:spcPts val="0"/>
              </a:spcAft>
              <a:buSzPts val="1820"/>
              <a:buChar char="🞑"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38137" algn="l">
              <a:spcBef>
                <a:spcPts val="500"/>
              </a:spcBef>
              <a:spcAft>
                <a:spcPts val="0"/>
              </a:spcAft>
              <a:buSzPts val="1725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2385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1115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21" name="Google Shape;121;p14"/>
          <p:cNvSpPr txBox="1">
            <a:spLocks noGrp="1"/>
          </p:cNvSpPr>
          <p:nvPr>
            <p:ph type="dt" idx="10"/>
          </p:nvPr>
        </p:nvSpPr>
        <p:spPr>
          <a:xfrm>
            <a:off x="6553200" y="6248404"/>
            <a:ext cx="2209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17B7152-14B4-4BAE-8A56-ED6FE926B060}" type="datetime1">
              <a:rPr lang="en-US" altLang="zh-TW" smtClean="0">
                <a:solidFill>
                  <a:srgbClr val="1F497D"/>
                </a:solidFill>
              </a:rPr>
              <a:t>4/28/2025</a:t>
            </a:fld>
            <a:endParaRPr>
              <a:solidFill>
                <a:srgbClr val="1F497D"/>
              </a:solidFill>
            </a:endParaRPr>
          </a:p>
        </p:txBody>
      </p:sp>
      <p:sp>
        <p:nvSpPr>
          <p:cNvPr id="122" name="Google Shape;122;p14"/>
          <p:cNvSpPr txBox="1">
            <a:spLocks noGrp="1"/>
          </p:cNvSpPr>
          <p:nvPr>
            <p:ph type="ftr" idx="11"/>
          </p:nvPr>
        </p:nvSpPr>
        <p:spPr>
          <a:xfrm>
            <a:off x="3071802" y="6248209"/>
            <a:ext cx="29588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1F497D"/>
              </a:solidFill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800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4" descr="mainmenu_bg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2829510" y="3314127"/>
            <a:ext cx="6858000" cy="22974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4"/>
          <p:cNvSpPr txBox="1">
            <a:spLocks noGrp="1"/>
          </p:cNvSpPr>
          <p:nvPr>
            <p:ph type="sldNum" idx="12"/>
          </p:nvPr>
        </p:nvSpPr>
        <p:spPr>
          <a:xfrm rot="5400000">
            <a:off x="5989638" y="14446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  <p:pic>
        <p:nvPicPr>
          <p:cNvPr id="126" name="Google Shape;126;p14" descr="logo_main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00166" y="6215082"/>
            <a:ext cx="1473506" cy="408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4" descr="comm_Logo.gif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2844" y="6286522"/>
            <a:ext cx="1500198" cy="2590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939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7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6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siao\Desktop\未命名.pn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32926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1428728" y="228600"/>
            <a:ext cx="642942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 dirty="0"/>
              <a:t>按一下以編輯母片標題樣式</a:t>
            </a:r>
            <a:endParaRPr kumimoji="0" lang="en-US" dirty="0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1428729" y="1600200"/>
            <a:ext cx="733732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dirty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/>
              <a:t>第二層</a:t>
            </a:r>
          </a:p>
          <a:p>
            <a:pPr lvl="2" eaLnBrk="1" latinLnBrk="0" hangingPunct="1"/>
            <a:r>
              <a:rPr kumimoji="0" lang="zh-TW" altLang="en-US" dirty="0"/>
              <a:t>第三層</a:t>
            </a:r>
          </a:p>
          <a:p>
            <a:pPr lvl="3" eaLnBrk="1" latinLnBrk="0" hangingPunct="1"/>
            <a:r>
              <a:rPr kumimoji="0" lang="zh-TW" altLang="en-US" dirty="0"/>
              <a:t>第四層</a:t>
            </a:r>
          </a:p>
          <a:p>
            <a:pPr lvl="4" eaLnBrk="1" latinLnBrk="0" hangingPunct="1"/>
            <a:r>
              <a:rPr kumimoji="0" lang="zh-TW" altLang="en-US" dirty="0"/>
              <a:t>第五層</a:t>
            </a:r>
            <a:endParaRPr kumimoji="0" 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1428729" y="6248208"/>
            <a:ext cx="3286147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1" name="圖片 10" descr="mainmenu_bg.jpg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0" y="1285860"/>
            <a:ext cx="9144000" cy="229748"/>
          </a:xfrm>
          <a:prstGeom prst="rect">
            <a:avLst/>
          </a:prstGeom>
        </p:spPr>
      </p:pic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7FBDD6D-0106-41F0-98FD-2D1AE062E9F7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2" name="圖片 11" descr="logo_main.jpg"/>
          <p:cNvPicPr>
            <a:picLocks noChangeAspect="1"/>
          </p:cNvPicPr>
          <p:nvPr/>
        </p:nvPicPr>
        <p:blipFill>
          <a:blip r:embed="rId16" cstate="print">
            <a:clrChange>
              <a:clrFrom>
                <a:srgbClr val="E1E1E1"/>
              </a:clrFrom>
              <a:clrTo>
                <a:srgbClr val="E1E1E1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84369" y="859952"/>
            <a:ext cx="1213961" cy="336800"/>
          </a:xfrm>
          <a:prstGeom prst="rect">
            <a:avLst/>
          </a:prstGeom>
          <a:ln w="3175" cmpd="sng">
            <a:noFill/>
          </a:ln>
        </p:spPr>
      </p:pic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4786314" y="6248402"/>
            <a:ext cx="1214446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0EB1CE3-2616-46BB-97E6-A04C47C36ADD}" type="datetime1">
              <a:rPr lang="en-US" altLang="zh-TW" smtClean="0"/>
              <a:t>4/28/2025</a:t>
            </a:fld>
            <a:endParaRPr lang="zh-TW" altLang="en-US"/>
          </a:p>
        </p:txBody>
      </p:sp>
      <p:pic>
        <p:nvPicPr>
          <p:cNvPr id="16" name="圖片 15" descr="NTHU_Logo.png"/>
          <p:cNvPicPr>
            <a:picLocks noChangeAspect="1"/>
          </p:cNvPicPr>
          <p:nvPr/>
        </p:nvPicPr>
        <p:blipFill>
          <a:blip r:embed="rId1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22931" y="72009"/>
            <a:ext cx="820145" cy="81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919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3" descr="C:\Users\hsiao\Desktop\未命名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" y="0"/>
            <a:ext cx="132926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1428728" y="228600"/>
            <a:ext cx="642942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1428729" y="1600200"/>
            <a:ext cx="73373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9090" algn="l" rtl="0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Char char="◻"/>
              <a:defRPr sz="2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44169" algn="l" rtl="0"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🞑"/>
              <a:defRPr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38137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25"/>
              <a:buFont typeface="Noto Sans Symbols"/>
              <a:buChar char="■"/>
              <a:defRPr sz="2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2385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1150" algn="l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ftr" idx="11"/>
          </p:nvPr>
        </p:nvSpPr>
        <p:spPr>
          <a:xfrm>
            <a:off x="1428729" y="6248208"/>
            <a:ext cx="328614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>
              <a:solidFill>
                <a:srgbClr val="1F497D"/>
              </a:solidFill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800" kern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" name="Google Shape;35;p3" descr="mainmenu_bg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0" y="1285860"/>
            <a:ext cx="9144000" cy="22974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  <p:pic>
        <p:nvPicPr>
          <p:cNvPr id="37" name="Google Shape;37;p3" descr="logo_main.jp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884369" y="859952"/>
            <a:ext cx="1213961" cy="33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 txBox="1">
            <a:spLocks noGrp="1"/>
          </p:cNvSpPr>
          <p:nvPr>
            <p:ph type="dt" idx="10"/>
          </p:nvPr>
        </p:nvSpPr>
        <p:spPr>
          <a:xfrm>
            <a:off x="4786314" y="6248402"/>
            <a:ext cx="12144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EC5B388A-A7AC-44AB-B8D1-2EBBA82ADCD2}" type="datetime1">
              <a:rPr lang="en-US" altLang="zh-TW" kern="0" smtClean="0">
                <a:solidFill>
                  <a:srgbClr val="1F497D"/>
                </a:solidFill>
              </a:rPr>
              <a:t>4/28/2025</a:t>
            </a:fld>
            <a:endParaRPr kern="0">
              <a:solidFill>
                <a:srgbClr val="1F497D"/>
              </a:solidFill>
            </a:endParaRPr>
          </a:p>
        </p:txBody>
      </p:sp>
      <p:pic>
        <p:nvPicPr>
          <p:cNvPr id="39" name="Google Shape;39;p3" descr="NTHU_Logo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122931" y="72009"/>
            <a:ext cx="820145" cy="8103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168247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3986BF-CBCA-4D36-832A-CDD6B0C9B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84424"/>
            <a:ext cx="9144000" cy="2717800"/>
          </a:xfrm>
        </p:spPr>
        <p:txBody>
          <a:bodyPr>
            <a:noAutofit/>
          </a:bodyPr>
          <a:lstStyle/>
          <a:p>
            <a:r>
              <a:rPr kumimoji="0" lang="en-US" altLang="zh-TW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AiRDUNet</a:t>
            </a:r>
            <a:r>
              <a:rPr kumimoji="0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: All-In-One Residual Dense U-Net with</a:t>
            </a:r>
            <a:br>
              <a:rPr kumimoji="0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kumimoji="0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Automated Humidity Quality Assessment for Partial</a:t>
            </a:r>
            <a:br>
              <a:rPr kumimoji="0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kumimoji="0" lang="en-US" altLang="zh-TW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Wet Fingerprint Restoration and Recognition</a:t>
            </a:r>
            <a:endParaRPr lang="zh-TW" altLang="en-US" sz="1800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8A3B4F7-0A7C-412C-BCDE-3412154A7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BDD6D-0106-41F0-98FD-2D1AE062E9F7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D273E90-B72A-4971-96A3-ED924703E1DC}"/>
              </a:ext>
            </a:extLst>
          </p:cNvPr>
          <p:cNvSpPr txBox="1"/>
          <p:nvPr/>
        </p:nvSpPr>
        <p:spPr>
          <a:xfrm>
            <a:off x="1033210" y="3302037"/>
            <a:ext cx="707757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altLang="zh-TW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Jui</a:t>
            </a: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-Min Hsu</a:t>
            </a:r>
            <a:r>
              <a:rPr lang="en-US" altLang="zh-TW" sz="18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∗</a:t>
            </a: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Ching-</a:t>
            </a:r>
            <a:r>
              <a:rPr lang="en-US" altLang="zh-TW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Chiu, Senior Member, IEEE</a:t>
            </a:r>
            <a:r>
              <a:rPr lang="en-US" altLang="zh-TW" sz="18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∗</a:t>
            </a: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algn="ctr"/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Mao-Hsiu Hsu, Member, IEEE</a:t>
            </a:r>
            <a:r>
              <a:rPr lang="en-US" altLang="zh-TW" sz="18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Che-Wei Liao</a:t>
            </a:r>
            <a:r>
              <a:rPr lang="en-US" altLang="zh-TW" sz="18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∗</a:t>
            </a:r>
            <a:endParaRPr lang="en-US" altLang="zh-TW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TW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Email: s111062574@m111.nthu.edu.tw, chiusms@cs.nth.edu.tw, </a:t>
            </a:r>
          </a:p>
          <a:p>
            <a:pPr algn="ctr"/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mh.hsu@nfu.edu.tw, s112062707@m112.nthu.edu.tw</a:t>
            </a:r>
          </a:p>
          <a:p>
            <a:pPr algn="ctr"/>
            <a:r>
              <a:rPr lang="en-US" altLang="zh-TW" sz="18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∗</a:t>
            </a: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Science, National Tsing Hua University</a:t>
            </a:r>
          </a:p>
          <a:p>
            <a:pPr algn="ctr"/>
            <a:r>
              <a:rPr lang="en-US" altLang="zh-TW" sz="18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zh-TW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Electro-Optical Engineering, National Formosa University</a:t>
            </a:r>
            <a:endParaRPr lang="zh-TW" alt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995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630001-7057-4732-B2C9-E1BC9B8AC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lt"/>
              </a:rPr>
              <a:t>Outline</a:t>
            </a:r>
            <a:endParaRPr lang="zh-TW" altLang="en-US" dirty="0">
              <a:latin typeface="+mj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45C040D-450D-48E8-AE3B-01FA5C906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1562101"/>
            <a:ext cx="7810500" cy="52959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lnSpc>
                <a:spcPct val="100000"/>
              </a:lnSpc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Wet Fingerprint Quality Automated Assessment (WFQA)</a:t>
            </a:r>
          </a:p>
          <a:p>
            <a:pPr>
              <a:lnSpc>
                <a:spcPct val="100000"/>
              </a:lnSpc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All-in-one Residual Dense-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AIRDUNet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</a:p>
          <a:p>
            <a:pPr>
              <a:lnSpc>
                <a:spcPct val="100000"/>
              </a:lnSpc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407ACDB-2CDF-49F6-BBBF-C89B2E4CC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BDD6D-0106-41F0-98FD-2D1AE062E9F7}" type="slidenum">
              <a:rPr lang="zh-TW" altLang="en-US" smtClean="0"/>
              <a:t>2</a:t>
            </a:fld>
            <a:endParaRPr lang="zh-TW" altLang="en-US"/>
          </a:p>
        </p:txBody>
      </p:sp>
      <p:pic>
        <p:nvPicPr>
          <p:cNvPr id="6" name="音訊 5">
            <a:hlinkClick r:id="" action="ppaction://media"/>
            <a:extLst>
              <a:ext uri="{FF2B5EF4-FFF2-40B4-BE49-F238E27FC236}">
                <a16:creationId xmlns:a16="http://schemas.microsoft.com/office/drawing/2014/main" id="{232B951F-AC8B-4475-BCCE-BE0F1F8DA47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21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72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0">
        <p:cut/>
      </p:transition>
    </mc:Choice>
    <mc:Fallback xmlns="">
      <p:transition spd="slow" advTm="570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812BF5-5A5C-ECE5-F417-AE4564E9B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600"/>
              <a:t>Introduction</a:t>
            </a:r>
            <a:br>
              <a:rPr lang="en-US" altLang="zh-TW" sz="3600"/>
            </a:br>
            <a:r>
              <a:rPr lang="en-US" altLang="zh-TW" sz="3600">
                <a:solidFill>
                  <a:srgbClr val="936A08"/>
                </a:solidFill>
              </a:rPr>
              <a:t>Background</a:t>
            </a:r>
            <a:endParaRPr kumimoji="1" lang="zh-TW" altLang="en-US" sz="3600">
              <a:solidFill>
                <a:srgbClr val="936A08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0F81E8A-5DFF-8768-E61C-660A08EB0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3520" y="6623902"/>
            <a:ext cx="533400" cy="244476"/>
          </a:xfrm>
        </p:spPr>
        <p:txBody>
          <a:bodyPr/>
          <a:lstStyle/>
          <a:p>
            <a:fld id="{73DA0BB7-265A-403C-9275-D587AB510EDC}" type="slidenum">
              <a:rPr lang="zh-TW" altLang="en-US" smtClean="0">
                <a:solidFill>
                  <a:prstClr val="black"/>
                </a:solidFill>
              </a:rPr>
              <a:pPr/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5700D6C-4429-DCA8-8551-CCD1116B293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69361" y="1505693"/>
            <a:ext cx="7679776" cy="4810539"/>
          </a:xfrm>
        </p:spPr>
        <p:txBody>
          <a:bodyPr>
            <a:norm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cs typeface="Calibri" panose="020F0502020204030204" pitchFamily="34" charset="0"/>
              </a:rPr>
              <a:t>Fingerprint recognition </a:t>
            </a:r>
            <a:r>
              <a:rPr lang="en-US" altLang="zh-TW" sz="2000" dirty="0">
                <a:solidFill>
                  <a:srgbClr val="FF0000"/>
                </a:solidFill>
              </a:rPr>
              <a:t>is</a:t>
            </a:r>
            <a:r>
              <a:rPr lang="en-US" altLang="zh-TW" sz="2000" dirty="0">
                <a:cs typeface="Calibri" panose="020F0502020204030204" pitchFamily="34" charset="0"/>
              </a:rPr>
              <a:t>  popular  </a:t>
            </a:r>
            <a:r>
              <a:rPr lang="en-US" altLang="zh-TW" sz="2000" dirty="0">
                <a:solidFill>
                  <a:srgbClr val="FF0000"/>
                </a:solidFill>
                <a:cs typeface="Calibri" panose="020F0502020204030204" pitchFamily="34" charset="0"/>
              </a:rPr>
              <a:t>for identity authorization.</a:t>
            </a:r>
            <a:endParaRPr lang="en-US" altLang="zh-TW" sz="2000" dirty="0">
              <a:cs typeface="Calibri" panose="020F0502020204030204" pitchFamily="34" charset="0"/>
            </a:endParaRP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rise of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r>
              <a:rPr lang="en-US" altLang="zh-TW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devices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partial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fingerprint</a:t>
            </a:r>
            <a:r>
              <a:rPr lang="en-US" altLang="zh-TW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obtained by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side-mounted sensors</a:t>
            </a:r>
            <a:r>
              <a:rPr lang="en-US" altLang="zh-TW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popular, accounting for about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one-third</a:t>
            </a:r>
            <a:r>
              <a:rPr lang="en-US" altLang="zh-TW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usage.</a:t>
            </a:r>
            <a:endParaRPr lang="en-US" altLang="zh-TW" sz="2000" dirty="0">
              <a:cs typeface="Calibri" panose="020F0502020204030204" pitchFamily="34" charset="0"/>
            </a:endParaRPr>
          </a:p>
          <a:p>
            <a:r>
              <a:rPr lang="en" altLang="zh-TW" sz="2000" dirty="0"/>
              <a:t>T</a:t>
            </a:r>
            <a:r>
              <a:rPr lang="en" altLang="zh-TW" sz="2000" dirty="0">
                <a:cs typeface="Calibri" panose="020F0502020204030204" pitchFamily="34" charset="0"/>
              </a:rPr>
              <a:t>he limited size of fingerprint makes the </a:t>
            </a:r>
            <a:r>
              <a:rPr lang="en" altLang="zh-TW" sz="2000" dirty="0">
                <a:solidFill>
                  <a:srgbClr val="FF0000"/>
                </a:solidFill>
                <a:cs typeface="Calibri" panose="020F0502020204030204" pitchFamily="34" charset="0"/>
              </a:rPr>
              <a:t>recognition challenge</a:t>
            </a:r>
            <a:r>
              <a:rPr lang="en" altLang="zh-TW" sz="2000" dirty="0">
                <a:cs typeface="Calibri" panose="020F0502020204030204" pitchFamily="34" charset="0"/>
              </a:rPr>
              <a:t>.</a:t>
            </a:r>
          </a:p>
          <a:p>
            <a:r>
              <a:rPr lang="en-US" altLang="zh-TW" sz="2000" dirty="0">
                <a:solidFill>
                  <a:schemeClr val="accent2"/>
                </a:solidFill>
                <a:cs typeface="Calibri" panose="020F0502020204030204" pitchFamily="34" charset="0"/>
              </a:rPr>
              <a:t>Wet  partial </a:t>
            </a:r>
            <a:r>
              <a:rPr lang="en-US" altLang="zh-TW" sz="2000" dirty="0">
                <a:solidFill>
                  <a:schemeClr val="accent2"/>
                </a:solidFill>
              </a:rPr>
              <a:t>f</a:t>
            </a:r>
            <a:r>
              <a:rPr lang="en-US" altLang="zh-TW" sz="2000" dirty="0">
                <a:solidFill>
                  <a:schemeClr val="accent2"/>
                </a:solidFill>
                <a:cs typeface="Calibri" panose="020F0502020204030204" pitchFamily="34" charset="0"/>
              </a:rPr>
              <a:t>ingerprints </a:t>
            </a:r>
            <a:r>
              <a:rPr lang="en-US" altLang="zh-TW" sz="2000" dirty="0">
                <a:solidFill>
                  <a:srgbClr val="FF0000"/>
                </a:solidFill>
                <a:cs typeface="Calibri" panose="020F0502020204030204" pitchFamily="34" charset="0"/>
              </a:rPr>
              <a:t>due to sweat </a:t>
            </a:r>
            <a:r>
              <a:rPr lang="en-US" altLang="zh-TW" sz="2000" dirty="0">
                <a:cs typeface="Calibri" panose="020F0502020204030204" pitchFamily="34" charset="0"/>
              </a:rPr>
              <a:t>often fail to pass identity verification that requires restoration to enhance the </a:t>
            </a:r>
            <a:r>
              <a:rPr lang="en-US" altLang="zh-TW" sz="2000" dirty="0" err="1">
                <a:cs typeface="Calibri" panose="020F0502020204030204" pitchFamily="34" charset="0"/>
              </a:rPr>
              <a:t>rdiges</a:t>
            </a:r>
            <a:endParaRPr lang="en-US" altLang="zh-TW" sz="2000" dirty="0">
              <a:cs typeface="Calibri" panose="020F0502020204030204" pitchFamily="34" charset="0"/>
            </a:endParaRPr>
          </a:p>
          <a:p>
            <a:r>
              <a:rPr lang="en" altLang="zh-TW" sz="2000" dirty="0">
                <a:solidFill>
                  <a:srgbClr val="FF0000"/>
                </a:solidFill>
                <a:cs typeface="Calibri" panose="020F0502020204030204" pitchFamily="34" charset="0"/>
              </a:rPr>
              <a:t>Collecting paired, </a:t>
            </a:r>
            <a:r>
              <a:rPr lang="en" altLang="zh-TW" sz="2000" dirty="0">
                <a:cs typeface="Calibri" panose="020F0502020204030204" pitchFamily="34" charset="0"/>
              </a:rPr>
              <a:t>aligned clean and wet fingerprint datasets for restoration training is challenging due to misalignment issues.</a:t>
            </a:r>
          </a:p>
          <a:p>
            <a:endParaRPr lang="en" altLang="zh-TW" sz="2000" dirty="0">
              <a:cs typeface="Calibri" panose="020F0502020204030204" pitchFamily="34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B4F1205-F28A-6896-6370-27DEE1ED6352}"/>
              </a:ext>
            </a:extLst>
          </p:cNvPr>
          <p:cNvSpPr txBox="1"/>
          <p:nvPr/>
        </p:nvSpPr>
        <p:spPr>
          <a:xfrm>
            <a:off x="5988288" y="73763"/>
            <a:ext cx="23172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Calibri" panose="020F0502020204030204" pitchFamily="34" charset="0"/>
                <a:cs typeface="Calibri" panose="020F0502020204030204" pitchFamily="34" charset="0"/>
              </a:rPr>
              <a:t>Figure 1.1. </a:t>
            </a:r>
            <a:endParaRPr lang="en" altLang="zh-TW" sz="140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" altLang="zh-TW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 illustration depicting a recognition sensor located on the side of a smartphone.</a:t>
            </a:r>
            <a:endParaRPr lang="zh-TW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投影片編號版面配置區 2">
            <a:extLst>
              <a:ext uri="{FF2B5EF4-FFF2-40B4-BE49-F238E27FC236}">
                <a16:creationId xmlns:a16="http://schemas.microsoft.com/office/drawing/2014/main" id="{676810A5-CDAD-05D2-8B58-44278876BD14}"/>
              </a:ext>
            </a:extLst>
          </p:cNvPr>
          <p:cNvSpPr txBox="1">
            <a:spLocks/>
          </p:cNvSpPr>
          <p:nvPr/>
        </p:nvSpPr>
        <p:spPr>
          <a:xfrm>
            <a:off x="8603520" y="6623902"/>
            <a:ext cx="533400" cy="244476"/>
          </a:xfrm>
          <a:prstGeom prst="rect">
            <a:avLst/>
          </a:prstGeom>
        </p:spPr>
        <p:txBody>
          <a:bodyPr vert="horz" anchor="ctr" anchorCtr="0">
            <a:noAutofit/>
          </a:bodyPr>
          <a:lstStyle>
            <a:defPPr>
              <a:defRPr lang="zh-TW"/>
            </a:defPPr>
            <a:lvl1pPr marL="0" algn="r" defTabSz="914400" rtl="0" eaLnBrk="1" latinLnBrk="0" hangingPunct="1">
              <a:defRPr kumimoji="0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A0BB7-265A-403C-9275-D587AB510EDC}" type="slidenum">
              <a:rPr lang="zh-TW" altLang="en-US" smtClean="0">
                <a:solidFill>
                  <a:prstClr val="black"/>
                </a:solidFill>
              </a:rPr>
              <a:pPr/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8E14090-8390-9829-A031-C5D63E3D2D91}"/>
              </a:ext>
            </a:extLst>
          </p:cNvPr>
          <p:cNvSpPr txBox="1"/>
          <p:nvPr/>
        </p:nvSpPr>
        <p:spPr>
          <a:xfrm>
            <a:off x="1269361" y="6383768"/>
            <a:ext cx="2999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>
                <a:latin typeface="Calibri" panose="020F0502020204030204" pitchFamily="34" charset="0"/>
                <a:cs typeface="Calibri" panose="020F0502020204030204" pitchFamily="34" charset="0"/>
              </a:rPr>
              <a:t>(a) Clean and Partial Wet Fingerprint</a:t>
            </a: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B2C94846-1C0F-1C4D-B12F-1F6A0EE409BC}"/>
              </a:ext>
            </a:extLst>
          </p:cNvPr>
          <p:cNvGrpSpPr/>
          <p:nvPr/>
        </p:nvGrpSpPr>
        <p:grpSpPr>
          <a:xfrm>
            <a:off x="4886611" y="4445835"/>
            <a:ext cx="1125005" cy="1980007"/>
            <a:chOff x="2000061" y="4468779"/>
            <a:chExt cx="1034874" cy="1821377"/>
          </a:xfrm>
        </p:grpSpPr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EEB912F0-152F-2132-7CC4-0AE7CA249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00061" y="4468779"/>
              <a:ext cx="1034874" cy="18213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D5F6E91-2224-A679-7C42-B456A74C70CD}"/>
                </a:ext>
              </a:extLst>
            </p:cNvPr>
            <p:cNvSpPr/>
            <p:nvPr/>
          </p:nvSpPr>
          <p:spPr>
            <a:xfrm>
              <a:off x="2138082" y="5163671"/>
              <a:ext cx="896853" cy="20133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0CD1AA2-848D-57E2-FBE0-40406124F7E3}"/>
                </a:ext>
              </a:extLst>
            </p:cNvPr>
            <p:cNvSpPr/>
            <p:nvPr/>
          </p:nvSpPr>
          <p:spPr>
            <a:xfrm>
              <a:off x="2138082" y="4908704"/>
              <a:ext cx="896853" cy="20133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8B6AD5B-3464-8DCF-8EA9-9E8820090ADC}"/>
              </a:ext>
            </a:extLst>
          </p:cNvPr>
          <p:cNvSpPr txBox="1"/>
          <p:nvPr/>
        </p:nvSpPr>
        <p:spPr>
          <a:xfrm>
            <a:off x="4047676" y="6383768"/>
            <a:ext cx="2802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>
                <a:latin typeface="Calibri" panose="020F0502020204030204" pitchFamily="34" charset="0"/>
                <a:cs typeface="Calibri" panose="020F0502020204030204" pitchFamily="34" charset="0"/>
              </a:rPr>
              <a:t>(b) Misalignment problem of real Clean/Wet Fingerprint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2D96961-B8F1-AF0C-4369-F70476F6A64B}"/>
              </a:ext>
            </a:extLst>
          </p:cNvPr>
          <p:cNvSpPr txBox="1"/>
          <p:nvPr/>
        </p:nvSpPr>
        <p:spPr>
          <a:xfrm>
            <a:off x="1638772" y="4291948"/>
            <a:ext cx="9347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>
                <a:latin typeface="Calibri" panose="020F0502020204030204" pitchFamily="34" charset="0"/>
                <a:cs typeface="Calibri" panose="020F0502020204030204" pitchFamily="34" charset="0"/>
              </a:rPr>
              <a:t>Clean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DFCCA01-8185-B7E9-196E-7F5B49275535}"/>
              </a:ext>
            </a:extLst>
          </p:cNvPr>
          <p:cNvSpPr txBox="1"/>
          <p:nvPr/>
        </p:nvSpPr>
        <p:spPr>
          <a:xfrm>
            <a:off x="2689594" y="4291947"/>
            <a:ext cx="9347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>
                <a:latin typeface="Calibri" panose="020F0502020204030204" pitchFamily="34" charset="0"/>
                <a:cs typeface="Calibri" panose="020F0502020204030204" pitchFamily="34" charset="0"/>
              </a:rPr>
              <a:t>Wet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CB4DAFA7-986D-C393-F30E-694462AFDC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766" y="4629500"/>
            <a:ext cx="339824" cy="1661362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E71A13B9-FEBD-3C6D-20C6-30564E902E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1481" y="4627903"/>
            <a:ext cx="339824" cy="1661363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4E96162D-539F-A495-2CAA-15159CAACD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213" y="4628649"/>
            <a:ext cx="339824" cy="1661362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84A86FEF-AB75-923C-FDAD-7D25499906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678" y="4633471"/>
            <a:ext cx="339857" cy="1661521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B019615C-130B-EB72-A828-9DC3DBAD72D2}"/>
              </a:ext>
            </a:extLst>
          </p:cNvPr>
          <p:cNvSpPr txBox="1"/>
          <p:nvPr/>
        </p:nvSpPr>
        <p:spPr>
          <a:xfrm>
            <a:off x="6711251" y="4793429"/>
            <a:ext cx="23767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Calibri" panose="020F0502020204030204" pitchFamily="34" charset="0"/>
                <a:cs typeface="Calibri" panose="020F0502020204030204" pitchFamily="34" charset="0"/>
              </a:rPr>
              <a:t>Figure 1.2 </a:t>
            </a:r>
            <a:endParaRPr lang="en" altLang="zh-TW" sz="140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" altLang="zh-TW" sz="1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Shows (a) clean and partial wet fingerprint and (b) misalignment problem of collecting clean and wet fingerprint</a:t>
            </a:r>
            <a:endParaRPr lang="zh-TW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A342E2B-F953-6841-6DF2-BFCDF9D324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73763"/>
            <a:ext cx="1089965" cy="123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003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D32009-36A7-4601-B929-5BB1D1A57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418" y="104775"/>
            <a:ext cx="6500858" cy="990600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4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EE2BBB-FC0B-418D-A278-72F54E055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BDD6D-0106-41F0-98FD-2D1AE062E9F7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6CB3A75-DBA4-4FCD-9AD1-33A67B57050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54228" y="1433337"/>
            <a:ext cx="7808581" cy="5257801"/>
          </a:xfrm>
        </p:spPr>
        <p:txBody>
          <a:bodyPr>
            <a:norm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Over-restoration</a:t>
            </a:r>
            <a:r>
              <a:rPr lang="en-US" altLang="zh-TW" sz="2000" dirty="0">
                <a:latin typeface="+mn-lt"/>
                <a:cs typeface="Times New Roman" panose="02020603050405020304" pitchFamily="18" charset="0"/>
              </a:rPr>
              <a:t> can loss of </a:t>
            </a:r>
            <a:r>
              <a:rPr lang="en" altLang="zh-TW" sz="2000" dirty="0">
                <a:solidFill>
                  <a:srgbClr val="FF0000"/>
                </a:solidFill>
                <a:latin typeface="+mn-lt"/>
                <a:cs typeface="Calibri" panose="020F0502020204030204" pitchFamily="34" charset="0"/>
              </a:rPr>
              <a:t>identify </a:t>
            </a:r>
            <a:r>
              <a:rPr lang="en-US" altLang="zh-TW" sz="2000" dirty="0">
                <a:latin typeface="+mn-lt"/>
                <a:cs typeface="Times New Roman" panose="02020603050405020304" pitchFamily="18" charset="0"/>
              </a:rPr>
              <a:t>features. In partial wet fingerprint, it requires </a:t>
            </a:r>
            <a:r>
              <a:rPr lang="en-US" altLang="zh-TW" sz="2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various</a:t>
            </a:r>
            <a:r>
              <a:rPr lang="en-US" altLang="zh-TW" sz="2000" dirty="0">
                <a:solidFill>
                  <a:schemeClr val="accent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degrees</a:t>
            </a:r>
            <a:r>
              <a:rPr lang="en-US" altLang="zh-TW" sz="2000" dirty="0">
                <a:solidFill>
                  <a:schemeClr val="accent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of wet fingerprint restoration capacity.</a:t>
            </a:r>
            <a:r>
              <a:rPr lang="en-US" altLang="zh-TW" sz="2000" dirty="0">
                <a:solidFill>
                  <a:schemeClr val="accent2"/>
                </a:solidFill>
                <a:latin typeface="+mn-lt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000" dirty="0">
                <a:latin typeface="+mn-lt"/>
              </a:rPr>
              <a:t>Without considering </a:t>
            </a:r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fingerprint humidity difference</a:t>
            </a:r>
            <a:r>
              <a:rPr lang="en-US" altLang="zh-TW" sz="2000" dirty="0">
                <a:latin typeface="+mn-lt"/>
              </a:rPr>
              <a:t>, restoration will </a:t>
            </a:r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face over or under restoration issue</a:t>
            </a:r>
            <a:r>
              <a:rPr lang="en-US" altLang="zh-TW" sz="2000" dirty="0">
                <a:latin typeface="+mn-lt"/>
              </a:rPr>
              <a:t>, leading to recognition failures.</a:t>
            </a:r>
            <a:endParaRPr lang="en-US" altLang="zh-TW" sz="2000" dirty="0">
              <a:latin typeface="+mn-lt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000" dirty="0">
              <a:latin typeface="+mn-lt"/>
            </a:endParaRPr>
          </a:p>
          <a:p>
            <a:pPr>
              <a:lnSpc>
                <a:spcPts val="2000"/>
              </a:lnSpc>
            </a:pPr>
            <a:endParaRPr lang="en" altLang="zh-TW" sz="2000" dirty="0">
              <a:cs typeface="Calibri" panose="020F0502020204030204" pitchFamily="34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9C493A4-20D6-4F03-921B-D7AA1F6EA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65" y="3277988"/>
            <a:ext cx="8509839" cy="329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404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D32009-36A7-4601-B929-5BB1D1A57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418" y="104775"/>
            <a:ext cx="6500858" cy="990600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EE2BBB-FC0B-418D-A278-72F54E055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BDD6D-0106-41F0-98FD-2D1AE062E9F7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6CB3A75-DBA4-4FCD-9AD1-33A67B57050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335418" y="1600199"/>
            <a:ext cx="7808581" cy="5257801"/>
          </a:xfrm>
        </p:spPr>
        <p:txBody>
          <a:bodyPr>
            <a:normAutofit/>
          </a:bodyPr>
          <a:lstStyle/>
          <a:p>
            <a:r>
              <a:rPr lang="en-US" altLang="zh-TW" sz="2000" b="1" dirty="0">
                <a:latin typeface="+mn-lt"/>
              </a:rPr>
              <a:t>Traditional fingerprint restorations on full or partial images </a:t>
            </a:r>
            <a:r>
              <a:rPr lang="en-US" altLang="zh-TW" sz="2000" dirty="0">
                <a:latin typeface="+mn-lt"/>
              </a:rPr>
              <a:t>focus on </a:t>
            </a:r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enhancing</a:t>
            </a:r>
            <a:r>
              <a:rPr lang="en-US" altLang="zh-TW" sz="2000" dirty="0">
                <a:solidFill>
                  <a:schemeClr val="accent2"/>
                </a:solidFill>
                <a:latin typeface="+mn-lt"/>
              </a:rPr>
              <a:t> </a:t>
            </a:r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fingerprint ridge patterns</a:t>
            </a:r>
            <a:r>
              <a:rPr lang="en-US" altLang="zh-TW" sz="2000" dirty="0">
                <a:latin typeface="+mn-lt"/>
              </a:rPr>
              <a:t>, rather than keeping the identifiable features </a:t>
            </a:r>
          </a:p>
          <a:p>
            <a:r>
              <a:rPr lang="en-US" altLang="zh-TW" sz="2000" b="1" dirty="0">
                <a:latin typeface="+mn-lt"/>
                <a:cs typeface="Times New Roman" panose="02020603050405020304" pitchFamily="18" charset="0"/>
              </a:rPr>
              <a:t>Design a</a:t>
            </a:r>
            <a:r>
              <a:rPr lang="en-US" altLang="zh-TW" sz="20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wet fingerprint quality automated assessment method that can classify </a:t>
            </a:r>
            <a:r>
              <a:rPr lang="en-US" altLang="zh-TW" sz="2000" dirty="0">
                <a:latin typeface="+mn-lt"/>
                <a:cs typeface="Times New Roman" panose="02020603050405020304" pitchFamily="18" charset="0"/>
              </a:rPr>
              <a:t>different humidity levels (as </a:t>
            </a:r>
            <a:r>
              <a:rPr lang="en-US" altLang="zh-TW" sz="2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light-wet, medium-wet and heavy-wet</a:t>
            </a:r>
            <a:r>
              <a:rPr lang="en-US" altLang="zh-TW" sz="2000" dirty="0">
                <a:latin typeface="+mn-lt"/>
                <a:cs typeface="Times New Roman" panose="02020603050405020304" pitchFamily="18" charset="0"/>
              </a:rPr>
              <a:t>) </a:t>
            </a:r>
          </a:p>
          <a:p>
            <a:r>
              <a:rPr lang="en-US" altLang="zh-TW" sz="2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Generate  humidity degradation features </a:t>
            </a:r>
            <a:r>
              <a:rPr lang="en-US" altLang="zh-TW" sz="2000" dirty="0">
                <a:latin typeface="+mn-lt"/>
                <a:cs typeface="Times New Roman" panose="02020603050405020304" pitchFamily="18" charset="0"/>
              </a:rPr>
              <a:t>depending on the humidity levels to</a:t>
            </a:r>
            <a:r>
              <a:rPr lang="en-US" altLang="zh-TW" sz="2000" dirty="0">
                <a:latin typeface="+mn-lt"/>
              </a:rPr>
              <a:t> help  models' </a:t>
            </a:r>
            <a:r>
              <a:rPr lang="en-US" altLang="zh-TW" sz="2000" dirty="0">
                <a:solidFill>
                  <a:srgbClr val="FF0000"/>
                </a:solidFill>
                <a:latin typeface="+mn-lt"/>
              </a:rPr>
              <a:t>restoration abilities on different humidity.</a:t>
            </a:r>
            <a:endParaRPr lang="en-US" altLang="zh-TW" sz="2000" dirty="0">
              <a:solidFill>
                <a:schemeClr val="accent2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altLang="zh-TW" sz="2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Develop an </a:t>
            </a:r>
            <a:r>
              <a:rPr lang="en-US" altLang="zh-TW" sz="20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all-in-one</a:t>
            </a:r>
            <a:r>
              <a:rPr lang="en-US" altLang="zh-TW" sz="2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CNN-based model that has </a:t>
            </a:r>
            <a:r>
              <a:rPr lang="en-US" altLang="zh-TW" sz="2000" dirty="0">
                <a:latin typeface="+mn-lt"/>
                <a:cs typeface="Times New Roman" panose="02020603050405020304" pitchFamily="18" charset="0"/>
              </a:rPr>
              <a:t>better </a:t>
            </a:r>
            <a:r>
              <a:rPr lang="en-US" altLang="zh-TW" sz="2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restoration generalization </a:t>
            </a:r>
            <a:r>
              <a:rPr lang="en-US" altLang="zh-TW" sz="2000" dirty="0">
                <a:latin typeface="+mn-lt"/>
                <a:cs typeface="Times New Roman" panose="02020603050405020304" pitchFamily="18" charset="0"/>
              </a:rPr>
              <a:t>ability</a:t>
            </a:r>
            <a:r>
              <a:rPr lang="zh-TW" altLang="en-US" sz="20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+mn-lt"/>
                <a:cs typeface="Times New Roman" panose="02020603050405020304" pitchFamily="18" charset="0"/>
              </a:rPr>
              <a:t>across </a:t>
            </a:r>
            <a:r>
              <a:rPr lang="en-US" altLang="zh-TW" sz="2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various humidity levels  </a:t>
            </a:r>
            <a:r>
              <a:rPr lang="en-US" altLang="zh-TW" sz="2000" dirty="0">
                <a:latin typeface="+mn-lt"/>
                <a:cs typeface="Times New Roman" panose="02020603050405020304" pitchFamily="18" charset="0"/>
              </a:rPr>
              <a:t>by</a:t>
            </a:r>
            <a:r>
              <a:rPr lang="en-US" altLang="zh-TW" sz="2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+mn-lt"/>
                <a:cs typeface="Times New Roman" panose="02020603050405020304" pitchFamily="18" charset="0"/>
              </a:rPr>
              <a:t>fusing humidity degradation features and restoration features </a:t>
            </a:r>
            <a:endParaRPr lang="en-US" altLang="zh-TW" sz="2000" dirty="0">
              <a:solidFill>
                <a:schemeClr val="accent2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altLang="zh-TW" sz="2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Keep the </a:t>
            </a:r>
            <a:r>
              <a:rPr lang="en-US" altLang="zh-TW" sz="2000" dirty="0">
                <a:latin typeface="+mn-lt"/>
              </a:rPr>
              <a:t>identifiable features for recognition  while </a:t>
            </a:r>
            <a:r>
              <a:rPr lang="en-US" altLang="zh-TW" sz="2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restoring partial wet fingerprints</a:t>
            </a:r>
            <a:endParaRPr lang="en-US" altLang="zh-TW" sz="2000" dirty="0"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ts val="3600"/>
              </a:lnSpc>
            </a:pP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48019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D32009-36A7-4601-B929-5BB1D1A57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4775"/>
            <a:ext cx="9144000" cy="990600"/>
          </a:xfrm>
        </p:spPr>
        <p:txBody>
          <a:bodyPr>
            <a:no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Wet Fingerprint Quality Automated Assessment</a:t>
            </a:r>
            <a:b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6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Flow Chart</a:t>
            </a:r>
            <a:endParaRPr lang="zh-TW" altLang="en-US" sz="3600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6CB3A75-DBA4-4FCD-9AD1-33A67B57050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197914" y="1524572"/>
            <a:ext cx="7808581" cy="4724225"/>
          </a:xfrm>
        </p:spPr>
        <p:txBody>
          <a:bodyPr>
            <a:norm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Wet Fingerprint Quality Automated Assessment (WFQA)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classify fingerprint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humidity to 3 levels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ridge color and ridge clarity</a:t>
            </a:r>
          </a:p>
          <a:p>
            <a:pPr lvl="1"/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Quality Metrices Extractor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six types of quality metrices and concatenated into </a:t>
            </a:r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Quality Feature Vector</a:t>
            </a:r>
          </a:p>
          <a:p>
            <a:pPr lvl="1"/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Voting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out poor-quality images by determining outliers.</a:t>
            </a:r>
          </a:p>
          <a:p>
            <a:pPr lvl="1"/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Labeling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six types of quality metrices and voting algorithm to generate training data for KNN classifier.</a:t>
            </a:r>
          </a:p>
          <a:p>
            <a:pPr lvl="1"/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 (KNN) Classifier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distinguishes fingerprint humidity into 3 levels using the </a:t>
            </a:r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Quality Feature Vector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20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BD48DA4-DBF1-4968-A200-EBED001CFB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07"/>
          <a:stretch/>
        </p:blipFill>
        <p:spPr>
          <a:xfrm>
            <a:off x="-7503" y="4424659"/>
            <a:ext cx="9144000" cy="2388717"/>
          </a:xfrm>
          <a:prstGeom prst="rect">
            <a:avLst/>
          </a:prstGeom>
          <a:solidFill>
            <a:srgbClr val="F4F4F4"/>
          </a:solidFill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EE2BBB-FC0B-418D-A278-72F54E055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BDD6D-0106-41F0-98FD-2D1AE062E9F7}" type="slidenum">
              <a:rPr lang="zh-TW" altLang="en-US" smtClean="0"/>
              <a:t>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4526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D32009-36A7-4601-B929-5BB1D1A57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417" y="104775"/>
            <a:ext cx="7808581" cy="990600"/>
          </a:xfrm>
        </p:spPr>
        <p:txBody>
          <a:bodyPr>
            <a:no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All-in-one Residual Dense-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AiRDUNet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b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200" dirty="0" err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DataFlow</a:t>
            </a:r>
            <a:r>
              <a:rPr lang="en-US" altLang="zh-TW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Chart</a:t>
            </a:r>
            <a:endParaRPr lang="zh-TW" altLang="en-US" sz="3200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6CB3A75-DBA4-4FCD-9AD1-33A67B57050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335416" y="1433337"/>
            <a:ext cx="7808581" cy="5257801"/>
          </a:xfrm>
        </p:spPr>
        <p:txBody>
          <a:bodyPr>
            <a:normAutofit/>
          </a:bodyPr>
          <a:lstStyle/>
          <a:p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Wet Fingerprint Quality Assessment  classify images to 3 humidity levels and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en-US" altLang="zh-TW" sz="1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</a:t>
            </a:r>
            <a:r>
              <a:rPr lang="en-US" altLang="zh-TW" sz="1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zh-TW" sz="1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en-US" altLang="zh-TW" sz="1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</a:t>
            </a:r>
            <a:r>
              <a:rPr lang="en-US" altLang="zh-TW" sz="1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input image</a:t>
            </a:r>
          </a:p>
          <a:p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Contrast-based Humidity Degradation Encoder (CHDE)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humidity</a:t>
            </a:r>
            <a:r>
              <a:rPr lang="en-US" altLang="zh-TW" sz="1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degradation</a:t>
            </a:r>
            <a:r>
              <a:rPr lang="en-US" altLang="zh-TW" sz="1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 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various humidity levels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TW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3 humidity clusters by contrast loss</a:t>
            </a:r>
          </a:p>
          <a:p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Dense-</a:t>
            </a:r>
            <a:r>
              <a:rPr lang="en-US" altLang="zh-TW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restore</a:t>
            </a:r>
            <a:r>
              <a:rPr lang="en-US" altLang="zh-TW" sz="1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 guided by humidity</a:t>
            </a:r>
            <a:r>
              <a:rPr lang="en-US" altLang="zh-TW" sz="1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degradation</a:t>
            </a:r>
            <a:r>
              <a:rPr lang="en-US" altLang="zh-TW" sz="1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b="1" dirty="0">
                <a:latin typeface="+mn-lt"/>
              </a:rPr>
              <a:t>Recognition</a:t>
            </a:r>
            <a:r>
              <a:rPr lang="en-US" altLang="zh-TW" sz="1800" dirty="0">
                <a:latin typeface="+mn-lt"/>
              </a:rPr>
              <a:t> Module ResNet18  performs recognition task </a:t>
            </a:r>
            <a:endParaRPr lang="zh-TW" altLang="en-US" sz="1800" dirty="0">
              <a:latin typeface="+mn-lt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859DC650-C535-4D22-B6CD-8CAC583A4BBA}"/>
              </a:ext>
            </a:extLst>
          </p:cNvPr>
          <p:cNvGrpSpPr/>
          <p:nvPr/>
        </p:nvGrpSpPr>
        <p:grpSpPr>
          <a:xfrm>
            <a:off x="0" y="3718100"/>
            <a:ext cx="9108504" cy="3095276"/>
            <a:chOff x="1587831" y="3146323"/>
            <a:chExt cx="9833475" cy="3253793"/>
          </a:xfrm>
        </p:grpSpPr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68BA7A2A-A973-4F17-9D59-5FBDDD0D3520}"/>
                </a:ext>
              </a:extLst>
            </p:cNvPr>
            <p:cNvGrpSpPr/>
            <p:nvPr/>
          </p:nvGrpSpPr>
          <p:grpSpPr>
            <a:xfrm>
              <a:off x="1587831" y="3146323"/>
              <a:ext cx="9833475" cy="3253793"/>
              <a:chOff x="1587831" y="3146323"/>
              <a:chExt cx="9833475" cy="3253793"/>
            </a:xfrm>
          </p:grpSpPr>
          <p:pic>
            <p:nvPicPr>
              <p:cNvPr id="9" name="圖片 8">
                <a:extLst>
                  <a:ext uri="{FF2B5EF4-FFF2-40B4-BE49-F238E27FC236}">
                    <a16:creationId xmlns:a16="http://schemas.microsoft.com/office/drawing/2014/main" id="{303C244C-FE05-41A9-9C96-6877A7D55E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87831" y="3146323"/>
                <a:ext cx="9833475" cy="3253793"/>
              </a:xfrm>
              <a:prstGeom prst="rect">
                <a:avLst/>
              </a:prstGeom>
              <a:solidFill>
                <a:srgbClr val="F4F4F4"/>
              </a:solidFill>
            </p:spPr>
          </p:pic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23718BBF-6665-4FA9-8CBE-0A42A31C02A6}"/>
                  </a:ext>
                </a:extLst>
              </p:cNvPr>
              <p:cNvSpPr/>
              <p:nvPr/>
            </p:nvSpPr>
            <p:spPr>
              <a:xfrm>
                <a:off x="1733550" y="3234690"/>
                <a:ext cx="1451610" cy="240030"/>
              </a:xfrm>
              <a:prstGeom prst="rect">
                <a:avLst/>
              </a:prstGeom>
              <a:solidFill>
                <a:srgbClr val="F4F4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3DBA9F22-8BA4-4D04-B904-71877A29C879}"/>
                </a:ext>
              </a:extLst>
            </p:cNvPr>
            <p:cNvSpPr/>
            <p:nvPr/>
          </p:nvSpPr>
          <p:spPr>
            <a:xfrm>
              <a:off x="9370142" y="3290694"/>
              <a:ext cx="1952841" cy="973394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Training Process</a:t>
              </a:r>
              <a:endPara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EE2BBB-FC0B-418D-A278-72F54E055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BDD6D-0106-41F0-98FD-2D1AE062E9F7}" type="slidenum">
              <a:rPr lang="zh-TW" altLang="en-US" smtClean="0"/>
              <a:t>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70873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D32009-36A7-4601-B929-5BB1D1A57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417" y="104775"/>
            <a:ext cx="7808581" cy="990600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All-in-one Residual Dense-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 Architecture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6CB3A75-DBA4-4FCD-9AD1-33A67B57050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335418" y="1600199"/>
            <a:ext cx="7808581" cy="5257801"/>
          </a:xfrm>
        </p:spPr>
        <p:txBody>
          <a:bodyPr>
            <a:normAutofit/>
          </a:bodyPr>
          <a:lstStyle/>
          <a:p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EE2BBB-FC0B-418D-A278-72F54E055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BDD6D-0106-41F0-98FD-2D1AE062E9F7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6" name="內容版面配置區 8">
            <a:extLst>
              <a:ext uri="{FF2B5EF4-FFF2-40B4-BE49-F238E27FC236}">
                <a16:creationId xmlns:a16="http://schemas.microsoft.com/office/drawing/2014/main" id="{0C60E299-17CE-4C49-AD6D-B03ED363F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32654"/>
            <a:ext cx="9143998" cy="4111804"/>
          </a:xfrm>
          <a:prstGeom prst="rect">
            <a:avLst/>
          </a:prstGeom>
          <a:solidFill>
            <a:srgbClr val="F4F4F4"/>
          </a:solidFill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F4F7B6F2-3DC2-A469-D02F-B2061BA578A5}"/>
              </a:ext>
            </a:extLst>
          </p:cNvPr>
          <p:cNvSpPr txBox="1"/>
          <p:nvPr/>
        </p:nvSpPr>
        <p:spPr>
          <a:xfrm>
            <a:off x="343759" y="5257801"/>
            <a:ext cx="106041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Dilated conv to increase  receptive field</a:t>
            </a:r>
            <a:endParaRPr lang="zh-TW" altLang="en-US" sz="11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0AA1CB4-AA27-001A-4F98-B478A2C4E3D0}"/>
              </a:ext>
            </a:extLst>
          </p:cNvPr>
          <p:cNvSpPr txBox="1"/>
          <p:nvPr/>
        </p:nvSpPr>
        <p:spPr>
          <a:xfrm>
            <a:off x="116880" y="1467614"/>
            <a:ext cx="8828058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Degradation-Guided Block (DGB)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the latent humidity degradation representation</a:t>
            </a: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restoration features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Dense </a:t>
            </a:r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(RDB)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local dense convolution  with global residual </a:t>
            </a: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connections.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26150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D32009-36A7-4601-B929-5BB1D1A57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04775"/>
            <a:ext cx="9143998" cy="990600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All-in-one Residual Dense-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b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Humidity Degradation Embedding Task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id="{B6CB3A75-DBA4-4FCD-9AD1-33A67B57050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335418" y="1600199"/>
                <a:ext cx="7808581" cy="5257801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use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Contrastive Loss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humidity degradation embedding task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𝑐𝑜𝑛𝑡𝑟𝑎𝑠𝑡𝑖𝑣𝑒</m:t>
                        </m:r>
                      </m:sub>
                    </m:sSub>
                    <m:r>
                      <a:rPr lang="en-US" altLang="zh-TW" sz="1800" i="1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18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TW" sz="1800">
                                <a:latin typeface="Cambria Math" panose="02040503050406030204" pitchFamily="18" charset="0"/>
                              </a:rPr>
                              <m:t>exp</m:t>
                            </m:r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TW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en-US" altLang="zh-TW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  <m:r>
                              <a:rPr lang="en-US" altLang="zh-TW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zh-TW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800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en-US" altLang="zh-TW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US" altLang="zh-TW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den>
                        </m:f>
                      </m:e>
                    </m:func>
                  </m:oMath>
                </a14:m>
                <a:endParaRPr lang="en-US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TW" sz="18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humidity degradation representation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TW" sz="1800" i="1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the corresponding positive and negative pair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TW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temperature hyper-parameter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TW" sz="18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the number of negative samples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maintain </a:t>
                </a:r>
                <a:r>
                  <a:rPr lang="en-US" altLang="zh-TW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consistency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within the same level of humidity degradation while maximizing differences between different levels.</a:t>
                </a:r>
              </a:p>
              <a:p>
                <a:endParaRPr lang="zh-TW" altLang="en-US" sz="2000" dirty="0"/>
              </a:p>
            </p:txBody>
          </p:sp>
        </mc:Choice>
        <mc:Fallback xmlns=""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id="{B6CB3A75-DBA4-4FCD-9AD1-33A67B5705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335418" y="1600199"/>
                <a:ext cx="7808581" cy="5257801"/>
              </a:xfrm>
              <a:blipFill>
                <a:blip r:embed="rId2"/>
                <a:stretch>
                  <a:fillRect t="-5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EE2BBB-FC0B-418D-A278-72F54E055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BDD6D-0106-41F0-98FD-2D1AE062E9F7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C5218EB-89C6-4931-9984-5EC5A8BA81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390" y="4634946"/>
            <a:ext cx="5409283" cy="2223054"/>
          </a:xfrm>
          <a:prstGeom prst="rect">
            <a:avLst/>
          </a:prstGeom>
          <a:solidFill>
            <a:srgbClr val="F4F4F4"/>
          </a:solidFill>
        </p:spPr>
      </p:pic>
    </p:spTree>
    <p:extLst>
      <p:ext uri="{BB962C8B-B14F-4D97-AF65-F5344CB8AC3E}">
        <p14:creationId xmlns:p14="http://schemas.microsoft.com/office/powerpoint/2010/main" val="1166248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D32009-36A7-4601-B929-5BB1D1A57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417" y="104775"/>
            <a:ext cx="7808581" cy="990600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All-in-one Residual Dense-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b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Restoration Task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id="{B6CB3A75-DBA4-4FCD-9AD1-33A67B57050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335418" y="1600199"/>
                <a:ext cx="7808581" cy="5257801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ts val="2300"/>
                  </a:lnSpc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proposed the following loss function for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restoration task</a:t>
                </a:r>
              </a:p>
              <a:p>
                <a:pPr lvl="1">
                  <a:lnSpc>
                    <a:spcPts val="23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𝑟𝑒𝑠𝑡𝑜𝑟𝑎𝑡𝑖𝑜𝑛</m:t>
                        </m:r>
                      </m:sub>
                    </m:sSub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𝑟𝑒𝑐𝑜𝑛𝑠𝑡𝑟𝑢𝑐𝑡𝑖𝑜𝑛</m:t>
                        </m:r>
                      </m:sub>
                    </m:sSub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𝑟𝑒𝑐𝑜𝑔𝑛𝑖𝑡𝑖𝑜𝑛</m:t>
                        </m:r>
                      </m:sub>
                    </m:sSub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2300"/>
                  </a:lnSpc>
                </a:pP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Reconstruction Loss</a:t>
                </a:r>
                <a:r>
                  <a:rPr lang="zh-TW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focus on </a:t>
                </a:r>
                <a:r>
                  <a:rPr lang="en-US" altLang="zh-TW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restoring fingerprint ridge details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accurately.</a:t>
                </a:r>
                <a:endParaRPr lang="en-US" altLang="zh-TW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ts val="23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𝑟𝑒𝑐𝑜𝑛𝑠𝑡𝑟𝑢𝑐𝑡𝑖𝑜𝑛</m:t>
                        </m:r>
                      </m:sub>
                    </m:sSub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=0.7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𝑆𝑆𝐼𝑀</m:t>
                        </m:r>
                      </m:sub>
                    </m:sSub>
                    <m:r>
                      <a:rPr lang="en-US" altLang="zh-TW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+0.2×</m:t>
                    </m:r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𝑙𝑎𝑝</m:t>
                        </m:r>
                      </m:sub>
                    </m:sSub>
                    <m:r>
                      <a:rPr lang="en-US" altLang="zh-TW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0.1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𝑀𝑆𝐸</m:t>
                        </m:r>
                      </m:sub>
                    </m:sSub>
                  </m:oMath>
                </a14:m>
                <a:endParaRPr lang="en-US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2300"/>
                  </a:lnSpc>
                </a:pP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Recognition Loss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make the recognition representation of the restored image consistent with the ground truth.</a:t>
                </a:r>
              </a:p>
              <a:p>
                <a:pPr lvl="1">
                  <a:lnSpc>
                    <a:spcPts val="23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800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800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𝑟𝑒𝑐𝑜𝑔𝑛𝑖𝑡𝑖𝑜𝑛</m:t>
                        </m:r>
                      </m:sub>
                    </m:sSub>
                    <m:r>
                      <a:rPr lang="en-US" altLang="zh-TW" sz="1800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=1−</m:t>
                    </m:r>
                    <m:func>
                      <m:funcPr>
                        <m:ctrlPr>
                          <a:rPr lang="en-US" altLang="zh-TW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1800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TW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8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800" b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en-US" altLang="zh-TW" sz="1800" b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𝑟𝑒𝑐𝑜𝑔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sz="18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800" b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altLang="zh-TW" sz="1800" b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sz="18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1800" b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en-US" altLang="zh-TW" sz="1800" b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𝑟𝑒𝑐𝑜𝑔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sz="18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TW" sz="1800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1800" b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altLang="zh-TW" sz="1800" b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altLang="zh-TW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ts val="23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800" i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800" i="0">
                            <a:latin typeface="Cambria Math" panose="02040503050406030204" pitchFamily="18" charset="0"/>
                          </a:rPr>
                          <m:t>recog</m:t>
                        </m:r>
                      </m:sub>
                    </m:sSub>
                    <m:r>
                      <a:rPr lang="en-US" altLang="zh-TW" sz="1800" i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TW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TW" sz="19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recognition representation </a:t>
                </a: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recognition module</a:t>
                </a:r>
              </a:p>
              <a:p>
                <a:pPr>
                  <a:lnSpc>
                    <a:spcPts val="2300"/>
                  </a:lnSpc>
                </a:pP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SSIM Loss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ensures the restored image is </a:t>
                </a:r>
                <a:r>
                  <a:rPr lang="en-US" altLang="zh-TW" sz="19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perceptually close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the ground truth from a human visual perspective.</a:t>
                </a:r>
                <a:endParaRPr lang="en-US" altLang="zh-TW" sz="20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ts val="23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𝑆𝑆𝐼𝑀</m:t>
                        </m:r>
                      </m:sub>
                    </m:sSub>
                    <m:r>
                      <a:rPr lang="en-US" altLang="zh-TW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𝑆𝑆𝐼𝑀</m:t>
                    </m:r>
                    <m:d>
                      <m:dPr>
                        <m:ctrlP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̅"/>
                            <m:ctrlP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endParaRPr lang="en-US" altLang="zh-TW" sz="1800" b="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ts val="2300"/>
                  </a:lnSpc>
                </a:pPr>
                <a14:m>
                  <m:oMath xmlns:m="http://schemas.openxmlformats.org/officeDocument/2006/math">
                    <m:r>
                      <a:rPr lang="en-US" altLang="zh-TW" sz="1800" b="0" i="1" dirty="0" smtClean="0">
                        <a:latin typeface="Cambria Math" panose="02040503050406030204" pitchFamily="18" charset="0"/>
                      </a:rPr>
                      <m:t>𝑆𝑆𝐼𝑀</m:t>
                    </m:r>
                    <m:d>
                      <m:dPr>
                        <m:ctrlPr>
                          <a:rPr lang="en-US" altLang="zh-TW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18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TW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TW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en-US" altLang="zh-TW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TW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en-US" altLang="zh-TW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TW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en-US" altLang="zh-TW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ts val="2300"/>
                  </a:lnSpc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altLang="zh-TW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luminance</m:t>
                    </m:r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altLang="zh-TW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contrast</m:t>
                    </m:r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altLang="zh-TW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structural</m:t>
                    </m:r>
                    <m:r>
                      <m:rPr>
                        <m:nor/>
                      </m:rPr>
                      <a:rPr lang="en-US" altLang="zh-TW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similarity</m:t>
                    </m:r>
                  </m:oMath>
                </a14:m>
                <a:endParaRPr lang="en-US" altLang="zh-TW" sz="18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ts val="2300"/>
                  </a:lnSpc>
                </a:pPr>
                <a14:m>
                  <m:oMath xmlns:m="http://schemas.openxmlformats.org/officeDocument/2006/math">
                    <m:r>
                      <a:rPr lang="en-US" altLang="zh-TW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TW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TW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predict</m:t>
                    </m:r>
                    <m:r>
                      <a:rPr lang="en-US" altLang="zh-TW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image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altLang="zh-TW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nor/>
                      </m:rPr>
                      <a:rPr lang="en-US" altLang="zh-TW" sz="1800" b="0" i="0" smtClean="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altLang="zh-TW" sz="1800" b="0" i="0" smtClean="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ground</m:t>
                    </m:r>
                    <m:r>
                      <m:rPr>
                        <m:nor/>
                      </m:rPr>
                      <a:rPr lang="en-US" altLang="zh-TW" sz="1800" b="0" i="0" smtClean="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1800" b="0" i="0" smtClean="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truth</m:t>
                    </m:r>
                    <m:r>
                      <m:rPr>
                        <m:nor/>
                      </m:rPr>
                      <a:rPr lang="en-US" altLang="zh-TW" sz="1800" b="0" i="0" smtClean="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1800" b="0" i="0" smtClean="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image</m:t>
                    </m:r>
                  </m:oMath>
                </a14:m>
                <a:endPara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內容版面配置區 4">
                <a:extLst>
                  <a:ext uri="{FF2B5EF4-FFF2-40B4-BE49-F238E27FC236}">
                    <a16:creationId xmlns:a16="http://schemas.microsoft.com/office/drawing/2014/main" id="{B6CB3A75-DBA4-4FCD-9AD1-33A67B5705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335418" y="1600199"/>
                <a:ext cx="7808581" cy="5257801"/>
              </a:xfrm>
              <a:blipFill>
                <a:blip r:embed="rId2"/>
                <a:stretch>
                  <a:fillRect t="-695" r="-10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EE2BBB-FC0B-418D-A278-72F54E055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BDD6D-0106-41F0-98FD-2D1AE062E9F7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5095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D32009-36A7-4601-B929-5BB1D1A57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04775"/>
            <a:ext cx="9143998" cy="990600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Humidity Quality Assessment Test Set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6CB3A75-DBA4-4FCD-9AD1-33A67B57050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335418" y="1600199"/>
            <a:ext cx="7808581" cy="5257801"/>
          </a:xfrm>
        </p:spPr>
        <p:txBody>
          <a:bodyPr>
            <a:normAutofit/>
          </a:bodyPr>
          <a:lstStyle/>
          <a:p>
            <a:pPr>
              <a:lnSpc>
                <a:spcPts val="2400"/>
              </a:lnSpc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testset_nasic9395_humidity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as our humidity quality assessment testing set.</a:t>
            </a:r>
          </a:p>
          <a:p>
            <a:pPr lvl="1">
              <a:lnSpc>
                <a:spcPts val="2400"/>
              </a:lnSpc>
            </a:pP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Contains</a:t>
            </a:r>
            <a:r>
              <a:rPr lang="en-US" altLang="zh-TW" sz="1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  <a:r>
              <a:rPr lang="en-US" altLang="zh-TW" sz="1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fingers, 9000 images</a:t>
            </a:r>
          </a:p>
          <a:p>
            <a:pPr lvl="1">
              <a:lnSpc>
                <a:spcPts val="2400"/>
              </a:lnSpc>
            </a:pPr>
            <a:endParaRPr lang="en-US" altLang="zh-TW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</a:pPr>
            <a:r>
              <a:rPr lang="en-US" altLang="zh-TW" sz="2000" b="1" dirty="0"/>
              <a:t>Earth Mover's Distance (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EMD) and </a:t>
            </a:r>
            <a:r>
              <a:rPr lang="en-US" altLang="zh-TW" sz="2000" b="1" dirty="0" err="1"/>
              <a:t>Kullback-Leibler</a:t>
            </a:r>
            <a:r>
              <a:rPr lang="en-US" altLang="zh-TW" sz="2000" b="1" dirty="0"/>
              <a:t> Divergence (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KLD)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  accuracy in assessing the quality of wet fingerprints. </a:t>
            </a:r>
          </a:p>
          <a:p>
            <a:pPr lvl="1">
              <a:lnSpc>
                <a:spcPts val="2400"/>
              </a:lnSpc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NFIQ2 and </a:t>
            </a: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OpenAFQA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designed for full fingerprint quality assessment</a:t>
            </a:r>
          </a:p>
          <a:p>
            <a:pPr lvl="1">
              <a:lnSpc>
                <a:spcPts val="2400"/>
              </a:lnSpc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TPFA and WFQA (ours) are focused on partial wet fingerprint quality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EE2BBB-FC0B-418D-A278-72F54E055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BDD6D-0106-41F0-98FD-2D1AE062E9F7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0B61755-EE11-4978-AB7C-2857141890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4998"/>
          <a:stretch/>
        </p:blipFill>
        <p:spPr>
          <a:xfrm>
            <a:off x="1989911" y="2649485"/>
            <a:ext cx="5570375" cy="848267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5DD95965-4B47-F3B5-9041-782D3B2ADD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047"/>
          <a:stretch/>
        </p:blipFill>
        <p:spPr>
          <a:xfrm>
            <a:off x="2235610" y="4901328"/>
            <a:ext cx="5572972" cy="153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725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8CF172-EC0F-4873-ACA6-56FAA3369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727" y="228600"/>
            <a:ext cx="7405889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Datasets</a:t>
            </a:r>
            <a:br>
              <a:rPr lang="en-US" dirty="0"/>
            </a:br>
            <a:r>
              <a:rPr lang="en-US" sz="4000" dirty="0">
                <a:solidFill>
                  <a:srgbClr val="996633"/>
                </a:solidFill>
              </a:rPr>
              <a:t>Real Fingerprint Data Set Collection</a:t>
            </a:r>
            <a:endParaRPr 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302FA7C-DEF3-4DE9-88CF-2EA7E141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solidFill>
                  <a:prstClr val="black"/>
                </a:solidFill>
              </a:rPr>
              <a:pPr/>
              <a:t>12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6F50FE9-7C44-4365-BA43-5402B59412C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428729" y="1600199"/>
            <a:ext cx="7337320" cy="5082483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sz="2600" dirty="0"/>
              <a:t>Wet Fingerprint Quality Automated Assessment</a:t>
            </a:r>
            <a:br>
              <a:rPr lang="en-US" altLang="zh-TW" sz="2600" dirty="0"/>
            </a:br>
            <a:r>
              <a:rPr lang="en-US" altLang="zh-TW" sz="2600" dirty="0">
                <a:solidFill>
                  <a:srgbClr val="996633"/>
                </a:solidFill>
              </a:rPr>
              <a:t>The Classification Results</a:t>
            </a:r>
            <a:endParaRPr lang="en-US" altLang="zh-TW" sz="2600" b="1" dirty="0"/>
          </a:p>
          <a:p>
            <a:endParaRPr lang="en-US" altLang="zh-TW" sz="2000" b="1" dirty="0"/>
          </a:p>
          <a:p>
            <a:endParaRPr lang="en-US" altLang="zh-TW" sz="2000" b="1" dirty="0"/>
          </a:p>
          <a:p>
            <a:endParaRPr lang="en-US" altLang="zh-TW" sz="2000" b="1" dirty="0"/>
          </a:p>
          <a:p>
            <a:endParaRPr lang="en-US" altLang="zh-TW" sz="2000" b="1" dirty="0"/>
          </a:p>
          <a:p>
            <a:endParaRPr lang="en-US" altLang="zh-TW" sz="2000" b="1" dirty="0"/>
          </a:p>
          <a:p>
            <a:endParaRPr lang="en-US" altLang="zh-TW" sz="2000" b="1" dirty="0"/>
          </a:p>
          <a:p>
            <a:endParaRPr lang="en-US" altLang="zh-TW" sz="2000" b="1" dirty="0"/>
          </a:p>
          <a:p>
            <a:endParaRPr lang="en-US" altLang="zh-TW" sz="2000" b="1" dirty="0"/>
          </a:p>
          <a:p>
            <a:endParaRPr lang="en-US" altLang="zh-TW" sz="2000" b="1" dirty="0"/>
          </a:p>
          <a:p>
            <a:r>
              <a:rPr lang="en-US" altLang="zh-TW" sz="2000" b="1" dirty="0"/>
              <a:t>Nasic9395_1023 Real Dataset</a:t>
            </a:r>
            <a:r>
              <a:rPr lang="en-US" altLang="zh-TW" sz="2000" dirty="0"/>
              <a:t> </a:t>
            </a:r>
            <a:r>
              <a:rPr lang="en-US" altLang="zh-TW" sz="2000" dirty="0">
                <a:solidFill>
                  <a:schemeClr val="accent2"/>
                </a:solidFill>
              </a:rPr>
              <a:t>partial wet fingerprint dataset </a:t>
            </a:r>
          </a:p>
          <a:p>
            <a:pPr lvl="1"/>
            <a:r>
              <a:rPr lang="en-US" altLang="zh-TW" sz="1800" dirty="0"/>
              <a:t>Collected using a </a:t>
            </a:r>
            <a:r>
              <a:rPr lang="en-US" altLang="zh-TW" sz="1800" dirty="0">
                <a:solidFill>
                  <a:schemeClr val="accent2"/>
                </a:solidFill>
              </a:rPr>
              <a:t>capacitive sensor </a:t>
            </a:r>
            <a:r>
              <a:rPr lang="en-US" altLang="zh-TW" sz="1800" dirty="0"/>
              <a:t>on a mobile device's </a:t>
            </a:r>
            <a:r>
              <a:rPr lang="en-US" altLang="zh-TW" sz="1800" dirty="0">
                <a:solidFill>
                  <a:schemeClr val="accent2"/>
                </a:solidFill>
              </a:rPr>
              <a:t>side fingerprint sensor</a:t>
            </a:r>
            <a:r>
              <a:rPr lang="en-US" altLang="zh-TW" sz="1800" dirty="0"/>
              <a:t>.</a:t>
            </a:r>
          </a:p>
          <a:p>
            <a:pPr lvl="1"/>
            <a:r>
              <a:rPr lang="en-US" altLang="zh-TW" sz="1800" dirty="0">
                <a:solidFill>
                  <a:schemeClr val="accent2"/>
                </a:solidFill>
              </a:rPr>
              <a:t>176x36 pixel size</a:t>
            </a:r>
            <a:r>
              <a:rPr lang="en-US" altLang="zh-TW" sz="1800" dirty="0"/>
              <a:t>.</a:t>
            </a:r>
          </a:p>
          <a:p>
            <a:pPr lvl="1"/>
            <a:r>
              <a:rPr lang="en-US" altLang="zh-TW" sz="1800" dirty="0"/>
              <a:t>87,025 clean fingerprint images</a:t>
            </a:r>
          </a:p>
          <a:p>
            <a:pPr lvl="1"/>
            <a:r>
              <a:rPr lang="en-US" altLang="zh-TW" sz="1800" dirty="0"/>
              <a:t>63,000 wet fingerprint images</a:t>
            </a:r>
          </a:p>
          <a:p>
            <a:pPr lvl="1"/>
            <a:r>
              <a:rPr lang="en-US" altLang="zh-TW" sz="1800" dirty="0"/>
              <a:t>105 different fingers.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CBCC999-2310-0939-08E1-1ECFA590C7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461" y="2238912"/>
            <a:ext cx="5484664" cy="202857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46167D0-D0CF-AB52-C147-FCED4E073656}"/>
              </a:ext>
            </a:extLst>
          </p:cNvPr>
          <p:cNvSpPr txBox="1"/>
          <p:nvPr/>
        </p:nvSpPr>
        <p:spPr>
          <a:xfrm>
            <a:off x="1252528" y="4550403"/>
            <a:ext cx="78009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Figure 3.5. With WFQA, images are categorized as light, medium, and heavy wet.</a:t>
            </a:r>
          </a:p>
        </p:txBody>
      </p:sp>
    </p:spTree>
    <p:extLst>
      <p:ext uri="{BB962C8B-B14F-4D97-AF65-F5344CB8AC3E}">
        <p14:creationId xmlns:p14="http://schemas.microsoft.com/office/powerpoint/2010/main" val="3669284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8CF172-EC0F-4873-ACA6-56FAA3369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Datasets</a:t>
            </a:r>
            <a:br>
              <a:rPr lang="en-US" dirty="0"/>
            </a:br>
            <a:r>
              <a:rPr lang="en-US" dirty="0">
                <a:solidFill>
                  <a:srgbClr val="996633"/>
                </a:solidFill>
              </a:rPr>
              <a:t>Synthetic aligned Train Set</a:t>
            </a:r>
            <a:endParaRPr 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302FA7C-DEF3-4DE9-88CF-2EA7E141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solidFill>
                  <a:prstClr val="black"/>
                </a:solidFill>
              </a:rPr>
              <a:pPr/>
              <a:t>13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6F50FE9-7C44-4365-BA43-5402B59412C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/>
              <a:t>The </a:t>
            </a:r>
            <a:r>
              <a:rPr lang="en-US" altLang="zh-TW" sz="2000" b="1" dirty="0"/>
              <a:t>nasic9395_1023_v1_cyc_v2 dataset </a:t>
            </a:r>
            <a:r>
              <a:rPr lang="en-US" altLang="zh-TW" sz="2000" dirty="0"/>
              <a:t>is used as our </a:t>
            </a:r>
            <a:r>
              <a:rPr lang="en-US" altLang="zh-TW" sz="2000" dirty="0">
                <a:solidFill>
                  <a:schemeClr val="accent2"/>
                </a:solidFill>
              </a:rPr>
              <a:t>training set</a:t>
            </a:r>
            <a:r>
              <a:rPr lang="en-US" altLang="zh-TW" sz="2000" dirty="0"/>
              <a:t>. It consists of </a:t>
            </a:r>
            <a:r>
              <a:rPr lang="en-US" altLang="zh-TW" sz="2000" dirty="0">
                <a:solidFill>
                  <a:schemeClr val="accent2"/>
                </a:solidFill>
              </a:rPr>
              <a:t>37,776 </a:t>
            </a:r>
            <a:r>
              <a:rPr lang="en-US" altLang="zh-TW" sz="2000" dirty="0"/>
              <a:t>pairs.</a:t>
            </a:r>
          </a:p>
          <a:p>
            <a:pPr lvl="1"/>
            <a:r>
              <a:rPr lang="en-US" sz="1800" b="1" dirty="0"/>
              <a:t>Clean fingerprint images </a:t>
            </a:r>
            <a:r>
              <a:rPr lang="en-US" sz="1800" dirty="0"/>
              <a:t>are selected from the Nasic9395_1023 Real Dataset as the </a:t>
            </a:r>
            <a:r>
              <a:rPr lang="en-US" sz="1800" dirty="0">
                <a:solidFill>
                  <a:schemeClr val="accent2"/>
                </a:solidFill>
              </a:rPr>
              <a:t>ground truth</a:t>
            </a:r>
            <a:r>
              <a:rPr lang="en-US" sz="1800" dirty="0"/>
              <a:t>.</a:t>
            </a:r>
          </a:p>
          <a:p>
            <a:pPr lvl="1"/>
            <a:r>
              <a:rPr lang="en-US" sz="1800" b="1" dirty="0"/>
              <a:t>Synthetic wet fingerprint images</a:t>
            </a:r>
            <a:r>
              <a:rPr lang="en-US" sz="1800" dirty="0"/>
              <a:t> with </a:t>
            </a:r>
            <a:r>
              <a:rPr lang="en-US" sz="1800" dirty="0">
                <a:solidFill>
                  <a:schemeClr val="accent2"/>
                </a:solidFill>
              </a:rPr>
              <a:t>three humidity levels are generated using </a:t>
            </a:r>
            <a:r>
              <a:rPr lang="en-US" sz="1800" dirty="0" err="1">
                <a:solidFill>
                  <a:schemeClr val="accent2"/>
                </a:solidFill>
              </a:rPr>
              <a:t>CycleGAN</a:t>
            </a:r>
            <a:r>
              <a:rPr lang="en-US" sz="1800" dirty="0">
                <a:solidFill>
                  <a:schemeClr val="accent2"/>
                </a:solidFill>
              </a:rPr>
              <a:t>[17] </a:t>
            </a:r>
            <a:r>
              <a:rPr lang="en-US" sz="1800" dirty="0"/>
              <a:t>to serve as the model's </a:t>
            </a:r>
            <a:r>
              <a:rPr lang="en-US" sz="1800" dirty="0">
                <a:solidFill>
                  <a:schemeClr val="accent2"/>
                </a:solidFill>
              </a:rPr>
              <a:t>input</a:t>
            </a:r>
            <a:r>
              <a:rPr lang="en-US" sz="1800" dirty="0"/>
              <a:t>.</a:t>
            </a:r>
          </a:p>
          <a:p>
            <a:endParaRPr lang="en-US" altLang="zh-TW" sz="21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25FEE96-D11B-457D-B8B1-C8E3E10F8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540" y="3859278"/>
            <a:ext cx="7812000" cy="2635754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BEF4DA54-FB9F-4281-808A-D2C4F18FC9F4}"/>
              </a:ext>
            </a:extLst>
          </p:cNvPr>
          <p:cNvSpPr txBox="1"/>
          <p:nvPr/>
        </p:nvSpPr>
        <p:spPr>
          <a:xfrm>
            <a:off x="1" y="1571625"/>
            <a:ext cx="132397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[17] Zhu, Jun-Yan, et al. "Unpaired image-to-image translation using cycle-consistent adversarial networks." Proceedings of the IEEE international conference on computer vision. 2017.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B89BBC0-4B35-4E74-B79E-78C2B025850B}"/>
              </a:ext>
            </a:extLst>
          </p:cNvPr>
          <p:cNvSpPr txBox="1"/>
          <p:nvPr/>
        </p:nvSpPr>
        <p:spPr>
          <a:xfrm>
            <a:off x="1352550" y="6477000"/>
            <a:ext cx="7791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Figure 5.1 Overall Flow shows the generation process of Nasic9395_1023_v1_cyc_v2 dataset. </a:t>
            </a:r>
          </a:p>
        </p:txBody>
      </p:sp>
    </p:spTree>
    <p:extLst>
      <p:ext uri="{BB962C8B-B14F-4D97-AF65-F5344CB8AC3E}">
        <p14:creationId xmlns:p14="http://schemas.microsoft.com/office/powerpoint/2010/main" val="851057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8CF172-EC0F-4873-ACA6-56FAA3369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Datasets</a:t>
            </a:r>
            <a:br>
              <a:rPr lang="en-US" dirty="0"/>
            </a:br>
            <a:r>
              <a:rPr lang="en-US" sz="4000" dirty="0">
                <a:solidFill>
                  <a:srgbClr val="996633"/>
                </a:solidFill>
              </a:rPr>
              <a:t>Real Recognition Test Set</a:t>
            </a:r>
            <a:endParaRPr 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302FA7C-DEF3-4DE9-88CF-2EA7E141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solidFill>
                  <a:prstClr val="black"/>
                </a:solidFill>
              </a:rPr>
              <a:pPr/>
              <a:t>14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6F50FE9-7C44-4365-BA43-5402B59412C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/>
              <a:t>The </a:t>
            </a:r>
            <a:r>
              <a:rPr lang="en-US" altLang="zh-TW" sz="2000" b="1" dirty="0"/>
              <a:t>testset_nasic9395_v10.4 </a:t>
            </a:r>
            <a:r>
              <a:rPr lang="en-US" altLang="zh-TW" sz="2000" dirty="0"/>
              <a:t>is used as our </a:t>
            </a:r>
            <a:r>
              <a:rPr lang="en-US" altLang="zh-TW" sz="2000" dirty="0">
                <a:solidFill>
                  <a:schemeClr val="accent2"/>
                </a:solidFill>
              </a:rPr>
              <a:t>recognition testing set</a:t>
            </a:r>
            <a:r>
              <a:rPr lang="en-US" altLang="zh-TW" sz="2000" dirty="0"/>
              <a:t>.</a:t>
            </a:r>
          </a:p>
          <a:p>
            <a:pPr lvl="1"/>
            <a:r>
              <a:rPr lang="en-US" sz="1800" dirty="0"/>
              <a:t>Contains</a:t>
            </a:r>
            <a:r>
              <a:rPr lang="en-US" sz="1800" dirty="0">
                <a:solidFill>
                  <a:schemeClr val="accent2"/>
                </a:solidFill>
              </a:rPr>
              <a:t> 17 fingers</a:t>
            </a:r>
            <a:r>
              <a:rPr lang="en-US" sz="1800" dirty="0"/>
              <a:t>.</a:t>
            </a:r>
          </a:p>
          <a:p>
            <a:pPr lvl="1"/>
            <a:r>
              <a:rPr lang="en-US" altLang="zh-TW" sz="1800" b="1" dirty="0"/>
              <a:t>Enrollment set:</a:t>
            </a:r>
            <a:r>
              <a:rPr lang="en-US" altLang="zh-TW" sz="1800" dirty="0"/>
              <a:t> </a:t>
            </a:r>
            <a:r>
              <a:rPr lang="en-US" altLang="zh-TW" sz="1800" dirty="0">
                <a:solidFill>
                  <a:schemeClr val="accent2"/>
                </a:solidFill>
              </a:rPr>
              <a:t>740 clean fingerprint images</a:t>
            </a:r>
          </a:p>
          <a:p>
            <a:pPr lvl="1"/>
            <a:r>
              <a:rPr lang="en-US" altLang="zh-TW" sz="1800" b="1" dirty="0"/>
              <a:t>Identification set:</a:t>
            </a:r>
            <a:r>
              <a:rPr lang="en-US" altLang="zh-TW" sz="1800" dirty="0"/>
              <a:t> </a:t>
            </a:r>
            <a:r>
              <a:rPr lang="en-US" altLang="zh-TW" sz="1800" dirty="0">
                <a:solidFill>
                  <a:schemeClr val="accent2"/>
                </a:solidFill>
              </a:rPr>
              <a:t>984 wet fingerprint images</a:t>
            </a:r>
            <a:r>
              <a:rPr lang="en-US" altLang="zh-TW" sz="1800" dirty="0"/>
              <a:t>, categorized into </a:t>
            </a:r>
            <a:r>
              <a:rPr lang="en-US" altLang="zh-TW" sz="1800" dirty="0">
                <a:solidFill>
                  <a:schemeClr val="accent2"/>
                </a:solidFill>
              </a:rPr>
              <a:t>175 light-wet, 545 medium-wet, and 264 heavy-wet </a:t>
            </a:r>
            <a:r>
              <a:rPr lang="en-US" altLang="zh-TW" sz="1800" dirty="0"/>
              <a:t>fingerprints.</a:t>
            </a:r>
          </a:p>
          <a:p>
            <a:r>
              <a:rPr lang="en-US" altLang="zh-TW" sz="2000" dirty="0"/>
              <a:t>Tested with the same recognition tool as those in [1, 18]</a:t>
            </a:r>
          </a:p>
          <a:p>
            <a:pPr lvl="1"/>
            <a:r>
              <a:rPr lang="en-US" altLang="zh-TW" sz="1800" dirty="0"/>
              <a:t>Extracts </a:t>
            </a:r>
            <a:r>
              <a:rPr lang="en-US" altLang="zh-TW" sz="1800" dirty="0">
                <a:solidFill>
                  <a:schemeClr val="accent2"/>
                </a:solidFill>
              </a:rPr>
              <a:t>matches points </a:t>
            </a:r>
            <a:r>
              <a:rPr lang="en-US" altLang="zh-TW" sz="1800" dirty="0"/>
              <a:t>similar to Scale-Invariant Feature Transform (SIFT).</a:t>
            </a:r>
          </a:p>
        </p:txBody>
      </p:sp>
      <p:graphicFrame>
        <p:nvGraphicFramePr>
          <p:cNvPr id="9" name="表格 6">
            <a:extLst>
              <a:ext uri="{FF2B5EF4-FFF2-40B4-BE49-F238E27FC236}">
                <a16:creationId xmlns:a16="http://schemas.microsoft.com/office/drawing/2014/main" id="{38BF24D3-338E-460B-A3C4-8E11B7F53C12}"/>
              </a:ext>
            </a:extLst>
          </p:cNvPr>
          <p:cNvGraphicFramePr>
            <a:graphicFrameLocks noGrp="1"/>
          </p:cNvGraphicFramePr>
          <p:nvPr/>
        </p:nvGraphicFramePr>
        <p:xfrm>
          <a:off x="-12693" y="5108975"/>
          <a:ext cx="9169387" cy="14935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914715">
                  <a:extLst>
                    <a:ext uri="{9D8B030D-6E8A-4147-A177-3AD203B41FA5}">
                      <a16:colId xmlns:a16="http://schemas.microsoft.com/office/drawing/2014/main" val="128524851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3921484938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557537032"/>
                    </a:ext>
                  </a:extLst>
                </a:gridCol>
                <a:gridCol w="1035336">
                  <a:extLst>
                    <a:ext uri="{9D8B030D-6E8A-4147-A177-3AD203B41FA5}">
                      <a16:colId xmlns:a16="http://schemas.microsoft.com/office/drawing/2014/main" val="2436882188"/>
                    </a:ext>
                  </a:extLst>
                </a:gridCol>
                <a:gridCol w="1035336">
                  <a:extLst>
                    <a:ext uri="{9D8B030D-6E8A-4147-A177-3AD203B41FA5}">
                      <a16:colId xmlns:a16="http://schemas.microsoft.com/office/drawing/2014/main" val="2600637385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757229107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1734523430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98334070"/>
                    </a:ext>
                  </a:extLst>
                </a:gridCol>
              </a:tblGrid>
              <a:tr h="121526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Testset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Enroll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Identify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 enhancement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Restoration ability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4634557"/>
                  </a:ext>
                </a:extLst>
              </a:tr>
              <a:tr h="4976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#</a:t>
                      </a:r>
                      <a:r>
                        <a:rPr lang="zh-TW" altLang="en-US" sz="14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of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recognition</a:t>
                      </a:r>
                      <a:endParaRPr lang="zh-TW" altLang="en-US" sz="14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FRR(%)</a:t>
                      </a:r>
                      <a:endParaRPr lang="zh-TW" altLang="en-US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Light-wet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(175/17.78%)</a:t>
                      </a:r>
                      <a:endParaRPr lang="zh-TW" altLang="zh-TW" sz="1400" b="1" dirty="0"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Medium-wet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(545/55.39%)</a:t>
                      </a:r>
                      <a:endParaRPr lang="zh-TW" altLang="zh-TW" sz="1400" b="1" dirty="0"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Heavy-wet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(264/26.83%)</a:t>
                      </a:r>
                      <a:endParaRPr lang="zh-TW" altLang="zh-TW" sz="1400" b="1" dirty="0"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781813"/>
                  </a:ext>
                </a:extLst>
              </a:tr>
              <a:tr h="1546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dirty="0"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FRR(%)</a:t>
                      </a:r>
                      <a:endParaRPr lang="zh-TW" altLang="zh-TW" sz="1600" b="1" dirty="0"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dirty="0"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FRR(%)</a:t>
                      </a:r>
                      <a:endParaRPr lang="zh-TW" altLang="zh-TW" sz="1600" b="1" dirty="0"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dirty="0"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FRR(%)</a:t>
                      </a:r>
                      <a:endParaRPr lang="zh-TW" altLang="zh-TW" sz="1600" b="1" dirty="0">
                        <a:latin typeface="Calibri" panose="020F05020202040302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228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testset_nasic9395_v10.4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740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984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804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18.29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12.11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42.42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068173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5B4C4B61-2169-4847-9A84-EC03D774510D}"/>
              </a:ext>
            </a:extLst>
          </p:cNvPr>
          <p:cNvSpPr txBox="1"/>
          <p:nvPr/>
        </p:nvSpPr>
        <p:spPr>
          <a:xfrm>
            <a:off x="-9525" y="1552575"/>
            <a:ext cx="135255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[1] Hsieh, An-Ting, et al. "Feature Points based Residual </a:t>
            </a:r>
            <a:r>
              <a:rPr lang="en-US" sz="1000" dirty="0" err="1"/>
              <a:t>UNet</a:t>
            </a:r>
            <a:r>
              <a:rPr lang="en-US" sz="1000" dirty="0"/>
              <a:t> with Nonlinear Decay Rate for Partial Wet Fingerprint Restoration and Recognition." 2024 IEEE International Symposium on Circuits and Systems (ISCAS). IEEE, 2024.</a:t>
            </a:r>
          </a:p>
          <a:p>
            <a:r>
              <a:rPr lang="en-US" sz="1000" dirty="0"/>
              <a:t>[18] Li, Yu-Ting, et al. "PGT-Net: Progressive Guided Multi-task Neural Network for Small-area Wet Fingerprint Denoising and Recognition." </a:t>
            </a:r>
            <a:r>
              <a:rPr lang="en-US" sz="1000" dirty="0" err="1"/>
              <a:t>arXiv</a:t>
            </a:r>
            <a:r>
              <a:rPr lang="en-US" sz="1000" dirty="0"/>
              <a:t> preprint arXiv:2308.07024 (2023).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BEAD132-3289-40D4-8870-48283D37F851}"/>
              </a:ext>
            </a:extLst>
          </p:cNvPr>
          <p:cNvSpPr txBox="1"/>
          <p:nvPr/>
        </p:nvSpPr>
        <p:spPr>
          <a:xfrm>
            <a:off x="1343025" y="4810125"/>
            <a:ext cx="78009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Table 5.1. The recognition results of testset_nasic9395_v10.4 without enhancement by a model.</a:t>
            </a:r>
          </a:p>
        </p:txBody>
      </p:sp>
    </p:spTree>
    <p:extLst>
      <p:ext uri="{BB962C8B-B14F-4D97-AF65-F5344CB8AC3E}">
        <p14:creationId xmlns:p14="http://schemas.microsoft.com/office/powerpoint/2010/main" val="2461069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D32009-36A7-4601-B929-5BB1D1A57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04775"/>
            <a:ext cx="9143998" cy="990600"/>
          </a:xfrm>
        </p:spPr>
        <p:txBody>
          <a:bodyPr>
            <a:no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of All-in-One Model</a:t>
            </a:r>
            <a:b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Fingerprint Restoration for multiple level of humidity</a:t>
            </a:r>
            <a:endParaRPr lang="zh-TW" altLang="en-US" sz="3200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6CB3A75-DBA4-4FCD-9AD1-33A67B57050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335418" y="1600199"/>
            <a:ext cx="7808581" cy="5257801"/>
          </a:xfrm>
        </p:spPr>
        <p:txBody>
          <a:bodyPr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the effect for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All-in-one restoration method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with other restoration methods for multiple degradation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Models (IM):</a:t>
            </a:r>
          </a:p>
          <a:p>
            <a:pPr lvl="2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Trains a separate model for each degradation type, focusing on single types but struggles with multiple degradations.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Model (UM):</a:t>
            </a:r>
          </a:p>
          <a:p>
            <a:pPr lvl="2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a shared encoder-decoder architecture for all degradation types.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model (AM):</a:t>
            </a:r>
          </a:p>
          <a:p>
            <a:pPr lvl="2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known as the all-in-one model, it employs a contrastive encoder to adapt to various degradations and integrates them into a unified framework. (Ours)</a:t>
            </a:r>
          </a:p>
          <a:p>
            <a:endParaRPr lang="zh-TW" altLang="en-US" sz="20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4CF606C-812E-4702-9948-BFC87B546D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567"/>
          <a:stretch/>
        </p:blipFill>
        <p:spPr>
          <a:xfrm>
            <a:off x="118419" y="4833177"/>
            <a:ext cx="4040155" cy="196628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682F3B2-0871-4459-BD0F-858BA4EA4C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172"/>
          <a:stretch/>
        </p:blipFill>
        <p:spPr>
          <a:xfrm>
            <a:off x="4389955" y="4837256"/>
            <a:ext cx="4643966" cy="185388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EE2BBB-FC0B-418D-A278-72F54E055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BDD6D-0106-41F0-98FD-2D1AE062E9F7}" type="slidenum">
              <a:rPr lang="zh-TW" altLang="en-US" smtClean="0"/>
              <a:t>15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69720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D32009-36A7-4601-B929-5BB1D1A57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04775"/>
            <a:ext cx="9143998" cy="990600"/>
          </a:xfrm>
        </p:spPr>
        <p:txBody>
          <a:bodyPr>
            <a:no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of All-in-One Model</a:t>
            </a:r>
            <a:b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200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Fingerprint Restoration for multiple level of humidity</a:t>
            </a:r>
            <a:endParaRPr lang="zh-TW" altLang="en-US" sz="3200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6CB3A75-DBA4-4FCD-9AD1-33A67B57050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335418" y="1600199"/>
            <a:ext cx="7808581" cy="5257801"/>
          </a:xfrm>
        </p:spPr>
        <p:txBody>
          <a:bodyPr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All-in-One Model (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AiRDUNet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Outperforms IM and UM models.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the </a:t>
            </a:r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FRR (11.89%).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performance in medium-wet and heavy-wet conditions.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Slightly underperforms on light-wet fingerprints.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EE2BBB-FC0B-418D-A278-72F54E055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BDD6D-0106-41F0-98FD-2D1AE062E9F7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53B6638-F847-4F69-9E0B-2664E5E9A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379463"/>
            <a:ext cx="9144000" cy="293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904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D32009-36A7-4601-B929-5BB1D1A57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417" y="104775"/>
            <a:ext cx="7808581" cy="990600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Comparisons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6CB3A75-DBA4-4FCD-9AD1-33A67B57050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352551" y="2005835"/>
            <a:ext cx="7808581" cy="5257801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results on nasic9395_1023_v1_cyc_v2.</a:t>
            </a:r>
          </a:p>
          <a:p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AiRDUNet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Achieves the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overall FRR: 11.89%.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/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Medium-wet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FRR: </a:t>
            </a:r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6.61%.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(best among all)</a:t>
            </a:r>
          </a:p>
          <a:p>
            <a:pPr marL="742950" lvl="1" indent="-285750"/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Heavy-wet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FRR: </a:t>
            </a:r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30.30%.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(best among all)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Slightly underperforms in Light-wet: FRR: 0.57%.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TW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EE2BBB-FC0B-418D-A278-72F54E055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BDD6D-0106-41F0-98FD-2D1AE062E9F7}" type="slidenum">
              <a:rPr lang="zh-TW" altLang="en-US" smtClean="0"/>
              <a:t>17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7A4DFFD-3601-4868-8862-819D41A2A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54" y="4030548"/>
            <a:ext cx="9144000" cy="2722677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9C806B78-6A6F-AD58-893A-F08942C16205}"/>
              </a:ext>
            </a:extLst>
          </p:cNvPr>
          <p:cNvSpPr txBox="1"/>
          <p:nvPr/>
        </p:nvSpPr>
        <p:spPr>
          <a:xfrm>
            <a:off x="0" y="0"/>
            <a:ext cx="135255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[1] Hsieh, An-Ting, et al. "Feature Points based Residual </a:t>
            </a:r>
            <a:r>
              <a:rPr lang="en-US" sz="800" dirty="0" err="1"/>
              <a:t>UNet</a:t>
            </a:r>
            <a:r>
              <a:rPr lang="en-US" sz="800" dirty="0"/>
              <a:t> with Nonlinear Decay Rate for Partial Wet Fingerprint Restoration and Recognition." 2024 IEEE International Symposium on Circuits and Systems (ISCAS). IEEE, 2024.</a:t>
            </a:r>
          </a:p>
          <a:p>
            <a:r>
              <a:rPr lang="en-US" sz="800" dirty="0"/>
              <a:t>[8] Qian, Peng, </a:t>
            </a:r>
            <a:r>
              <a:rPr lang="en-US" sz="800" dirty="0" err="1"/>
              <a:t>Aojie</a:t>
            </a:r>
            <a:r>
              <a:rPr lang="en-US" sz="800" dirty="0"/>
              <a:t> Li, and Manhua Liu. "Latent fingerprint enhancement based on </a:t>
            </a:r>
            <a:r>
              <a:rPr lang="en-US" sz="800" dirty="0" err="1"/>
              <a:t>DenseUNet</a:t>
            </a:r>
            <a:r>
              <a:rPr lang="en-US" sz="800" dirty="0"/>
              <a:t>." 2019 international conference on biometrics (ICB). IEEE, 2019.</a:t>
            </a:r>
          </a:p>
          <a:p>
            <a:r>
              <a:rPr lang="en-US" sz="800" dirty="0"/>
              <a:t>[9] Shen, </a:t>
            </a:r>
            <a:r>
              <a:rPr lang="en-US" sz="800" dirty="0" err="1"/>
              <a:t>Zuolin</a:t>
            </a:r>
            <a:r>
              <a:rPr lang="en-US" sz="800" dirty="0"/>
              <a:t>, </a:t>
            </a:r>
            <a:r>
              <a:rPr lang="en-US" sz="800" dirty="0" err="1"/>
              <a:t>Yuanrong</a:t>
            </a:r>
            <a:r>
              <a:rPr lang="en-US" sz="800" dirty="0"/>
              <a:t> Xu, and </a:t>
            </a:r>
            <a:r>
              <a:rPr lang="en-US" sz="800" dirty="0" err="1"/>
              <a:t>Guangming</a:t>
            </a:r>
            <a:r>
              <a:rPr lang="en-US" sz="800" dirty="0"/>
              <a:t> Lu. "CNN-based high-resolution fingerprint image enhancement for pore detection and matching." 2019 IEEE Symposium Series on Computational Intelligence (SSCI). IEEE, 2019.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834CFE1-71B3-4B89-C60A-BFA1AD4376FE}"/>
              </a:ext>
            </a:extLst>
          </p:cNvPr>
          <p:cNvSpPr txBox="1"/>
          <p:nvPr/>
        </p:nvSpPr>
        <p:spPr>
          <a:xfrm>
            <a:off x="5153025" y="0"/>
            <a:ext cx="399097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[10] Cunha, </a:t>
            </a:r>
            <a:r>
              <a:rPr lang="en-US" sz="800" dirty="0" err="1"/>
              <a:t>Nailson</a:t>
            </a:r>
            <a:r>
              <a:rPr lang="en-US" sz="800" dirty="0"/>
              <a:t> Dos Santos, Herman Martins Gomes, and Leonardo Vidal Batista. "Residual M-net with Frequency-Domain Loss Function for Latent Fingerprint Enhancement." 2022 35th SIBGRAPI Conference on Graphics, Patterns and Images (SIBGRAPI). Vol. 1. IEEE, 2022.</a:t>
            </a:r>
          </a:p>
          <a:p>
            <a:r>
              <a:rPr lang="en-US" sz="800" dirty="0"/>
              <a:t>[18] Li, Yu-Ting, et al. "PGT-Net: Progressive Guided Multi-task Neural Network for Small-area Wet Fingerprint Denoising and Recognition." </a:t>
            </a:r>
            <a:r>
              <a:rPr lang="en-US" sz="800" dirty="0" err="1"/>
              <a:t>arXiv</a:t>
            </a:r>
            <a:r>
              <a:rPr lang="en-US" sz="800" dirty="0"/>
              <a:t> preprint arXiv:2308.07024 (2023).</a:t>
            </a:r>
          </a:p>
          <a:p>
            <a:r>
              <a:rPr lang="en-US" sz="800" dirty="0"/>
              <a:t>[30] </a:t>
            </a:r>
            <a:r>
              <a:rPr lang="en-US" sz="800" dirty="0" err="1"/>
              <a:t>Ronneberger</a:t>
            </a:r>
            <a:r>
              <a:rPr lang="en-US" sz="800" dirty="0"/>
              <a:t>, Olaf, Philipp Fischer, and Thomas </a:t>
            </a:r>
            <a:r>
              <a:rPr lang="en-US" sz="800" dirty="0" err="1"/>
              <a:t>Brox</a:t>
            </a:r>
            <a:r>
              <a:rPr lang="en-US" sz="800" dirty="0"/>
              <a:t>. "U-net: Convolutional networks for biomedical image segmentation." Medical image computing and computer-assisted intervention–MICCAI 2015: 18th international conference, Munich, Germany, October 5-9, 2015, proceedings, part III 18. Springer International Publishing, 2015.</a:t>
            </a:r>
          </a:p>
          <a:p>
            <a:r>
              <a:rPr lang="en-US" sz="800" dirty="0"/>
              <a:t>[31] Zamir, Syed Waqas, et al. "</a:t>
            </a:r>
            <a:r>
              <a:rPr lang="en-US" sz="800" dirty="0" err="1"/>
              <a:t>Restormer</a:t>
            </a:r>
            <a:r>
              <a:rPr lang="en-US" sz="800" dirty="0"/>
              <a:t>: Efficient transformer for high-resolution image restoration." Proceedings of the IEEE/CVF conference on computer vision and pattern recognition. 2022.</a:t>
            </a:r>
          </a:p>
          <a:p>
            <a:r>
              <a:rPr lang="en-US" sz="800" dirty="0"/>
              <a:t>[32] </a:t>
            </a:r>
            <a:r>
              <a:rPr lang="en-US" sz="800" dirty="0" err="1"/>
              <a:t>Adiga</a:t>
            </a:r>
            <a:r>
              <a:rPr lang="en-US" sz="800" dirty="0"/>
              <a:t> V, </a:t>
            </a:r>
            <a:r>
              <a:rPr lang="en-US" sz="800" dirty="0" err="1"/>
              <a:t>Sukesh</a:t>
            </a:r>
            <a:r>
              <a:rPr lang="en-US" sz="800" dirty="0"/>
              <a:t>, and Jayanthi </a:t>
            </a:r>
            <a:r>
              <a:rPr lang="en-US" sz="800" dirty="0" err="1"/>
              <a:t>Sivaswamy</a:t>
            </a:r>
            <a:r>
              <a:rPr lang="en-US" sz="800" dirty="0"/>
              <a:t>. "</a:t>
            </a:r>
            <a:r>
              <a:rPr lang="en-US" sz="800" dirty="0" err="1"/>
              <a:t>Fpd</a:t>
            </a:r>
            <a:r>
              <a:rPr lang="en-US" sz="800" dirty="0"/>
              <a:t>-m-net: Fingerprint image denoising and inpainting using m-net based convolutional neural networks." Inpainting and denoising challenges. Springer International Publishing, 2019.</a:t>
            </a:r>
          </a:p>
        </p:txBody>
      </p:sp>
    </p:spTree>
    <p:extLst>
      <p:ext uri="{BB962C8B-B14F-4D97-AF65-F5344CB8AC3E}">
        <p14:creationId xmlns:p14="http://schemas.microsoft.com/office/powerpoint/2010/main" val="2712746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FA02BC-ABF2-49AD-9D5E-8796BF326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Experimentals</a:t>
            </a:r>
            <a:br>
              <a:rPr lang="en-US" dirty="0"/>
            </a:br>
            <a:r>
              <a:rPr lang="en-US" sz="4000" dirty="0">
                <a:solidFill>
                  <a:srgbClr val="996633"/>
                </a:solidFill>
              </a:rPr>
              <a:t>Model Comparisons</a:t>
            </a:r>
            <a:endParaRPr lang="en-US" dirty="0">
              <a:solidFill>
                <a:srgbClr val="996633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D2C56BE-3278-47DD-9781-A0671C3D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solidFill>
                  <a:prstClr val="black"/>
                </a:solidFill>
              </a:rPr>
              <a:pPr/>
              <a:t>18</a:t>
            </a:fld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9BF0570F-AB9D-435C-995F-B2A29726904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followings are results comparison</a:t>
            </a:r>
            <a:r>
              <a:rPr lang="zh-TW" altLang="en-US" sz="2000" dirty="0"/>
              <a:t> </a:t>
            </a:r>
            <a:r>
              <a:rPr lang="en-US" altLang="zh-TW" sz="2000" dirty="0"/>
              <a:t>for restoration models</a:t>
            </a:r>
            <a:r>
              <a:rPr lang="en-US" sz="2000" dirty="0"/>
              <a:t>.</a:t>
            </a:r>
          </a:p>
          <a:p>
            <a:r>
              <a:rPr lang="en-US" sz="2000" dirty="0"/>
              <a:t>It is obvious that </a:t>
            </a:r>
            <a:r>
              <a:rPr lang="en-US" sz="2000" b="1" dirty="0" err="1"/>
              <a:t>AiRDUNet</a:t>
            </a:r>
            <a:r>
              <a:rPr lang="en-US" sz="2000" b="1" dirty="0"/>
              <a:t> </a:t>
            </a:r>
            <a:r>
              <a:rPr lang="en-US" sz="2000" dirty="0"/>
              <a:t>restores better on ridges. 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686EF8A-ACFA-45C8-82CA-FD530EBA38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954" y="4041912"/>
            <a:ext cx="342900" cy="16764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4543246-D138-46D2-AF35-426CE55CF8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339" y="2773015"/>
            <a:ext cx="342900" cy="16764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AE5D847-B967-4E22-B58E-21C8A5B8FF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2162" y="2773015"/>
            <a:ext cx="342900" cy="167640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7689D4E2-48D4-4D98-A2FE-079D6587E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966" y="2773015"/>
            <a:ext cx="342900" cy="167640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1DE79DBA-28EB-4EFB-9485-5733FAE5ED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041" y="2773015"/>
            <a:ext cx="342900" cy="167640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BDBA30F9-2A4D-48F4-B599-3E749E787B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5057" y="2773015"/>
            <a:ext cx="342900" cy="1676400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A57A4CC6-AB53-439B-ADF9-AFF2B7E14E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339" y="4916556"/>
            <a:ext cx="342900" cy="1676400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340D194C-70C9-456A-B74E-44621F59F53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2162" y="4916556"/>
            <a:ext cx="342900" cy="1676400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B270BB18-075F-4283-A426-27C3368A122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966" y="4916556"/>
            <a:ext cx="342900" cy="1676400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202CE112-76A9-4950-942E-F70C7F9EFE8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321" y="4916556"/>
            <a:ext cx="342900" cy="1676400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F939D747-C25D-4B43-8450-8F9E850F985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6009" y="4916556"/>
            <a:ext cx="733425" cy="1676400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9C9A271C-4549-4FAA-8506-6F2FEB1C1844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96" t="4156" r="25930" b="6661"/>
          <a:stretch/>
        </p:blipFill>
        <p:spPr>
          <a:xfrm>
            <a:off x="8013222" y="4854756"/>
            <a:ext cx="923869" cy="1800000"/>
          </a:xfrm>
          <a:prstGeom prst="rect">
            <a:avLst/>
          </a:prstGeom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A3A6F90B-41FF-49C0-934F-7DE5BD8619A9}"/>
              </a:ext>
            </a:extLst>
          </p:cNvPr>
          <p:cNvSpPr txBox="1"/>
          <p:nvPr/>
        </p:nvSpPr>
        <p:spPr>
          <a:xfrm>
            <a:off x="1133502" y="3304153"/>
            <a:ext cx="13198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b="1" dirty="0">
                <a:latin typeface="Calibri" panose="020F0502020204030204" pitchFamily="34" charset="0"/>
                <a:cs typeface="Calibri" panose="020F0502020204030204" pitchFamily="34" charset="0"/>
              </a:rPr>
              <a:t>Input 4_5_1405</a:t>
            </a:r>
          </a:p>
          <a:p>
            <a:pPr algn="ctr"/>
            <a:r>
              <a:rPr lang="en-US" altLang="zh-TW" sz="1400" b="1" dirty="0">
                <a:latin typeface="Calibri" panose="020F0502020204030204" pitchFamily="34" charset="0"/>
                <a:cs typeface="Calibri" panose="020F0502020204030204" pitchFamily="34" charset="0"/>
              </a:rPr>
              <a:t>(heavy-wet)</a:t>
            </a:r>
            <a:endParaRPr lang="zh-TW" alt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DF64FDA7-DD3A-4DAC-95FA-9076025CD1BA}"/>
              </a:ext>
            </a:extLst>
          </p:cNvPr>
          <p:cNvSpPr txBox="1"/>
          <p:nvPr/>
        </p:nvSpPr>
        <p:spPr>
          <a:xfrm>
            <a:off x="2421104" y="2421832"/>
            <a:ext cx="9273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Unet</a:t>
            </a:r>
            <a:r>
              <a:rPr lang="en-US" altLang="zh-TW" sz="1600" dirty="0">
                <a:latin typeface="Calibri" panose="020F0502020204030204" pitchFamily="34" charset="0"/>
                <a:cs typeface="Calibri" panose="020F0502020204030204" pitchFamily="34" charset="0"/>
              </a:rPr>
              <a:t>[30]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BAD545E1-3146-4EDB-B35B-C0BFF95DE46A}"/>
              </a:ext>
            </a:extLst>
          </p:cNvPr>
          <p:cNvSpPr txBox="1"/>
          <p:nvPr/>
        </p:nvSpPr>
        <p:spPr>
          <a:xfrm>
            <a:off x="6105394" y="2421832"/>
            <a:ext cx="13681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DenseUNet</a:t>
            </a:r>
            <a:r>
              <a:rPr lang="en-US" altLang="zh-TW" sz="1600" dirty="0">
                <a:latin typeface="Calibri" panose="020F0502020204030204" pitchFamily="34" charset="0"/>
                <a:cs typeface="Calibri" panose="020F0502020204030204" pitchFamily="34" charset="0"/>
              </a:rPr>
              <a:t>[8]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FE39A1B2-C431-494B-85BE-0CD00B040113}"/>
              </a:ext>
            </a:extLst>
          </p:cNvPr>
          <p:cNvSpPr txBox="1"/>
          <p:nvPr/>
        </p:nvSpPr>
        <p:spPr>
          <a:xfrm>
            <a:off x="4748244" y="2421832"/>
            <a:ext cx="14483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FPD-M-Net[32]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17B67471-5065-4550-B774-BAA8E87C299A}"/>
              </a:ext>
            </a:extLst>
          </p:cNvPr>
          <p:cNvSpPr txBox="1"/>
          <p:nvPr/>
        </p:nvSpPr>
        <p:spPr>
          <a:xfrm>
            <a:off x="2027760" y="4564147"/>
            <a:ext cx="17140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Residual Mnet[10]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072A60B1-0A43-4032-959C-889EE8BA218C}"/>
              </a:ext>
            </a:extLst>
          </p:cNvPr>
          <p:cNvSpPr txBox="1"/>
          <p:nvPr/>
        </p:nvSpPr>
        <p:spPr>
          <a:xfrm>
            <a:off x="4735612" y="4564147"/>
            <a:ext cx="14736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FPNResUNet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[1]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2F87B896-AEF7-486D-81DA-6209C9128956}"/>
              </a:ext>
            </a:extLst>
          </p:cNvPr>
          <p:cNvSpPr txBox="1"/>
          <p:nvPr/>
        </p:nvSpPr>
        <p:spPr>
          <a:xfrm>
            <a:off x="3565826" y="4564147"/>
            <a:ext cx="11555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PGTNet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[18]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A994A681-90F8-4979-88EC-1D247565D7A9}"/>
              </a:ext>
            </a:extLst>
          </p:cNvPr>
          <p:cNvSpPr txBox="1"/>
          <p:nvPr/>
        </p:nvSpPr>
        <p:spPr>
          <a:xfrm>
            <a:off x="7587137" y="2421832"/>
            <a:ext cx="10187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PFENet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[9]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B855E3FE-3799-45F7-BC8A-E50B29D96D55}"/>
              </a:ext>
            </a:extLst>
          </p:cNvPr>
          <p:cNvSpPr txBox="1"/>
          <p:nvPr/>
        </p:nvSpPr>
        <p:spPr>
          <a:xfrm>
            <a:off x="3446883" y="2421832"/>
            <a:ext cx="1393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Restormer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[31]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22B52CA-2DE3-46BC-A60D-ED2377B6EB67}"/>
              </a:ext>
            </a:extLst>
          </p:cNvPr>
          <p:cNvSpPr/>
          <p:nvPr/>
        </p:nvSpPr>
        <p:spPr>
          <a:xfrm>
            <a:off x="6624638" y="4564147"/>
            <a:ext cx="22676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TW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AiRDUNet</a:t>
            </a:r>
            <a:r>
              <a:rPr lang="en-US" altLang="zh-TW" sz="1600" dirty="0">
                <a:latin typeface="Calibri" panose="020F0502020204030204" pitchFamily="34" charset="0"/>
                <a:cs typeface="Calibri" panose="020F0502020204030204" pitchFamily="34" charset="0"/>
              </a:rPr>
              <a:t>(Ours)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6ACDC7D-7BF6-4334-8F61-6DCC29F961FA}"/>
              </a:ext>
            </a:extLst>
          </p:cNvPr>
          <p:cNvSpPr txBox="1"/>
          <p:nvPr/>
        </p:nvSpPr>
        <p:spPr>
          <a:xfrm>
            <a:off x="0" y="0"/>
            <a:ext cx="1352551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[1] Hsieh, An-Ting, et al. "Feature Points based Residual </a:t>
            </a:r>
            <a:r>
              <a:rPr lang="en-US" sz="800" dirty="0" err="1"/>
              <a:t>UNet</a:t>
            </a:r>
            <a:r>
              <a:rPr lang="en-US" sz="800" dirty="0"/>
              <a:t> with Nonlinear Decay Rate for Partial Wet Fingerprint Restoration and Recognition." 2024 IEEE International Symposium on Circuits and Systems (ISCAS). IEEE, 2024.</a:t>
            </a:r>
          </a:p>
          <a:p>
            <a:r>
              <a:rPr lang="en-US" sz="800" dirty="0"/>
              <a:t>[8] Qian, Peng, </a:t>
            </a:r>
            <a:r>
              <a:rPr lang="en-US" sz="800" dirty="0" err="1"/>
              <a:t>Aojie</a:t>
            </a:r>
            <a:r>
              <a:rPr lang="en-US" sz="800" dirty="0"/>
              <a:t> Li, and Manhua Liu. "Latent fingerprint enhancement based on </a:t>
            </a:r>
            <a:r>
              <a:rPr lang="en-US" sz="800" dirty="0" err="1"/>
              <a:t>DenseUNet</a:t>
            </a:r>
            <a:r>
              <a:rPr lang="en-US" sz="800" dirty="0"/>
              <a:t>." 2019 international conference on biometrics (ICB). IEEE, 2019.</a:t>
            </a:r>
          </a:p>
          <a:p>
            <a:r>
              <a:rPr lang="en-US" sz="800" dirty="0"/>
              <a:t>[9] Shen, </a:t>
            </a:r>
            <a:r>
              <a:rPr lang="en-US" sz="800" dirty="0" err="1"/>
              <a:t>Zuolin</a:t>
            </a:r>
            <a:r>
              <a:rPr lang="en-US" sz="800" dirty="0"/>
              <a:t>, </a:t>
            </a:r>
            <a:r>
              <a:rPr lang="en-US" sz="800" dirty="0" err="1"/>
              <a:t>Yuanrong</a:t>
            </a:r>
            <a:r>
              <a:rPr lang="en-US" sz="800" dirty="0"/>
              <a:t> Xu, and </a:t>
            </a:r>
            <a:r>
              <a:rPr lang="en-US" sz="800" dirty="0" err="1"/>
              <a:t>Guangming</a:t>
            </a:r>
            <a:r>
              <a:rPr lang="en-US" sz="800" dirty="0"/>
              <a:t> Lu. "CNN-based high-resolution fingerprint image enhancement for pore detection and matching." 2019 IEEE Symposium Series on Computational Intelligence (SSCI). IEEE, 2019.</a:t>
            </a:r>
          </a:p>
          <a:p>
            <a:r>
              <a:rPr lang="en-US" sz="800" dirty="0"/>
              <a:t>[10] Cunha, </a:t>
            </a:r>
            <a:r>
              <a:rPr lang="en-US" sz="800" dirty="0" err="1"/>
              <a:t>Nailson</a:t>
            </a:r>
            <a:r>
              <a:rPr lang="en-US" sz="800" dirty="0"/>
              <a:t> Dos Santos, Herman Martins Gomes, and Leonardo Vidal Batista. "Residual M-net with Frequency-Domain Loss Function for Latent Fingerprint Enhancement." 2022 35th SIBGRAPI Conference on Graphics, Patterns and Images (SIBGRAPI). Vol. 1. IEEE, 2022.</a:t>
            </a:r>
          </a:p>
          <a:p>
            <a:r>
              <a:rPr lang="en-US" sz="800" dirty="0"/>
              <a:t>[18] Li, Yu-Ting, et al. "PGT-Net: Progressive Guided Multi-task Neural Network for Small-area Wet Fingerprint Denoising and Recognition." </a:t>
            </a:r>
            <a:r>
              <a:rPr lang="en-US" sz="800" dirty="0" err="1"/>
              <a:t>arXiv</a:t>
            </a:r>
            <a:r>
              <a:rPr lang="en-US" sz="800" dirty="0"/>
              <a:t> preprint arXiv:2308.07024 (2023).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5BC8C3-4E8F-46A9-B096-2B8948805E1C}"/>
              </a:ext>
            </a:extLst>
          </p:cNvPr>
          <p:cNvSpPr/>
          <p:nvPr/>
        </p:nvSpPr>
        <p:spPr>
          <a:xfrm>
            <a:off x="5226340" y="0"/>
            <a:ext cx="391765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[30] </a:t>
            </a:r>
            <a:r>
              <a:rPr lang="en-US" sz="800" dirty="0" err="1"/>
              <a:t>Ronneberger</a:t>
            </a:r>
            <a:r>
              <a:rPr lang="en-US" sz="800" dirty="0"/>
              <a:t>, Olaf, Philipp Fischer, and Thomas </a:t>
            </a:r>
            <a:r>
              <a:rPr lang="en-US" sz="800" dirty="0" err="1"/>
              <a:t>Brox</a:t>
            </a:r>
            <a:r>
              <a:rPr lang="en-US" sz="800" dirty="0"/>
              <a:t>. "U-net: Convolutional networks for biomedical image segmentation." Medical image computing and computer-assisted intervention–MICCAI 2015: 18th international conference, Munich, Germany, October 5-9, 2015, proceedings, part III 18. Springer International Publishing, 2015.</a:t>
            </a:r>
          </a:p>
          <a:p>
            <a:r>
              <a:rPr lang="en-US" sz="800" dirty="0"/>
              <a:t>[31] Zamir, Syed Waqas, et al. "</a:t>
            </a:r>
            <a:r>
              <a:rPr lang="en-US" sz="800" dirty="0" err="1"/>
              <a:t>Restormer</a:t>
            </a:r>
            <a:r>
              <a:rPr lang="en-US" sz="800" dirty="0"/>
              <a:t>: Efficient transformer for high-resolution image restoration." Proceedings of the IEEE/CVF conference on computer vision and pattern recognition. 2022.</a:t>
            </a:r>
          </a:p>
          <a:p>
            <a:r>
              <a:rPr lang="en-US" sz="800" dirty="0"/>
              <a:t>[32] </a:t>
            </a:r>
            <a:r>
              <a:rPr lang="en-US" sz="800" dirty="0" err="1"/>
              <a:t>Adiga</a:t>
            </a:r>
            <a:r>
              <a:rPr lang="en-US" sz="800" dirty="0"/>
              <a:t> V, </a:t>
            </a:r>
            <a:r>
              <a:rPr lang="en-US" sz="800" dirty="0" err="1"/>
              <a:t>Sukesh</a:t>
            </a:r>
            <a:r>
              <a:rPr lang="en-US" sz="800" dirty="0"/>
              <a:t>, and Jayanthi </a:t>
            </a:r>
            <a:r>
              <a:rPr lang="en-US" sz="800" dirty="0" err="1"/>
              <a:t>Sivaswamy</a:t>
            </a:r>
            <a:r>
              <a:rPr lang="en-US" sz="800" dirty="0"/>
              <a:t>. "</a:t>
            </a:r>
            <a:r>
              <a:rPr lang="en-US" sz="800" dirty="0" err="1"/>
              <a:t>Fpd</a:t>
            </a:r>
            <a:r>
              <a:rPr lang="en-US" sz="800" dirty="0"/>
              <a:t>-m-net: Fingerprint image denoising and inpainting using m-net based convolutional neural networks." Inpainting and denoising challenges. Springer International Publishing, 2019.</a:t>
            </a:r>
          </a:p>
        </p:txBody>
      </p:sp>
    </p:spTree>
    <p:extLst>
      <p:ext uri="{BB962C8B-B14F-4D97-AF65-F5344CB8AC3E}">
        <p14:creationId xmlns:p14="http://schemas.microsoft.com/office/powerpoint/2010/main" val="61359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D32009-36A7-4601-B929-5BB1D1A57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417" y="104775"/>
            <a:ext cx="7808582" cy="990600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6CB3A75-DBA4-4FCD-9AD1-33A67B57050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335418" y="1600199"/>
            <a:ext cx="7808581" cy="5257801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WFQA Framework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to assess </a:t>
            </a: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partial wet fingerprints</a:t>
            </a:r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humidity levels.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Extracts </a:t>
            </a: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humidity-related feature</a:t>
            </a:r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index.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KNN classifier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categorize fingerprints into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Light-wet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Medium-wet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Heavy-wet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AiRDUNet Model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all-in-one residual dense network</a:t>
            </a:r>
            <a:r>
              <a:rPr kumimoji="0" lang="en-US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</a:t>
            </a: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restoring partial wet fingerprints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under different humidity conditions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Combines:</a:t>
            </a:r>
          </a:p>
          <a:p>
            <a:pPr lvl="1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Humidity degradation embeddings</a:t>
            </a:r>
            <a:r>
              <a:rPr kumimoji="0" lang="en-US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zh-TW" altLang="zh-TW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Restored feature representations</a:t>
            </a:r>
            <a:r>
              <a:rPr kumimoji="0" lang="en-US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zh-TW" altLang="zh-TW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Gains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4.24% FRR improvement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via residual dense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2.20% improvement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CHDE + DGB</a:t>
            </a: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8.41% total improvement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zh-TW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ts val="21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AiRDUNet </a:t>
            </a:r>
            <a:r>
              <a:rPr kumimoji="0" lang="zh-TW" altLang="zh-TW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outperforms prior models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partial we </a:t>
            </a: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Fingerprint restoration</a:t>
            </a:r>
            <a:r>
              <a:rPr kumimoji="0" lang="en-US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EE2BBB-FC0B-418D-A278-72F54E055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BDD6D-0106-41F0-98FD-2D1AE062E9F7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6605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8A3B4F7-0A7C-412C-BCDE-3412154A7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BDD6D-0106-41F0-98FD-2D1AE062E9F7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90E2676D-3D07-4B84-BE77-97BC891F36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811F22-A818-4F01-BA3F-3C1A7EC80E6C}"/>
              </a:ext>
            </a:extLst>
          </p:cNvPr>
          <p:cNvSpPr/>
          <p:nvPr/>
        </p:nvSpPr>
        <p:spPr>
          <a:xfrm>
            <a:off x="0" y="2583426"/>
            <a:ext cx="9144000" cy="1691148"/>
          </a:xfrm>
          <a:prstGeom prst="rect">
            <a:avLst/>
          </a:prstGeom>
          <a:solidFill>
            <a:srgbClr val="D63838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083683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中庸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佈景主題1" id="{E3CE6274-C9CE-4778-9896-F19AD43A9D06}" vid="{42C0DA8D-BC95-47F2-B308-34DCCF4C6F09}"/>
    </a:ext>
  </a:extLst>
</a:theme>
</file>

<file path=ppt/theme/theme2.xml><?xml version="1.0" encoding="utf-8"?>
<a:theme xmlns:a="http://schemas.openxmlformats.org/drawingml/2006/main" name="3_NTHU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85064</TotalTime>
  <Words>2504</Words>
  <Application>Microsoft Office PowerPoint</Application>
  <PresentationFormat>如螢幕大小 (4:3)</PresentationFormat>
  <Paragraphs>246</Paragraphs>
  <Slides>20</Slides>
  <Notes>3</Notes>
  <HiddenSlides>0</HiddenSlides>
  <MMClips>1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20</vt:i4>
      </vt:variant>
    </vt:vector>
  </HeadingPairs>
  <TitlesOfParts>
    <vt:vector size="29" baseType="lpstr">
      <vt:lpstr>Noto Sans Symbols</vt:lpstr>
      <vt:lpstr>Arial</vt:lpstr>
      <vt:lpstr>Calibri</vt:lpstr>
      <vt:lpstr>Cambria Math</vt:lpstr>
      <vt:lpstr>Times New Roman</vt:lpstr>
      <vt:lpstr>Wingdings</vt:lpstr>
      <vt:lpstr>Wingdings 2</vt:lpstr>
      <vt:lpstr>佈景主題1</vt:lpstr>
      <vt:lpstr>3_NTHU</vt:lpstr>
      <vt:lpstr>AiRDUNet: All-In-One Residual Dense U-Net with Automated Humidity Quality Assessment for Partial Wet Fingerprint Restoration and Recognition</vt:lpstr>
      <vt:lpstr>Outline</vt:lpstr>
      <vt:lpstr>Introduction Background</vt:lpstr>
      <vt:lpstr>Introduction Background</vt:lpstr>
      <vt:lpstr>Introduction Goal</vt:lpstr>
      <vt:lpstr>Wet Fingerprint Quality Automated Assessment Overall Flow Chart</vt:lpstr>
      <vt:lpstr>All-in-one Residual Dense-Unet(AiRDUNet)  DataFlow Chart</vt:lpstr>
      <vt:lpstr>All-in-one Residual Dense-UNet  Detail Architecture</vt:lpstr>
      <vt:lpstr>All-in-one Residual Dense-UNet Humidity Degradation Embedding Task</vt:lpstr>
      <vt:lpstr>All-in-one Residual Dense-UNet Restoration Task</vt:lpstr>
      <vt:lpstr>Datasets Humidity Quality Assessment Test Set</vt:lpstr>
      <vt:lpstr>Datasets Real Fingerprint Data Set Collection</vt:lpstr>
      <vt:lpstr>Datasets Synthetic aligned Train Set</vt:lpstr>
      <vt:lpstr>Datasets Real Recognition Test Set</vt:lpstr>
      <vt:lpstr>Effect of All-in-One Model Fingerprint Restoration for multiple level of humidity</vt:lpstr>
      <vt:lpstr>Effect of All-in-One Model Fingerprint Restoration for multiple level of humidity</vt:lpstr>
      <vt:lpstr>Experimental Results Model Comparisons</vt:lpstr>
      <vt:lpstr>Experimentals Model Comparisons</vt:lpstr>
      <vt:lpstr>Conclusion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journey5320</dc:creator>
  <cp:lastModifiedBy>nasic733@outlook.com</cp:lastModifiedBy>
  <cp:revision>3255</cp:revision>
  <dcterms:created xsi:type="dcterms:W3CDTF">2021-07-05T07:09:06Z</dcterms:created>
  <dcterms:modified xsi:type="dcterms:W3CDTF">2025-04-28T04:37:15Z</dcterms:modified>
</cp:coreProperties>
</file>
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4" r:id="rId3"/>
    <p:sldId id="293" r:id="rId4"/>
    <p:sldId id="304" r:id="rId5"/>
    <p:sldId id="309" r:id="rId6"/>
    <p:sldId id="310" r:id="rId7"/>
    <p:sldId id="312" r:id="rId8"/>
    <p:sldId id="307" r:id="rId9"/>
    <p:sldId id="311" r:id="rId10"/>
    <p:sldId id="305" r:id="rId11"/>
    <p:sldId id="306" r:id="rId12"/>
    <p:sldId id="301" r:id="rId13"/>
    <p:sldId id="308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79058" autoAdjust="0"/>
  </p:normalViewPr>
  <p:slideViewPr>
    <p:cSldViewPr snapToGrid="0">
      <p:cViewPr varScale="1">
        <p:scale>
          <a:sx n="130" d="100"/>
          <a:sy n="130" d="100"/>
        </p:scale>
        <p:origin x="142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BCA0-3CCF-D446-A150-6C6D3D40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58AC8-E073-9D05-2FD8-6E52543BD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2813607-E868-B5BC-36F5-51745DA4E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0E4FD7-DE13-7C30-0DE2-5E9E9F4A9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8429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AA33-87C5-26B5-830A-9608F07E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2C0AAF-CCFB-C619-2FE5-CE0C131D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C961B9-B612-6535-A0F8-383C83766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071AA4-296D-FAD5-0C29-4F834A387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799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4EC7B-AB5E-C809-6CC7-2B23CD50B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8957AAA-2E28-8BC9-D294-689DD55F9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07AE6E-C288-5EA9-0745-B02BA6774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BAF513-A519-341D-7285-D29749FBB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1481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B0A6F-0B32-3CE6-64E8-0CA1657E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8CC11BE-D828-6530-A73B-67F54F5EF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2DCA59-A566-8C14-ADF7-D91FF892E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639E47-AC7F-5FD6-097B-B336C7F2B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2805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04D48-2CFA-617C-F527-28903EDD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5820ED-031F-250B-E684-E004621B9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5EA28F-A3E2-3485-32BF-FF24A9D60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729200-FA76-6F77-4532-278D357C5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59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136C2-DF43-00B2-66C5-FBF7F6BAD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969A84-BC11-EEB6-BD98-14B798F4E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BF1CE5-118E-C198-3DDD-F05D93F1A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L2 Regularization: </a:t>
            </a:r>
            <a:r>
              <a:rPr lang="zh-TW" altLang="en-US" dirty="0"/>
              <a:t>在計算 </a:t>
            </a:r>
            <a:r>
              <a:rPr lang="en-US" altLang="zh-TW"/>
              <a:t>Loss </a:t>
            </a:r>
            <a:r>
              <a:rPr lang="zh-TW" altLang="en-US"/>
              <a:t>的</a:t>
            </a:r>
            <a:r>
              <a:rPr lang="zh-TW" altLang="en-US" dirty="0"/>
              <a:t>時候會加上 </a:t>
            </a:r>
            <a:r>
              <a:rPr lang="en-US" altLang="zh-TW" dirty="0"/>
              <a:t>weight</a:t>
            </a:r>
            <a:r>
              <a:rPr lang="zh-TW" altLang="en-US" dirty="0"/>
              <a:t> 的 </a:t>
            </a:r>
            <a:r>
              <a:rPr lang="en-US" altLang="zh-TW" dirty="0"/>
              <a:t>L2 norm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82EABD-1B63-6E9C-3F59-4696F0548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55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24AF3-7902-C14F-8A5C-CF5AA6A1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51DDA5B-97DF-0B46-7953-8664F8F3C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8C09D3D-C38A-7543-6E4E-FDFF31739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CF65B2-1C29-616B-72F8-D14C80E18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6270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1D5E8-8808-8EA4-D5BC-36297C868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3B4C712-D576-42FE-BDCA-5CB68DFD8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CEE9CE4-2339-146A-2338-37F67F518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76C6F9-45A4-2C16-204F-55535F01C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2589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DC770-E7C2-76D7-D69F-70489186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FADE19-2D54-CDA3-0427-25CB24526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EF94003-F12B-4358-1C21-2477080F2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0DEE48-1A9A-F5CB-57F4-46AB927D6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1275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CE3A-07B3-925B-3F06-D2786EC3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0315BD5-1006-53B3-454C-E04E1AEA6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0CD0B8-98AB-9361-2A12-9082A719F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3FAEEE-E48C-4074-9283-394917E8B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838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2D9FA-DF6C-1938-AC3D-1D5E96F4C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3517A49-85A7-17CF-583E-BCE56CEB6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AADF9AA-570E-D4E0-9A20-96577FB5D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3A2586-A7E9-6B9E-B9C9-7E7561352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067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1/20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個人咪挺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result of changing optimizer and </a:t>
            </a:r>
            <a:r>
              <a:rPr lang="en-US" altLang="zh-TW" sz="3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lr_scheduler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E5C7-FE58-08CD-2036-B5D6A29D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85660A-F695-8372-C46E-366B5551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8CDE5A-DBF3-6E85-B764-685669941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Adam(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1e-4)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</a:p>
          <a:p>
            <a:pPr lvl="1">
              <a:buFont typeface="PMingLiU" panose="02020500000000000000" pitchFamily="18" charset="-120"/>
              <a:buChar char="。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SGD(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0.01,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weight_decay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1e-4) +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CosineAnnealingLR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518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CD5E-48F8-CF79-9AC0-99CFF0BD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226F454C-C7E4-8EE6-65B1-7FAA6F543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6096000" cy="4572000"/>
          </a:xfrm>
          <a:prstGeom prst="rect">
            <a:avLst/>
          </a:prstGeom>
        </p:spPr>
      </p:pic>
      <p:pic>
        <p:nvPicPr>
          <p:cNvPr id="7" name="圖片 6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82D9F924-27A4-DC43-A18C-0EA8E7BF9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5FDAF66-5C5C-7994-E3F6-DD35DB40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Large)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771BFF8-B42E-01F1-7BFE-A86E007912E5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DF6124-0C2C-75AD-9483-D3A2A49A0D6E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5211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27CF7-0C4C-3A10-169A-6EA206AE7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C3689D-63A8-C525-67C1-3E170937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字型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F494471A-E411-E586-D7D4-92BF2B632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75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6583A-EF65-59DE-92C5-92E099A4E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79E807BB-F280-0C92-6A8D-813137D3E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6096000" cy="4572000"/>
          </a:xfrm>
          <a:prstGeom prst="rect">
            <a:avLst/>
          </a:prstGeom>
        </p:spPr>
      </p:pic>
      <p:pic>
        <p:nvPicPr>
          <p:cNvPr id="10" name="圖片 9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ED040EC4-606A-1E16-F0F8-059F520CD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7704771-5318-D27D-735C-08CAA7FE3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Small)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C74274A-C6A4-E063-D223-760047650444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C551FC4-9EEF-9BA3-5966-A7D2AF7BB4EE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1131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79EC7-C713-303D-AAF4-C07F5A873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FF9A33-F33C-6614-27BB-F3ECFABEF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繪圖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14E6EB02-8075-BF50-AF73-3A361AA12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43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F07A19-5D1B-CFA4-20B5-3A570EDB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FCF568F-AE0D-8257-090C-B6E378117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00559"/>
              </p:ext>
            </p:extLst>
          </p:nvPr>
        </p:nvGraphicFramePr>
        <p:xfrm>
          <a:off x="783296" y="1417764"/>
          <a:ext cx="7946844" cy="2767474"/>
        </p:xfrm>
        <a:graphic>
          <a:graphicData uri="http://schemas.openxmlformats.org/drawingml/2006/table">
            <a:tbl>
              <a:tblPr/>
              <a:tblGrid>
                <a:gridCol w="1525639">
                  <a:extLst>
                    <a:ext uri="{9D8B030D-6E8A-4147-A177-3AD203B41FA5}">
                      <a16:colId xmlns:a16="http://schemas.microsoft.com/office/drawing/2014/main" val="1384698806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2228614201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823836298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4208677224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2416381686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468662118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2753812439"/>
                    </a:ext>
                  </a:extLst>
                </a:gridCol>
                <a:gridCol w="917315">
                  <a:extLst>
                    <a:ext uri="{9D8B030D-6E8A-4147-A177-3AD203B41FA5}">
                      <a16:colId xmlns:a16="http://schemas.microsoft.com/office/drawing/2014/main" val="3171745748"/>
                    </a:ext>
                  </a:extLst>
                </a:gridCol>
              </a:tblGrid>
              <a:tr h="41100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521655"/>
                  </a:ext>
                </a:extLst>
              </a:tr>
              <a:tr h="5188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Adam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69.23%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80.54%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94.12%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54.75%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91.40%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72.85%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89.59%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543079"/>
                  </a:ext>
                </a:extLst>
              </a:tr>
              <a:tr h="5188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Adam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66.06%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65.61%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63.80%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70.59%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71.95%</a:t>
                      </a:r>
                      <a:endParaRPr lang="zh-TW" alt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80.09%</a:t>
                      </a:r>
                      <a:endParaRPr lang="zh-TW" alt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85.07%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569107"/>
                  </a:ext>
                </a:extLst>
              </a:tr>
              <a:tr h="47995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SGD +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73.30%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85.52%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76.92%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84.62%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88.24%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93.21%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93.21%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049186"/>
                  </a:ext>
                </a:extLst>
              </a:tr>
              <a:tr h="47995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SGD +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81.00%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88.24%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88.24%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81.00%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92.31%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95.48%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93.67%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200730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648501"/>
              </p:ext>
            </p:extLst>
          </p:nvPr>
        </p:nvGraphicFramePr>
        <p:xfrm>
          <a:off x="774145" y="4265529"/>
          <a:ext cx="7955995" cy="2389433"/>
        </p:xfrm>
        <a:graphic>
          <a:graphicData uri="http://schemas.openxmlformats.org/drawingml/2006/table">
            <a:tbl>
              <a:tblPr/>
              <a:tblGrid>
                <a:gridCol w="152451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3215742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3215742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Adam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94.12%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Adam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85.07%</a:t>
                      </a:r>
                      <a:endParaRPr lang="zh-TW" alt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SGD +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96.38%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7103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SGD +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95.48%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166412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4EAC292-817A-0F94-781A-98D4CBE587A7}"/>
              </a:ext>
            </a:extLst>
          </p:cNvPr>
          <p:cNvSpPr txBox="1"/>
          <p:nvPr/>
        </p:nvSpPr>
        <p:spPr>
          <a:xfrm>
            <a:off x="8785373" y="2113033"/>
            <a:ext cx="23703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zh-TW" sz="1800" b="0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Blue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Performance of the Teacher checkpoint used for KD.</a:t>
            </a:r>
          </a:p>
          <a:p>
            <a:pPr rtl="0">
              <a:buNone/>
            </a:pPr>
            <a:endParaRPr lang="en-US" altLang="zh-TW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rtl="0">
              <a:buNone/>
            </a:pPr>
            <a:r>
              <a:rPr lang="en-US" altLang="zh-TW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Red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Best Performance in the performance trend table</a:t>
            </a:r>
            <a:endParaRPr lang="en-US" altLang="zh-TW" b="0" dirty="0">
              <a:effectLst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FEAB6893-E564-E735-B801-3644C6318ECC}"/>
              </a:ext>
            </a:extLst>
          </p:cNvPr>
          <p:cNvCxnSpPr>
            <a:cxnSpLocks/>
          </p:cNvCxnSpPr>
          <p:nvPr/>
        </p:nvCxnSpPr>
        <p:spPr>
          <a:xfrm>
            <a:off x="783296" y="1427353"/>
            <a:ext cx="1518374" cy="6045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6BFE6D76-D9E1-2FE8-19D7-0A26829FCBC8}"/>
              </a:ext>
            </a:extLst>
          </p:cNvPr>
          <p:cNvSpPr txBox="1"/>
          <p:nvPr/>
        </p:nvSpPr>
        <p:spPr>
          <a:xfrm>
            <a:off x="8785373" y="5137079"/>
            <a:ext cx="3022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zh-TW" b="0" dirty="0">
                <a:effectLst/>
              </a:rPr>
              <a:t>HLCFN </a:t>
            </a:r>
          </a:p>
          <a:p>
            <a:pPr rtl="0">
              <a:buNone/>
            </a:pPr>
            <a:r>
              <a:rPr lang="en-US" altLang="zh-TW" b="0" dirty="0">
                <a:effectLst/>
              </a:rPr>
              <a:t>best performance: 94.57%</a:t>
            </a: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BA47-CF4A-2CFB-6107-88B9DB413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823A-D40B-1343-6C29-0085EC28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Reason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CA56E3-0FE7-83BC-525F-A334137BB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SGD configuration included “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weight_decay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can prevent overfitting by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 Regularization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SGD tends to converge to Flat Minima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ensures the model is more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roburt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slight variations in testing data</a:t>
            </a: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lr_scheduler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allowed SGD to explore the loss landscape broadly in the early stage 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finetune the weights with high precision</a:t>
            </a:r>
          </a:p>
        </p:txBody>
      </p:sp>
    </p:spTree>
    <p:extLst>
      <p:ext uri="{BB962C8B-B14F-4D97-AF65-F5344CB8AC3E}">
        <p14:creationId xmlns:p14="http://schemas.microsoft.com/office/powerpoint/2010/main" val="1245755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F71AB-6432-1C9D-1932-FA9B4772B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DB6877-83A5-E0C3-3B41-8700E9D5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Re-train with New Teacher Checkpoint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EC86DD-94F9-F698-E93E-BA87156F9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SGD(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1e-4,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weight_decay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1e-4) +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BCEWithLogitsLoss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CosineAnnealingLR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7e-5, lambda = 0.5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factor[‘BCE’] = factor[‘MGD’] = 1.0, factor[‘logit’] = 1.5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MobileNet_V3_Large as teacher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MobileNet_V3_Small as student model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of teacher model checkpoint is 96.38% (TDR@FDR=1%)</a:t>
            </a:r>
          </a:p>
        </p:txBody>
      </p:sp>
    </p:spTree>
    <p:extLst>
      <p:ext uri="{BB962C8B-B14F-4D97-AF65-F5344CB8AC3E}">
        <p14:creationId xmlns:p14="http://schemas.microsoft.com/office/powerpoint/2010/main" val="243100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8A8E3-C4AF-ABB6-FE87-D0CC6822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一張含有 文字, 螢幕擷取畫面, 繪圖, 行 的圖片&#10;&#10;AI 產生的內容可能不正確。">
            <a:extLst>
              <a:ext uri="{FF2B5EF4-FFF2-40B4-BE49-F238E27FC236}">
                <a16:creationId xmlns:a16="http://schemas.microsoft.com/office/drawing/2014/main" id="{B89EF743-CB67-9610-815B-C3895B48B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6096000" cy="4572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D9935CC-08A9-A403-E8F5-34D86FE17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0688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1A3A73A-1B0F-1189-D39D-66BEF051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(MGD + logit KD)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E364B97-9400-8ECE-4893-0A85ED492867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49BDCD3-B3C8-ABEE-6C7E-D340EEEAEA4A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0531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896B1-9F93-A808-D5D7-47A456373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E92728-4D1E-4630-5D40-47F5C1E4D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字型, 繪圖 的圖片&#10;&#10;AI 產生的內容可能不正確。">
            <a:extLst>
              <a:ext uri="{FF2B5EF4-FFF2-40B4-BE49-F238E27FC236}">
                <a16:creationId xmlns:a16="http://schemas.microsoft.com/office/drawing/2014/main" id="{6B774D55-7DC7-97B7-441B-209C7EA38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25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DFB3A-76CE-7B99-745D-1D959131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35E48-7C99-5711-E8F0-37150E1BF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ECEC04C-C2AB-5853-830A-59FE73A0C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01468"/>
              </p:ext>
            </p:extLst>
          </p:nvPr>
        </p:nvGraphicFramePr>
        <p:xfrm>
          <a:off x="1957675" y="2148371"/>
          <a:ext cx="7854790" cy="1729740"/>
        </p:xfrm>
        <a:graphic>
          <a:graphicData uri="http://schemas.openxmlformats.org/drawingml/2006/table">
            <a:tbl>
              <a:tblPr/>
              <a:tblGrid>
                <a:gridCol w="1507967">
                  <a:extLst>
                    <a:ext uri="{9D8B030D-6E8A-4147-A177-3AD203B41FA5}">
                      <a16:colId xmlns:a16="http://schemas.microsoft.com/office/drawing/2014/main" val="1384698806"/>
                    </a:ext>
                  </a:extLst>
                </a:gridCol>
                <a:gridCol w="906689">
                  <a:extLst>
                    <a:ext uri="{9D8B030D-6E8A-4147-A177-3AD203B41FA5}">
                      <a16:colId xmlns:a16="http://schemas.microsoft.com/office/drawing/2014/main" val="2228614201"/>
                    </a:ext>
                  </a:extLst>
                </a:gridCol>
                <a:gridCol w="906689">
                  <a:extLst>
                    <a:ext uri="{9D8B030D-6E8A-4147-A177-3AD203B41FA5}">
                      <a16:colId xmlns:a16="http://schemas.microsoft.com/office/drawing/2014/main" val="823836298"/>
                    </a:ext>
                  </a:extLst>
                </a:gridCol>
                <a:gridCol w="906689">
                  <a:extLst>
                    <a:ext uri="{9D8B030D-6E8A-4147-A177-3AD203B41FA5}">
                      <a16:colId xmlns:a16="http://schemas.microsoft.com/office/drawing/2014/main" val="4208677224"/>
                    </a:ext>
                  </a:extLst>
                </a:gridCol>
                <a:gridCol w="906689">
                  <a:extLst>
                    <a:ext uri="{9D8B030D-6E8A-4147-A177-3AD203B41FA5}">
                      <a16:colId xmlns:a16="http://schemas.microsoft.com/office/drawing/2014/main" val="2416381686"/>
                    </a:ext>
                  </a:extLst>
                </a:gridCol>
                <a:gridCol w="906689">
                  <a:extLst>
                    <a:ext uri="{9D8B030D-6E8A-4147-A177-3AD203B41FA5}">
                      <a16:colId xmlns:a16="http://schemas.microsoft.com/office/drawing/2014/main" val="468662118"/>
                    </a:ext>
                  </a:extLst>
                </a:gridCol>
                <a:gridCol w="906689">
                  <a:extLst>
                    <a:ext uri="{9D8B030D-6E8A-4147-A177-3AD203B41FA5}">
                      <a16:colId xmlns:a16="http://schemas.microsoft.com/office/drawing/2014/main" val="2753812439"/>
                    </a:ext>
                  </a:extLst>
                </a:gridCol>
                <a:gridCol w="906689">
                  <a:extLst>
                    <a:ext uri="{9D8B030D-6E8A-4147-A177-3AD203B41FA5}">
                      <a16:colId xmlns:a16="http://schemas.microsoft.com/office/drawing/2014/main" val="3171745748"/>
                    </a:ext>
                  </a:extLst>
                </a:gridCol>
              </a:tblGrid>
              <a:tr h="41100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zh-TW" alt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zh-TW" alt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521655"/>
                  </a:ext>
                </a:extLst>
              </a:tr>
              <a:tr h="47995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+ Logit KD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78.73%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78.28%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85.97%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86.43%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89.14%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87.33%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86.88%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049186"/>
                  </a:ext>
                </a:extLst>
              </a:tr>
              <a:tr h="47995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+ Logit KD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SGD + </a:t>
                      </a:r>
                      <a:r>
                        <a:rPr lang="en-US" altLang="zh-TW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</a:t>
                      </a:r>
                      <a:endParaRPr lang="en-US" altLang="zh-TW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61.09%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92.76%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74.66%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92.31%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91.86%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94.57%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93.67%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200730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A8FE433C-2405-D874-A4DB-E99A1D680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9055BD5-E346-3469-AC20-30415833D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697319"/>
              </p:ext>
            </p:extLst>
          </p:nvPr>
        </p:nvGraphicFramePr>
        <p:xfrm>
          <a:off x="1957675" y="4139287"/>
          <a:ext cx="7854789" cy="1551113"/>
        </p:xfrm>
        <a:graphic>
          <a:graphicData uri="http://schemas.openxmlformats.org/drawingml/2006/table">
            <a:tbl>
              <a:tblPr/>
              <a:tblGrid>
                <a:gridCol w="1509117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3172836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3172836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+ Logit KD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91.40%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7103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+ Logit KD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SGD + </a:t>
                      </a:r>
                      <a:r>
                        <a:rPr lang="en-US" altLang="zh-TW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</a:t>
                      </a:r>
                      <a:endParaRPr lang="en-US" altLang="zh-TW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94.57%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166412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609C26A0-D835-C988-837E-2ED178E19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A66B501-51A0-C678-171C-4FDC4C1AB21D}"/>
              </a:ext>
            </a:extLst>
          </p:cNvPr>
          <p:cNvCxnSpPr>
            <a:cxnSpLocks/>
          </p:cNvCxnSpPr>
          <p:nvPr/>
        </p:nvCxnSpPr>
        <p:spPr>
          <a:xfrm>
            <a:off x="1957675" y="2163230"/>
            <a:ext cx="1509680" cy="60402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9AEDE96-CA29-9C1D-3E0A-62EA0A201CF0}"/>
              </a:ext>
            </a:extLst>
          </p:cNvPr>
          <p:cNvSpPr txBox="1"/>
          <p:nvPr/>
        </p:nvSpPr>
        <p:spPr>
          <a:xfrm>
            <a:off x="9812464" y="2799358"/>
            <a:ext cx="23703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zh-TW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Red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Best Performance in the performance trend table</a:t>
            </a:r>
            <a:endParaRPr lang="en-US" altLang="zh-TW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06778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413FE-C435-195A-643F-05A4FB97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29395-E7AF-E5CC-8AFF-DDCB7AC4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954A88-63E0-993D-5CE2-7B31AFE87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Re-train the student model with new teacher checkpoint by only use MGD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Finetune the hyper-parameters to see if we can get a more powerful teacher checkpoint</a:t>
            </a:r>
          </a:p>
        </p:txBody>
      </p:sp>
    </p:spTree>
    <p:extLst>
      <p:ext uri="{BB962C8B-B14F-4D97-AF65-F5344CB8AC3E}">
        <p14:creationId xmlns:p14="http://schemas.microsoft.com/office/powerpoint/2010/main" val="3945503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3643</TotalTime>
  <Words>557</Words>
  <Application>Microsoft Office PowerPoint</Application>
  <PresentationFormat>寬螢幕</PresentationFormat>
  <Paragraphs>157</Paragraphs>
  <Slides>13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PMingLiU</vt:lpstr>
      <vt:lpstr>標楷體</vt:lpstr>
      <vt:lpstr>Aptos</vt:lpstr>
      <vt:lpstr>Aptos Display</vt:lpstr>
      <vt:lpstr>Arial</vt:lpstr>
      <vt:lpstr>Times New Roman</vt:lpstr>
      <vt:lpstr>Office 佈景主題</vt:lpstr>
      <vt:lpstr>1/20 個人咪挺 The result of changing optimizer and lr_scheduler</vt:lpstr>
      <vt:lpstr>Train Setting</vt:lpstr>
      <vt:lpstr>Loss Curve (MobileNet V3 Large)</vt:lpstr>
      <vt:lpstr>Metric Curve (TDR@FDR=1%)</vt:lpstr>
      <vt:lpstr>Loss Curve (MobileNet V3 Small)</vt:lpstr>
      <vt:lpstr>Metric Curve (TDR@FDR=1%)</vt:lpstr>
      <vt:lpstr>Result Metric (TDR@FDR=1%)</vt:lpstr>
      <vt:lpstr>Possible Reason</vt:lpstr>
      <vt:lpstr>Re-train with New Teacher Checkpoint</vt:lpstr>
      <vt:lpstr>Loss Curve (MGD + logit KD)</vt:lpstr>
      <vt:lpstr>Metric Curve (TDR@FDR=1%)</vt:lpstr>
      <vt:lpstr>Result Metric (TDR@FDR=1%)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63</cp:revision>
  <dcterms:created xsi:type="dcterms:W3CDTF">2025-09-01T15:41:03Z</dcterms:created>
  <dcterms:modified xsi:type="dcterms:W3CDTF">2026-01-20T00:35:29Z</dcterms:modified>
</cp:coreProperties>
</file>
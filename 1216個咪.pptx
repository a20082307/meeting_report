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306" r:id="rId3"/>
    <p:sldId id="305" r:id="rId4"/>
    <p:sldId id="289" r:id="rId5"/>
    <p:sldId id="307" r:id="rId6"/>
    <p:sldId id="308" r:id="rId7"/>
    <p:sldId id="309" r:id="rId8"/>
    <p:sldId id="291" r:id="rId9"/>
    <p:sldId id="310" r:id="rId10"/>
    <p:sldId id="311" r:id="rId11"/>
    <p:sldId id="293" r:id="rId12"/>
    <p:sldId id="301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FF0000"/>
    <a:srgbClr val="FFC000"/>
    <a:srgbClr val="ECE6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7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42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0BCA4-9C1B-0D6F-7672-1E9C878E2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2D6E4BE-C617-1086-4143-164AC7B481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90D31E5-C78D-E271-C2CA-327E72315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A8E2EFA-B4E5-1315-5054-B6C8D8729B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1209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7EEA4-EF2C-12B1-B4B6-5F59F377D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6AA1F26-6133-392D-D614-8F9E57C5C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4BC2F93-0E42-7372-9EC5-7103A78B3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EB6290C-DE46-AC15-6C2D-ACA06AF97C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68469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F7F95-8524-2147-833D-48EAABF04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C6CCC37-77B4-7207-118D-615006BFFE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561BC9A-69DC-84D8-6CFF-8FCDF81EC1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A31227E-A157-2ED0-4662-8F22818CAE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0478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22C1C-8ACA-D97A-A55A-BA22E0C49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9761698-1AAA-42D5-994D-6A67B4B974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FCA6A3-CDA0-80D4-8C4D-34D4198F3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DD9C901-BCB0-1127-1164-B47EE457E6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1328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8709-312E-164A-E169-609D3942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8F1E5F-1FC2-C3B3-8E6D-3710EFE60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094909-9C90-7255-9694-C2DE91F52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F29F62-47CE-9A63-BD96-475DD4A67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617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F539D-13F2-800F-8FB2-A6E283526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6E8D241-4119-000A-0329-EC6431729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EE238B9-C044-A3BB-5587-78146A679D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4F7DFA-FEF6-4DFE-5F94-FA1ADD92FA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90824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54036-BE1E-D1BA-19BF-A77E7B716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EE4CE80-43D3-4D81-17E9-B67D92C0F9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A4D88EA-613A-0192-97BE-F8C02E8B9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34E31A9-A81B-F485-E787-0BAB6883AC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19897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EAA33-87C5-26B5-830A-9608F07E9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B2C0AAF-CCFB-C619-2FE5-CE0C131DA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2C961B9-B612-6535-A0F8-383C83766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071AA4-296D-FAD5-0C29-4F834A387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87992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1CE3A-07B3-925B-3F06-D2786EC39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0315BD5-1006-53B3-454C-E04E1AEA6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B0CD0B8-98AB-9361-2A12-9082A719F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3FAEEE-E48C-4074-9283-394917E8BD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5838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>
            <a:noAutofit/>
          </a:bodyPr>
          <a:lstStyle/>
          <a:p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12/16 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個人咪挺</a:t>
            </a:r>
            <a:br>
              <a:rPr lang="en-US" altLang="zh-TW" sz="7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模型訓練改動</a:t>
            </a: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68D6F-FFBA-C01D-A466-4EF04B6AE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8333E1-653B-839D-37EA-E43E42594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744CA2-8049-0B9F-2089-235325096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I5-10500 + 2080Ti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seed = 42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Adam(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1e-4) +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BCELoss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ABCD Dataset as training set (0.8 for training and 0.2 for validating)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Dataset as testing set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MobileNet_V3_Large as teacher model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MobileNet_V3_Small as student model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model is trained with 200 epochs</a:t>
            </a:r>
          </a:p>
        </p:txBody>
      </p:sp>
    </p:spTree>
    <p:extLst>
      <p:ext uri="{BB962C8B-B14F-4D97-AF65-F5344CB8AC3E}">
        <p14:creationId xmlns:p14="http://schemas.microsoft.com/office/powerpoint/2010/main" val="3641197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C94D2-11C4-9074-AEFC-04EDCFDF5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56248B-0571-EA2E-5039-26A598CFB6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3100464"/>
            <a:ext cx="9015124" cy="657071"/>
          </a:xfrm>
        </p:spPr>
        <p:txBody>
          <a:bodyPr>
            <a:no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Logit-based KD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21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AAFCA-BE2E-CABC-C2A8-4C4EA6A50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E19F89-52AD-B445-76D8-1F10CB3D1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71030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&amp; Modify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C487A062-C9BF-9CF7-F058-43AF71680614}"/>
              </a:ext>
            </a:extLst>
          </p:cNvPr>
          <p:cNvGrpSpPr/>
          <p:nvPr/>
        </p:nvGrpSpPr>
        <p:grpSpPr>
          <a:xfrm>
            <a:off x="5424760" y="365125"/>
            <a:ext cx="5110543" cy="6125402"/>
            <a:chOff x="3540728" y="365125"/>
            <a:chExt cx="5110543" cy="6125402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F5116446-8AE7-F2BA-0735-2F507E6A2D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40728" y="365125"/>
              <a:ext cx="5110543" cy="6125402"/>
            </a:xfrm>
            <a:prstGeom prst="rect">
              <a:avLst/>
            </a:prstGeom>
          </p:spPr>
        </p:pic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4A54AF9-20D1-F14A-BC7E-47D504A4716E}"/>
                </a:ext>
              </a:extLst>
            </p:cNvPr>
            <p:cNvSpPr/>
            <p:nvPr/>
          </p:nvSpPr>
          <p:spPr>
            <a:xfrm>
              <a:off x="4099456" y="2503861"/>
              <a:ext cx="1644694" cy="282298"/>
            </a:xfrm>
            <a:prstGeom prst="rect">
              <a:avLst/>
            </a:pr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D684923-69A0-564A-2945-70E716137304}"/>
                </a:ext>
              </a:extLst>
            </p:cNvPr>
            <p:cNvSpPr/>
            <p:nvPr/>
          </p:nvSpPr>
          <p:spPr>
            <a:xfrm>
              <a:off x="4099458" y="2786158"/>
              <a:ext cx="1996542" cy="570733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D5B2ACE-3057-D882-AD6D-8BF015C4D9A5}"/>
                </a:ext>
              </a:extLst>
            </p:cNvPr>
            <p:cNvSpPr/>
            <p:nvPr/>
          </p:nvSpPr>
          <p:spPr>
            <a:xfrm>
              <a:off x="4099456" y="3356891"/>
              <a:ext cx="2595915" cy="87757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90C8E7A-3300-E18D-5F37-1760F580475D}"/>
                </a:ext>
              </a:extLst>
            </p:cNvPr>
            <p:cNvSpPr/>
            <p:nvPr/>
          </p:nvSpPr>
          <p:spPr>
            <a:xfrm>
              <a:off x="4099456" y="4234470"/>
              <a:ext cx="2055867" cy="1460585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95F209D9-7350-35BB-8A2D-BB28E5D213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8263" y="2735527"/>
                <a:ext cx="4742451" cy="67199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000" dirty="0">
                    <a:solidFill>
                      <a:srgbClr val="FFC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In orange part</a:t>
                </a:r>
                <a:br>
                  <a:rPr lang="en-US" altLang="zh-TW" sz="2000" dirty="0">
                    <a:solidFill>
                      <a:srgbClr val="FFC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</a:br>
                <a:r>
                  <a:rPr lang="en-US" altLang="zh-TW" sz="2000" dirty="0">
                    <a:solidFill>
                      <a:srgbClr val="FFC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we remove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zh-TW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000" dirty="0">
                    <a:solidFill>
                      <a:srgbClr val="FFC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when calculating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𝐿𝑜𝑠</m:t>
                    </m:r>
                    <m:sSub>
                      <m:sSubPr>
                        <m:ctrlPr>
                          <a:rPr lang="en-US" altLang="zh-TW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𝐾𝐷</m:t>
                        </m:r>
                      </m:sub>
                    </m:sSub>
                  </m:oMath>
                </a14:m>
                <a:endParaRPr lang="en-US" altLang="zh-TW" sz="2000" dirty="0">
                  <a:solidFill>
                    <a:srgbClr val="FFC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95F209D9-7350-35BB-8A2D-BB28E5D213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8263" y="2735527"/>
                <a:ext cx="4742451" cy="671993"/>
              </a:xfrm>
              <a:blipFill>
                <a:blip r:embed="rId4"/>
                <a:stretch>
                  <a:fillRect l="-1414" t="-10000" b="-118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BEB29DC1-F3A4-D7A0-F553-C8FDCD676A09}"/>
              </a:ext>
            </a:extLst>
          </p:cNvPr>
          <p:cNvSpPr txBox="1">
            <a:spLocks/>
          </p:cNvSpPr>
          <p:nvPr/>
        </p:nvSpPr>
        <p:spPr>
          <a:xfrm>
            <a:off x="8646909" y="3583956"/>
            <a:ext cx="3062321" cy="423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Won’t calculate the red part</a:t>
            </a:r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50B6E568-2D6B-6071-AB0F-74EE9FC2094F}"/>
              </a:ext>
            </a:extLst>
          </p:cNvPr>
          <p:cNvSpPr txBox="1">
            <a:spLocks/>
          </p:cNvSpPr>
          <p:nvPr/>
        </p:nvSpPr>
        <p:spPr>
          <a:xfrm>
            <a:off x="8039355" y="4493754"/>
            <a:ext cx="3860119" cy="942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000" dirty="0">
                <a:solidFill>
                  <a:srgbClr val="00B0F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 blue part</a:t>
            </a:r>
            <a:br>
              <a:rPr lang="en-US" altLang="zh-TW" sz="2000" dirty="0">
                <a:solidFill>
                  <a:srgbClr val="00B0F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2000" dirty="0">
                <a:solidFill>
                  <a:srgbClr val="00B0F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we won’t update the weights of each loss component</a:t>
            </a:r>
          </a:p>
        </p:txBody>
      </p:sp>
    </p:spTree>
    <p:extLst>
      <p:ext uri="{BB962C8B-B14F-4D97-AF65-F5344CB8AC3E}">
        <p14:creationId xmlns:p14="http://schemas.microsoft.com/office/powerpoint/2010/main" val="2521260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6CA11-2DDA-CA35-B595-42BF0CBD9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7DD60F-6C18-72BC-71CB-3C8B589D6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42C6E3-80A2-9D9C-E848-7495F9A5E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factor[“BCE”] = 1/3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factor[“feature”] = 2/3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 = 2.0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 = 200</a:t>
            </a:r>
          </a:p>
        </p:txBody>
      </p:sp>
    </p:spTree>
    <p:extLst>
      <p:ext uri="{BB962C8B-B14F-4D97-AF65-F5344CB8AC3E}">
        <p14:creationId xmlns:p14="http://schemas.microsoft.com/office/powerpoint/2010/main" val="1387858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E80EF-1C0C-D27A-E65E-6911F0E2F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一張含有 文字, 螢幕擷取畫面, 繪圖, 圖表 的圖片&#10;&#10;AI 產生的內容可能不正確。">
            <a:extLst>
              <a:ext uri="{FF2B5EF4-FFF2-40B4-BE49-F238E27FC236}">
                <a16:creationId xmlns:a16="http://schemas.microsoft.com/office/drawing/2014/main" id="{D765BC59-63C4-2729-508A-EFA7F7CE8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20875"/>
            <a:ext cx="6096000" cy="4572000"/>
          </a:xfrm>
          <a:prstGeom prst="rect">
            <a:avLst/>
          </a:prstGeom>
        </p:spPr>
      </p:pic>
      <p:pic>
        <p:nvPicPr>
          <p:cNvPr id="4" name="圖片 3" descr="一張含有 文字, 螢幕擷取畫面, 繪圖, 圖表 的圖片&#10;&#10;AI 產生的內容可能不正確。">
            <a:extLst>
              <a:ext uri="{FF2B5EF4-FFF2-40B4-BE49-F238E27FC236}">
                <a16:creationId xmlns:a16="http://schemas.microsoft.com/office/drawing/2014/main" id="{3336CDA9-162D-A8E6-90A5-8F94570BF4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20875"/>
            <a:ext cx="6096000" cy="457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004DA6B-2898-62FA-EEAC-63BE9357F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74D9139-0494-980F-AFC6-56E1629BB7D7}"/>
              </a:ext>
            </a:extLst>
          </p:cNvPr>
          <p:cNvSpPr txBox="1"/>
          <p:nvPr/>
        </p:nvSpPr>
        <p:spPr>
          <a:xfrm>
            <a:off x="2718230" y="2105562"/>
            <a:ext cx="659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Train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E9AC13E-CD52-8BD4-C07C-BD118CB9299A}"/>
              </a:ext>
            </a:extLst>
          </p:cNvPr>
          <p:cNvSpPr txBox="1"/>
          <p:nvPr/>
        </p:nvSpPr>
        <p:spPr>
          <a:xfrm>
            <a:off x="8648031" y="2105562"/>
            <a:ext cx="991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Validate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97504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39FB0-1368-51FB-AD36-2DDEAEC2D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BA95D8-BBB5-27AB-6045-FA34A6482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3100464"/>
            <a:ext cx="9015124" cy="657071"/>
          </a:xfrm>
        </p:spPr>
        <p:txBody>
          <a:bodyPr>
            <a:no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Feature-based KD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295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F375-72CE-717C-7CCE-D3F98387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1FE8D-2754-CFBD-1599-C448F952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2F1EAD6-CC49-E9B3-CB4A-353D09E55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690688"/>
            <a:ext cx="10058400" cy="4534970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E832B97F-6757-AFBD-C755-589E95F8219F}"/>
              </a:ext>
            </a:extLst>
          </p:cNvPr>
          <p:cNvSpPr txBox="1"/>
          <p:nvPr/>
        </p:nvSpPr>
        <p:spPr>
          <a:xfrm>
            <a:off x="3056182" y="1506022"/>
            <a:ext cx="969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Teacher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B038315-C041-66C5-C5F2-7BC25F84C3BC}"/>
              </a:ext>
            </a:extLst>
          </p:cNvPr>
          <p:cNvSpPr txBox="1"/>
          <p:nvPr/>
        </p:nvSpPr>
        <p:spPr>
          <a:xfrm>
            <a:off x="8222439" y="1506022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Student</a:t>
            </a:r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B91F26F-F144-A39E-3F0E-25DC9FCB984A}"/>
              </a:ext>
            </a:extLst>
          </p:cNvPr>
          <p:cNvSpPr/>
          <p:nvPr/>
        </p:nvSpPr>
        <p:spPr>
          <a:xfrm>
            <a:off x="6235104" y="2356574"/>
            <a:ext cx="4835888" cy="239340"/>
          </a:xfrm>
          <a:prstGeom prst="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2643F33-7781-FE0D-1FC7-66227F9518CB}"/>
              </a:ext>
            </a:extLst>
          </p:cNvPr>
          <p:cNvSpPr/>
          <p:nvPr/>
        </p:nvSpPr>
        <p:spPr>
          <a:xfrm>
            <a:off x="6235104" y="2541240"/>
            <a:ext cx="4835888" cy="239340"/>
          </a:xfrm>
          <a:prstGeom prst="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BCBA50F-D27B-DCD7-D27A-40FEC3E2EA78}"/>
              </a:ext>
            </a:extLst>
          </p:cNvPr>
          <p:cNvSpPr/>
          <p:nvPr/>
        </p:nvSpPr>
        <p:spPr>
          <a:xfrm>
            <a:off x="6235104" y="3388164"/>
            <a:ext cx="4835888" cy="239340"/>
          </a:xfrm>
          <a:prstGeom prst="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E74B7B5-843A-FA31-7704-863F31A856BA}"/>
              </a:ext>
            </a:extLst>
          </p:cNvPr>
          <p:cNvSpPr/>
          <p:nvPr/>
        </p:nvSpPr>
        <p:spPr>
          <a:xfrm>
            <a:off x="6235104" y="4409070"/>
            <a:ext cx="4835888" cy="239340"/>
          </a:xfrm>
          <a:prstGeom prst="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03D1E42-9A36-E5A7-462D-0ABDC6403D1D}"/>
              </a:ext>
            </a:extLst>
          </p:cNvPr>
          <p:cNvSpPr/>
          <p:nvPr/>
        </p:nvSpPr>
        <p:spPr>
          <a:xfrm>
            <a:off x="1172150" y="2525897"/>
            <a:ext cx="4596548" cy="239340"/>
          </a:xfrm>
          <a:prstGeom prst="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CA9B96-1C9C-B2DC-44B1-154A30895000}"/>
              </a:ext>
            </a:extLst>
          </p:cNvPr>
          <p:cNvSpPr/>
          <p:nvPr/>
        </p:nvSpPr>
        <p:spPr>
          <a:xfrm>
            <a:off x="1172150" y="2941256"/>
            <a:ext cx="4596548" cy="239340"/>
          </a:xfrm>
          <a:prstGeom prst="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59D666-FC20-069F-9201-6011E6C16A60}"/>
              </a:ext>
            </a:extLst>
          </p:cNvPr>
          <p:cNvSpPr/>
          <p:nvPr/>
        </p:nvSpPr>
        <p:spPr>
          <a:xfrm>
            <a:off x="1172150" y="3896637"/>
            <a:ext cx="4596548" cy="239340"/>
          </a:xfrm>
          <a:prstGeom prst="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C0F60E-B4DB-116B-BAEE-34C87878299F}"/>
              </a:ext>
            </a:extLst>
          </p:cNvPr>
          <p:cNvSpPr/>
          <p:nvPr/>
        </p:nvSpPr>
        <p:spPr>
          <a:xfrm>
            <a:off x="1172150" y="5079558"/>
            <a:ext cx="4596548" cy="239340"/>
          </a:xfrm>
          <a:prstGeom prst="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7B918184-4E35-032B-C507-79AFA34F2C95}"/>
              </a:ext>
            </a:extLst>
          </p:cNvPr>
          <p:cNvCxnSpPr>
            <a:cxnSpLocks/>
          </p:cNvCxnSpPr>
          <p:nvPr/>
        </p:nvCxnSpPr>
        <p:spPr>
          <a:xfrm flipV="1">
            <a:off x="5768698" y="2478893"/>
            <a:ext cx="466406" cy="169323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D046949C-9878-34DE-64C8-999D784B74E8}"/>
              </a:ext>
            </a:extLst>
          </p:cNvPr>
          <p:cNvCxnSpPr>
            <a:cxnSpLocks/>
            <a:stCxn id="13" idx="3"/>
            <a:endCxn id="8" idx="1"/>
          </p:cNvCxnSpPr>
          <p:nvPr/>
        </p:nvCxnSpPr>
        <p:spPr>
          <a:xfrm flipV="1">
            <a:off x="5768698" y="2660910"/>
            <a:ext cx="466406" cy="400016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149A24A-666C-B6CC-8E5D-DDD2DEEEC8D5}"/>
              </a:ext>
            </a:extLst>
          </p:cNvPr>
          <p:cNvCxnSpPr>
            <a:cxnSpLocks/>
            <a:stCxn id="14" idx="3"/>
            <a:endCxn id="9" idx="1"/>
          </p:cNvCxnSpPr>
          <p:nvPr/>
        </p:nvCxnSpPr>
        <p:spPr>
          <a:xfrm flipV="1">
            <a:off x="5768698" y="3507834"/>
            <a:ext cx="466406" cy="508473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3E73BABA-CEC8-6617-9D66-492BF63A526D}"/>
              </a:ext>
            </a:extLst>
          </p:cNvPr>
          <p:cNvCxnSpPr>
            <a:cxnSpLocks/>
            <a:stCxn id="15" idx="3"/>
            <a:endCxn id="10" idx="1"/>
          </p:cNvCxnSpPr>
          <p:nvPr/>
        </p:nvCxnSpPr>
        <p:spPr>
          <a:xfrm flipV="1">
            <a:off x="5768698" y="4528740"/>
            <a:ext cx="466406" cy="670488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152406C1-00C6-05AF-E228-ACD7C04EE51E}"/>
              </a:ext>
            </a:extLst>
          </p:cNvPr>
          <p:cNvSpPr txBox="1"/>
          <p:nvPr/>
        </p:nvSpPr>
        <p:spPr>
          <a:xfrm>
            <a:off x="6235103" y="5802781"/>
            <a:ext cx="4111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Red blocks are old feature layer pairs</a:t>
            </a:r>
            <a:b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Green blocks are new feature layer pairs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549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2616C-3FA0-6016-99D8-4B7381EFA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73543D-C94C-B863-884F-D3FF10BF7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71030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&amp; Modify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FCCED24F-EEB8-3CE2-DCA2-762D8C50B4B8}"/>
              </a:ext>
            </a:extLst>
          </p:cNvPr>
          <p:cNvGrpSpPr/>
          <p:nvPr/>
        </p:nvGrpSpPr>
        <p:grpSpPr>
          <a:xfrm>
            <a:off x="5424759" y="365125"/>
            <a:ext cx="5110543" cy="6125402"/>
            <a:chOff x="3540728" y="365125"/>
            <a:chExt cx="5110543" cy="6125402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5A2F3566-537B-967D-97A9-51020854D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40728" y="365125"/>
              <a:ext cx="5110543" cy="6125402"/>
            </a:xfrm>
            <a:prstGeom prst="rect">
              <a:avLst/>
            </a:prstGeom>
          </p:spPr>
        </p:pic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48A8770C-2372-8145-3784-B94F49DAAAF3}"/>
                </a:ext>
              </a:extLst>
            </p:cNvPr>
            <p:cNvSpPr/>
            <p:nvPr/>
          </p:nvSpPr>
          <p:spPr>
            <a:xfrm>
              <a:off x="4099456" y="2503861"/>
              <a:ext cx="1644694" cy="282298"/>
            </a:xfrm>
            <a:prstGeom prst="rect">
              <a:avLst/>
            </a:pr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A6B4183-6B01-5587-10CB-29C74B55F108}"/>
                </a:ext>
              </a:extLst>
            </p:cNvPr>
            <p:cNvSpPr/>
            <p:nvPr/>
          </p:nvSpPr>
          <p:spPr>
            <a:xfrm>
              <a:off x="4099458" y="2786158"/>
              <a:ext cx="1996542" cy="570733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7E9E2F49-0DEF-6F21-9143-A4A934299149}"/>
                </a:ext>
              </a:extLst>
            </p:cNvPr>
            <p:cNvSpPr/>
            <p:nvPr/>
          </p:nvSpPr>
          <p:spPr>
            <a:xfrm>
              <a:off x="4099456" y="3356891"/>
              <a:ext cx="2595915" cy="87757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705509E-6FEB-FB26-1836-63E5E9564EA6}"/>
                </a:ext>
              </a:extLst>
            </p:cNvPr>
            <p:cNvSpPr/>
            <p:nvPr/>
          </p:nvSpPr>
          <p:spPr>
            <a:xfrm>
              <a:off x="4099456" y="4234470"/>
              <a:ext cx="2055867" cy="1460585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0E0D9570-1D2E-49B6-FD6E-53E3D196E0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6350" y="2856731"/>
                <a:ext cx="4588409" cy="187789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1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red part, calculation become</a:t>
                </a:r>
              </a:p>
              <a:p>
                <a:pPr marL="342900" indent="-342900">
                  <a:buAutoNum type="arabicPeriod"/>
                </a:pPr>
                <a:r>
                  <a:rPr lang="en-US" altLang="zh-TW" sz="1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Define a weight array first, weights[</a:t>
                </a:r>
                <a:r>
                  <a:rPr lang="en-US" altLang="zh-TW" sz="1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1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means the weight of feature layer pair </a:t>
                </a:r>
                <a:r>
                  <a:rPr lang="en-US" altLang="zh-TW" sz="1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1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adding into </a:t>
                </a:r>
                <a14:m>
                  <m:oMath xmlns:m="http://schemas.openxmlformats.org/officeDocument/2006/math">
                    <m:r>
                      <a:rPr lang="en-US" altLang="zh-TW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𝐿𝑜𝑠</m:t>
                    </m:r>
                    <m:sSub>
                      <m:sSubPr>
                        <m:ctrlPr>
                          <a:rPr lang="en-US" altLang="zh-TW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𝐹𝐴</m:t>
                        </m:r>
                      </m:sub>
                    </m:sSub>
                  </m:oMath>
                </a14:m>
                <a:endParaRPr lang="en-US" altLang="zh-TW" sz="1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AutoNum type="arabicPeriod"/>
                </a:pPr>
                <a:r>
                  <a:rPr lang="en-US" altLang="zh-TW" sz="1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:r>
                  <a:rPr lang="en-US" altLang="zh-TW" sz="1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1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  <m:r>
                      <a:rPr lang="en-US" altLang="zh-TW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zh-TW" sz="1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in enumerate(zip(</a:t>
                </a:r>
                <a14:m>
                  <m:oMath xmlns:m="http://schemas.openxmlformats.org/officeDocument/2006/math">
                    <m:r>
                      <a:rPr lang="en-US" altLang="zh-TW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𝑓𝑒𝑎𝑡</m:t>
                    </m:r>
                    <m:sSub>
                      <m:sSubPr>
                        <m:ctrlPr>
                          <a:rPr lang="en-US" altLang="zh-TW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  <m:r>
                      <a:rPr lang="en-US" altLang="zh-TW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𝑓𝑒𝑎𝑡</m:t>
                    </m:r>
                    <m:sSub>
                      <m:sSubPr>
                        <m:ctrlPr>
                          <a:rPr lang="en-US" altLang="zh-TW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zh-TW" sz="1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))</a:t>
                </a:r>
                <a:br>
                  <a:rPr lang="en-US" altLang="zh-TW" sz="1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1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TW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𝐿𝑜𝑠</m:t>
                    </m:r>
                    <m:sSub>
                      <m:sSubPr>
                        <m:ctrlPr>
                          <a:rPr lang="en-US" altLang="zh-TW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𝐹𝐴</m:t>
                        </m:r>
                      </m:sub>
                    </m:sSub>
                    <m:r>
                      <a:rPr lang="en-US" altLang="zh-TW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𝐿𝑜𝑠</m:t>
                    </m:r>
                    <m:sSub>
                      <m:sSubPr>
                        <m:ctrlPr>
                          <a:rPr lang="en-US" altLang="zh-TW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𝐹𝐴</m:t>
                        </m:r>
                      </m:sub>
                    </m:sSub>
                    <m:r>
                      <a:rPr lang="en-US" altLang="zh-TW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𝑤𝑒𝑖𝑔h𝑡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  <m:r>
                      <a:rPr lang="en-US" altLang="zh-TW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𝑀𝑆𝐸</m:t>
                    </m:r>
                    <m:r>
                      <a:rPr lang="en-US" altLang="zh-TW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  <m:r>
                      <a:rPr lang="en-US" altLang="zh-TW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𝑝𝑟𝑜𝑗</m:t>
                    </m:r>
                    <m:d>
                      <m:dPr>
                        <m:ctrlPr>
                          <a:rPr lang="en-US" altLang="zh-TW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TW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sub>
                        </m:sSub>
                      </m:e>
                    </m:d>
                    <m:r>
                      <a:rPr lang="en-US" altLang="zh-TW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1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AutoNum type="arabicPeriod"/>
                </a:pPr>
                <a:r>
                  <a:rPr lang="en-US" altLang="zh-TW" sz="1400" b="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Get the final </a:t>
                </a:r>
                <a14:m>
                  <m:oMath xmlns:m="http://schemas.openxmlformats.org/officeDocument/2006/math">
                    <m:r>
                      <a:rPr lang="en-US" altLang="zh-TW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𝐿𝑜𝑠</m:t>
                    </m:r>
                    <m:sSub>
                      <m:sSubPr>
                        <m:ctrlPr>
                          <a:rPr lang="en-US" altLang="zh-TW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𝐹𝐴</m:t>
                        </m:r>
                      </m:sub>
                    </m:sSub>
                  </m:oMath>
                </a14:m>
                <a:r>
                  <a:rPr lang="en-US" altLang="zh-TW" sz="1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by weighted average</a:t>
                </a:r>
                <a:br>
                  <a:rPr lang="en-US" altLang="zh-TW" sz="1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TW" sz="1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𝐿𝑜𝑠</m:t>
                    </m:r>
                    <m:sSub>
                      <m:sSubPr>
                        <m:ctrlPr>
                          <a:rPr lang="en-US" altLang="zh-TW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𝐹𝐴</m:t>
                        </m:r>
                      </m:sub>
                    </m:sSub>
                    <m:r>
                      <a:rPr lang="en-US" altLang="zh-TW" sz="1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1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𝐿𝑜𝑠</m:t>
                    </m:r>
                    <m:sSub>
                      <m:sSubPr>
                        <m:ctrlPr>
                          <a:rPr lang="en-US" altLang="zh-TW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𝐹𝐴</m:t>
                        </m:r>
                      </m:sub>
                    </m:sSub>
                    <m:r>
                      <a:rPr lang="en-US" altLang="zh-TW" sz="1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lit/>
                      </m:rPr>
                      <a:rPr lang="en-US" altLang="zh-TW" sz="1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altLang="zh-TW" sz="1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1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𝑠𝑢𝑚</m:t>
                    </m:r>
                    <m:r>
                      <a:rPr lang="en-US" altLang="zh-TW" sz="1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1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𝑤𝑒𝑖𝑔h𝑡</m:t>
                    </m:r>
                    <m:r>
                      <a:rPr lang="en-US" altLang="zh-TW" sz="1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1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0E0D9570-1D2E-49B6-FD6E-53E3D196E0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6350" y="2856731"/>
                <a:ext cx="4588409" cy="1877897"/>
              </a:xfrm>
              <a:blipFill>
                <a:blip r:embed="rId4"/>
                <a:stretch>
                  <a:fillRect l="-398" t="-16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DA3AAF57-4AE2-839B-B4E2-1AD421DAD6CF}"/>
              </a:ext>
            </a:extLst>
          </p:cNvPr>
          <p:cNvSpPr txBox="1">
            <a:spLocks/>
          </p:cNvSpPr>
          <p:nvPr/>
        </p:nvSpPr>
        <p:spPr>
          <a:xfrm>
            <a:off x="7980030" y="2893553"/>
            <a:ext cx="3466530" cy="35594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000" dirty="0">
                <a:solidFill>
                  <a:srgbClr val="FFC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Won’t calculate the orange part</a:t>
            </a: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29B714D7-CEC7-0DCA-63E9-E2ACCA4722F8}"/>
              </a:ext>
            </a:extLst>
          </p:cNvPr>
          <p:cNvSpPr txBox="1">
            <a:spLocks/>
          </p:cNvSpPr>
          <p:nvPr/>
        </p:nvSpPr>
        <p:spPr>
          <a:xfrm>
            <a:off x="8039355" y="4493754"/>
            <a:ext cx="3860119" cy="942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000" dirty="0">
                <a:solidFill>
                  <a:srgbClr val="00B0F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 blue part</a:t>
            </a:r>
            <a:br>
              <a:rPr lang="en-US" altLang="zh-TW" sz="2000" dirty="0">
                <a:solidFill>
                  <a:srgbClr val="00B0F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2000" dirty="0">
                <a:solidFill>
                  <a:srgbClr val="00B0F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we won’t update the weights of each loss component</a:t>
            </a:r>
          </a:p>
        </p:txBody>
      </p:sp>
    </p:spTree>
    <p:extLst>
      <p:ext uri="{BB962C8B-B14F-4D97-AF65-F5344CB8AC3E}">
        <p14:creationId xmlns:p14="http://schemas.microsoft.com/office/powerpoint/2010/main" val="2191156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3F445-CB24-F009-FC1F-FB3E6EECD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AF71CF-BB44-026B-35DB-31A884781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E7429A-D501-45DE-92C5-50214FFA2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factor[“BCE”] = 0.5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factor[“feature”] = 0.5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 = 4.0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 = 200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= [0.1, 0.3, 0.6, 1.0]</a:t>
            </a:r>
          </a:p>
        </p:txBody>
      </p:sp>
    </p:spTree>
    <p:extLst>
      <p:ext uri="{BB962C8B-B14F-4D97-AF65-F5344CB8AC3E}">
        <p14:creationId xmlns:p14="http://schemas.microsoft.com/office/powerpoint/2010/main" val="3493417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CD5E-48F8-CF79-9AC0-99CFF0BD9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一張含有 文字, 行, 圖表, 繪圖 的圖片&#10;&#10;AI 產生的內容可能不正確。">
            <a:extLst>
              <a:ext uri="{FF2B5EF4-FFF2-40B4-BE49-F238E27FC236}">
                <a16:creationId xmlns:a16="http://schemas.microsoft.com/office/drawing/2014/main" id="{95E53DC8-7C58-AA48-EB66-32DC1B905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20875"/>
            <a:ext cx="6096000" cy="4572000"/>
          </a:xfrm>
          <a:prstGeom prst="rect">
            <a:avLst/>
          </a:prstGeom>
        </p:spPr>
      </p:pic>
      <p:pic>
        <p:nvPicPr>
          <p:cNvPr id="4" name="圖片 3" descr="一張含有 文字, 行, 圖表, 繪圖 的圖片&#10;&#10;AI 產生的內容可能不正確。">
            <a:extLst>
              <a:ext uri="{FF2B5EF4-FFF2-40B4-BE49-F238E27FC236}">
                <a16:creationId xmlns:a16="http://schemas.microsoft.com/office/drawing/2014/main" id="{EE0DF468-42A8-34F7-D220-353F7F9F1E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20875"/>
            <a:ext cx="6096000" cy="457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5FDAF66-5C5C-7994-E3F6-DD35DB409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771BFF8-B42E-01F1-7BFE-A86E007912E5}"/>
              </a:ext>
            </a:extLst>
          </p:cNvPr>
          <p:cNvSpPr txBox="1"/>
          <p:nvPr/>
        </p:nvSpPr>
        <p:spPr>
          <a:xfrm>
            <a:off x="2718230" y="2105562"/>
            <a:ext cx="659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Train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5DF6124-0C2C-75AD-9483-D3A2A49A0D6E}"/>
              </a:ext>
            </a:extLst>
          </p:cNvPr>
          <p:cNvSpPr txBox="1"/>
          <p:nvPr/>
        </p:nvSpPr>
        <p:spPr>
          <a:xfrm>
            <a:off x="8648031" y="2105562"/>
            <a:ext cx="991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Validate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95211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DFB3A-76CE-7B99-745D-1D9591317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135E48-7C99-5711-E8F0-37150E1BF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017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Metric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1E7291B-063F-840F-952C-DAE9CF9DF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066170"/>
              </p:ext>
            </p:extLst>
          </p:nvPr>
        </p:nvGraphicFramePr>
        <p:xfrm>
          <a:off x="838200" y="1287874"/>
          <a:ext cx="8603504" cy="5522298"/>
        </p:xfrm>
        <a:graphic>
          <a:graphicData uri="http://schemas.openxmlformats.org/drawingml/2006/table">
            <a:tbl>
              <a:tblPr/>
              <a:tblGrid>
                <a:gridCol w="1651706">
                  <a:extLst>
                    <a:ext uri="{9D8B030D-6E8A-4147-A177-3AD203B41FA5}">
                      <a16:colId xmlns:a16="http://schemas.microsoft.com/office/drawing/2014/main" val="2086435897"/>
                    </a:ext>
                  </a:extLst>
                </a:gridCol>
                <a:gridCol w="993114">
                  <a:extLst>
                    <a:ext uri="{9D8B030D-6E8A-4147-A177-3AD203B41FA5}">
                      <a16:colId xmlns:a16="http://schemas.microsoft.com/office/drawing/2014/main" val="3198234377"/>
                    </a:ext>
                  </a:extLst>
                </a:gridCol>
                <a:gridCol w="993114">
                  <a:extLst>
                    <a:ext uri="{9D8B030D-6E8A-4147-A177-3AD203B41FA5}">
                      <a16:colId xmlns:a16="http://schemas.microsoft.com/office/drawing/2014/main" val="859500640"/>
                    </a:ext>
                  </a:extLst>
                </a:gridCol>
                <a:gridCol w="993114">
                  <a:extLst>
                    <a:ext uri="{9D8B030D-6E8A-4147-A177-3AD203B41FA5}">
                      <a16:colId xmlns:a16="http://schemas.microsoft.com/office/drawing/2014/main" val="3689008080"/>
                    </a:ext>
                  </a:extLst>
                </a:gridCol>
                <a:gridCol w="993114">
                  <a:extLst>
                    <a:ext uri="{9D8B030D-6E8A-4147-A177-3AD203B41FA5}">
                      <a16:colId xmlns:a16="http://schemas.microsoft.com/office/drawing/2014/main" val="2940452666"/>
                    </a:ext>
                  </a:extLst>
                </a:gridCol>
                <a:gridCol w="993114">
                  <a:extLst>
                    <a:ext uri="{9D8B030D-6E8A-4147-A177-3AD203B41FA5}">
                      <a16:colId xmlns:a16="http://schemas.microsoft.com/office/drawing/2014/main" val="573997578"/>
                    </a:ext>
                  </a:extLst>
                </a:gridCol>
                <a:gridCol w="993114">
                  <a:extLst>
                    <a:ext uri="{9D8B030D-6E8A-4147-A177-3AD203B41FA5}">
                      <a16:colId xmlns:a16="http://schemas.microsoft.com/office/drawing/2014/main" val="437075309"/>
                    </a:ext>
                  </a:extLst>
                </a:gridCol>
                <a:gridCol w="993114">
                  <a:extLst>
                    <a:ext uri="{9D8B030D-6E8A-4147-A177-3AD203B41FA5}">
                      <a16:colId xmlns:a16="http://schemas.microsoft.com/office/drawing/2014/main" val="1646372051"/>
                    </a:ext>
                  </a:extLst>
                </a:gridCol>
              </a:tblGrid>
              <a:tr h="592324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Epoch</a:t>
                      </a:r>
                      <a:endParaRPr lang="en-US">
                        <a:effectLst/>
                      </a:endParaRPr>
                    </a:p>
                    <a:p>
                      <a:pPr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Model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</a:t>
                      </a:r>
                      <a:endParaRPr lang="zh-TW" alt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75</a:t>
                      </a:r>
                      <a:endParaRPr lang="zh-TW" altLang="en-US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</a:t>
                      </a:r>
                      <a:endParaRPr lang="zh-TW" alt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125</a:t>
                      </a:r>
                      <a:endParaRPr lang="zh-TW" altLang="en-US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150</a:t>
                      </a:r>
                      <a:endParaRPr lang="zh-TW" alt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175</a:t>
                      </a:r>
                      <a:endParaRPr lang="zh-TW" alt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200</a:t>
                      </a:r>
                      <a:endParaRPr lang="zh-TW" alt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195774"/>
                  </a:ext>
                </a:extLst>
              </a:tr>
              <a:tr h="4292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Teacher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61.09%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65.16%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88.24%</a:t>
                      </a:r>
                      <a:endParaRPr lang="zh-TW" alt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72.85%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85.97%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76.92%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</a:rPr>
                        <a:t>84.62%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55163"/>
                  </a:ext>
                </a:extLst>
              </a:tr>
              <a:tr h="4292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Student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64.71%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47.96%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60.18%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75.11%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69.68%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70.59%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78.28%</a:t>
                      </a:r>
                      <a:endParaRPr lang="zh-TW" alt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905824"/>
                  </a:ext>
                </a:extLst>
              </a:tr>
              <a:tr h="4292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KD w/ Adaptive,</a:t>
                      </a:r>
                      <a:b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feature + logit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64.71%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57.92%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76.02%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74.66%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76.02%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70.59%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76.92%</a:t>
                      </a:r>
                      <a:endParaRPr lang="zh-TW" alt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267708"/>
                  </a:ext>
                </a:extLst>
              </a:tr>
              <a:tr h="52364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KD w/ Adaptive,</a:t>
                      </a:r>
                      <a:endParaRPr lang="en-US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logit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75.57%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69.68%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70.14%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76.47%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77.83%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81.45%</a:t>
                      </a:r>
                      <a:endParaRPr lang="zh-TW" alt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80.09%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655126"/>
                  </a:ext>
                </a:extLst>
              </a:tr>
              <a:tr h="52364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KD w/ Adaptive,</a:t>
                      </a:r>
                      <a:endParaRPr lang="en-US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feature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71.04%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56.11%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68.78%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66.52%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76.92%</a:t>
                      </a:r>
                      <a:endParaRPr lang="zh-TW" altLang="en-US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76.92%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76.02%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218641"/>
                  </a:ext>
                </a:extLst>
              </a:tr>
              <a:tr h="4292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KD w/o Adaptive,</a:t>
                      </a:r>
                      <a:b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feature + logit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343634"/>
                  </a:ext>
                </a:extLst>
              </a:tr>
              <a:tr h="52364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l-PL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KD w/o Adaptive,</a:t>
                      </a:r>
                      <a:endParaRPr lang="pl-PL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pl-PL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logit</a:t>
                      </a:r>
                      <a:endParaRPr lang="pl-PL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12982"/>
                  </a:ext>
                </a:extLst>
              </a:tr>
              <a:tr h="52364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KD w/o Adaptive,</a:t>
                      </a:r>
                      <a:endParaRPr lang="en-US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feature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76.92%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77.38%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84.16%</a:t>
                      </a:r>
                      <a:endParaRPr lang="zh-TW" altLang="en-US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76.47%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74.21%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76.92%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81.90%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912339"/>
                  </a:ext>
                </a:extLst>
              </a:tr>
              <a:tr h="52364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1" i="0" u="none" strike="noStrike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</a:rPr>
                        <a:t>(New) KD w/o Adaptive,</a:t>
                      </a:r>
                      <a:endParaRPr lang="en-US" altLang="zh-TW" sz="900" dirty="0">
                        <a:solidFill>
                          <a:srgbClr val="FFFF00"/>
                        </a:solidFill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altLang="zh-TW" sz="900" b="1" i="0" u="none" strike="noStrike" kern="120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logit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9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9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9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9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9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1" i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27.60%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383142"/>
                  </a:ext>
                </a:extLst>
              </a:tr>
              <a:tr h="52364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1" i="0" u="none" strike="noStrike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</a:rPr>
                        <a:t>(New) KD w/o Adaptive,</a:t>
                      </a:r>
                      <a:endParaRPr lang="en-US" altLang="zh-TW" sz="900" dirty="0">
                        <a:solidFill>
                          <a:srgbClr val="FFFF00"/>
                        </a:solidFill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altLang="zh-TW" sz="900" b="1" i="0" u="none" strike="noStrike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</a:rPr>
                        <a:t>Feature</a:t>
                      </a:r>
                      <a:endParaRPr lang="en-US" altLang="zh-TW" sz="900" dirty="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1" i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9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TW" alt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9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9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TW" alt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76.02%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105823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75281992-FD6F-0A44-1D49-FD68E7EAF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6463" y="20462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8D8DACB-7ACF-6729-1420-ABAC714EB47B}"/>
              </a:ext>
            </a:extLst>
          </p:cNvPr>
          <p:cNvSpPr txBox="1"/>
          <p:nvPr/>
        </p:nvSpPr>
        <p:spPr>
          <a:xfrm>
            <a:off x="9514115" y="1629996"/>
            <a:ext cx="260324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zh-TW" sz="1800" b="0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Red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 </a:t>
            </a:r>
            <a:b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Early Stopping / Potential Overfitting point.</a:t>
            </a:r>
            <a:endParaRPr lang="en-US" altLang="zh-TW" b="0" dirty="0">
              <a:effectLst/>
            </a:endParaRPr>
          </a:p>
          <a:p>
            <a:pPr>
              <a:buNone/>
            </a:pPr>
            <a:br>
              <a:rPr lang="en-US" altLang="zh-TW" b="0" dirty="0">
                <a:effectLst/>
              </a:rPr>
            </a:br>
            <a:endParaRPr lang="en-US" altLang="zh-TW" b="0" dirty="0">
              <a:effectLst/>
            </a:endParaRPr>
          </a:p>
          <a:p>
            <a:pPr rtl="0">
              <a:buNone/>
            </a:pPr>
            <a:r>
              <a:rPr lang="en-US" altLang="zh-TW" sz="1800" b="0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</a:rPr>
              <a:t>Blue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 Performance of the Teacher checkpoint used for KD.</a:t>
            </a:r>
            <a:endParaRPr lang="en-US" altLang="zh-TW" b="0" dirty="0">
              <a:effectLst/>
            </a:endParaRPr>
          </a:p>
          <a:p>
            <a:pPr>
              <a:buNone/>
            </a:pPr>
            <a:br>
              <a:rPr lang="en-US" altLang="zh-TW" b="0" dirty="0">
                <a:effectLst/>
              </a:rPr>
            </a:br>
            <a:endParaRPr lang="en-US" altLang="zh-TW" b="0" dirty="0">
              <a:effectLst/>
            </a:endParaRPr>
          </a:p>
          <a:p>
            <a:pPr rtl="0">
              <a:buNone/>
            </a:pPr>
            <a:r>
              <a:rPr lang="en-US" altLang="zh-TW" sz="2400" b="1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Bold/Large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 </a:t>
            </a:r>
            <a:endParaRPr lang="en-US" altLang="zh-TW" b="0" dirty="0">
              <a:effectLst/>
            </a:endParaRPr>
          </a:p>
          <a:p>
            <a:pPr rtl="0">
              <a:buNone/>
            </a:pP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Best performance for the specific model.</a:t>
            </a:r>
            <a:endParaRPr lang="en-US" altLang="zh-TW" b="0" dirty="0">
              <a:effectLst/>
            </a:endParaRPr>
          </a:p>
          <a:p>
            <a:pPr>
              <a:buNone/>
            </a:pPr>
            <a:br>
              <a:rPr lang="en-US" altLang="zh-TW" dirty="0"/>
            </a:br>
            <a:endParaRPr lang="zh-TW" altLang="en-US" dirty="0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6498F6CE-1BE6-6F26-19CA-24D765F0D63C}"/>
              </a:ext>
            </a:extLst>
          </p:cNvPr>
          <p:cNvCxnSpPr/>
          <p:nvPr/>
        </p:nvCxnSpPr>
        <p:spPr>
          <a:xfrm>
            <a:off x="838200" y="1424723"/>
            <a:ext cx="1651000" cy="5850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778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3519</TotalTime>
  <Words>538</Words>
  <Application>Microsoft Office PowerPoint</Application>
  <PresentationFormat>寬螢幕</PresentationFormat>
  <Paragraphs>144</Paragraphs>
  <Slides>12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9" baseType="lpstr">
      <vt:lpstr>標楷體</vt:lpstr>
      <vt:lpstr>Aptos</vt:lpstr>
      <vt:lpstr>Aptos Display</vt:lpstr>
      <vt:lpstr>Arial</vt:lpstr>
      <vt:lpstr>Cambria Math</vt:lpstr>
      <vt:lpstr>Times New Roman</vt:lpstr>
      <vt:lpstr>Office 佈景主題</vt:lpstr>
      <vt:lpstr>12/16 個人咪挺 模型訓練改動</vt:lpstr>
      <vt:lpstr>Train Setting</vt:lpstr>
      <vt:lpstr>Logit-based KD</vt:lpstr>
      <vt:lpstr>Recall &amp; Modify</vt:lpstr>
      <vt:lpstr>Train Setting</vt:lpstr>
      <vt:lpstr>Loss Curve</vt:lpstr>
      <vt:lpstr>Feature-based KD</vt:lpstr>
      <vt:lpstr>Recall &amp; Modify</vt:lpstr>
      <vt:lpstr>Recall &amp; Modify</vt:lpstr>
      <vt:lpstr>Train Setting</vt:lpstr>
      <vt:lpstr>Loss Curve</vt:lpstr>
      <vt:lpstr>Result Metric (TDR@FDR=1%)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57</cp:revision>
  <dcterms:created xsi:type="dcterms:W3CDTF">2025-09-01T15:41:03Z</dcterms:created>
  <dcterms:modified xsi:type="dcterms:W3CDTF">2025-12-16T01:06:44Z</dcterms:modified>
</cp:coreProperties>
</file>
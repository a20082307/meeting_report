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319" r:id="rId3"/>
    <p:sldId id="331" r:id="rId4"/>
    <p:sldId id="314" r:id="rId5"/>
    <p:sldId id="320" r:id="rId6"/>
    <p:sldId id="313" r:id="rId7"/>
    <p:sldId id="333" r:id="rId8"/>
    <p:sldId id="332" r:id="rId9"/>
    <p:sldId id="334" r:id="rId10"/>
    <p:sldId id="312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ECEF"/>
    <a:srgbClr val="EFF98F"/>
    <a:srgbClr val="FCDB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7484" autoAdjust="0"/>
  </p:normalViewPr>
  <p:slideViewPr>
    <p:cSldViewPr snapToGrid="0">
      <p:cViewPr varScale="1">
        <p:scale>
          <a:sx n="90" d="100"/>
          <a:sy n="90" d="100"/>
        </p:scale>
        <p:origin x="53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5BCD1-1DB1-2D4B-5814-67E7FE084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F070D8B-DEB5-DC23-1DE8-8E1BB6495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6EFCCC3-D748-9ADF-1AF9-7782D20E1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57AA0E-6F4E-1C1B-11FC-A6C1507736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75090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C82C8B-0BE6-A698-FB0B-3AF6CDE0F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C7A413E-FF77-ED69-C978-D9424F782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0D5ED08-2A85-1656-52C3-1001481A8A5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15FA1E1-DD64-AE1E-B96F-5DC1BAB6E4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58425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4F47C-490F-90B9-82A0-AC43D6CA5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BFEE019-2C36-0710-2A70-F03814F00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3A7811C-2A84-7188-C080-EF987252A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80C3D2-94C8-9949-39D7-869D0929E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84119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8709-312E-164A-E169-609D3942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8F1E5F-1FC2-C3B3-8E6D-3710EFE60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094909-9C90-7255-9694-C2DE91F5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29F62-47CE-9A63-BD96-475DD4A6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6178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28D7A-F5B3-C1D8-E5D1-851A501B3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91D77C0-9270-61D6-75FE-A5A5DE0C9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9873FF7-1B8F-1AAE-AC48-71DE5037A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BE85BD-668D-2032-3C7C-5006AEE03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22224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AF801-3C79-13ED-5674-5A866E8D4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BCE0A8B-BBA9-9148-D4FA-EF2DF88713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EA68714-CBC3-73E9-253A-9E5BB506CA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B0AFDB9-5B66-82B1-58FE-C4EE312D24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203802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075C8-524F-83D6-6C3C-AED0D1A95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963B590-30EF-775C-2FEB-1D99BD097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C02EEDD-3BC0-5941-E07F-6FC3CE0AF7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7B2B9B4-807C-860A-A80B-972F02A8827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81401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CA3C00-3CE5-D518-FB83-1371496AD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5645D83-C30D-867B-09F0-B9E6D62BF5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15B220B-41F2-5F13-9810-19FBBCB2B1D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AD3B892-9127-26DF-8CC7-247D62E5BD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363355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EA62C-1E51-4A1A-1E4D-9CBCF0B83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746CC45-491A-04C3-9BB8-05AF07FDD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EE372E-FF46-8D67-DAE3-EB94102EA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881C7C-9C99-58E3-57AC-925A4753D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2618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2026/4/15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4/15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個人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咪挺</a:t>
            </a:r>
            <a:br>
              <a:rPr lang="en-US" altLang="zh-TW" sz="7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The result of MGD with HLCFN3S as teacher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5F162-12E8-7AC0-FC8A-4DD96D46A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AC8F8D97-428C-DAF6-B7D8-B430581EB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6BA3CE9-9E97-AEE9-19CE-C0AC183D7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002889"/>
              </p:ext>
            </p:extLst>
          </p:nvPr>
        </p:nvGraphicFramePr>
        <p:xfrm>
          <a:off x="290583" y="1155372"/>
          <a:ext cx="5579858" cy="5623560"/>
        </p:xfrm>
        <a:graphic>
          <a:graphicData uri="http://schemas.openxmlformats.org/drawingml/2006/table">
            <a:tbl>
              <a:tblPr/>
              <a:tblGrid>
                <a:gridCol w="3408581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2171277">
                  <a:extLst>
                    <a:ext uri="{9D8B030D-6E8A-4147-A177-3AD203B41FA5}">
                      <a16:colId xmlns:a16="http://schemas.microsoft.com/office/drawing/2014/main" val="287966880"/>
                    </a:ext>
                  </a:extLst>
                </a:gridCol>
              </a:tblGrid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(Test image size)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MACs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(Approx. inference time)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230.04M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(136.93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984657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230.93M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(137.46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691903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51.05M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(30.39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563146"/>
                  </a:ext>
                </a:extLst>
              </a:tr>
              <a:tr h="4895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51.24M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(30.50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16410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stride2[0]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189.02M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(112.51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21207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stride2[1]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171.57M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(102.125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1822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stride2[2]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153.8M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(91.55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700545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stride2[3]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133.03M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(79.18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19462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stride2[4]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78.1M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(76.49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328956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634792D7-C222-0E3E-99A3-D20434E8D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37FAB7B8-F81C-7565-8FF9-E85E00773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90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– Result Metric (MMAC)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381C0AED-C46D-E67B-169D-7671FD26E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745831"/>
              </p:ext>
            </p:extLst>
          </p:nvPr>
        </p:nvGraphicFramePr>
        <p:xfrm>
          <a:off x="6321559" y="1155371"/>
          <a:ext cx="5579858" cy="5623560"/>
        </p:xfrm>
        <a:graphic>
          <a:graphicData uri="http://schemas.openxmlformats.org/drawingml/2006/table">
            <a:tbl>
              <a:tblPr/>
              <a:tblGrid>
                <a:gridCol w="3408581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2171277">
                  <a:extLst>
                    <a:ext uri="{9D8B030D-6E8A-4147-A177-3AD203B41FA5}">
                      <a16:colId xmlns:a16="http://schemas.microsoft.com/office/drawing/2014/main" val="287966880"/>
                    </a:ext>
                  </a:extLst>
                </a:gridCol>
              </a:tblGrid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(Test image size)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MACs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(Approx. inference time)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59.89M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(35.65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984657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60.07M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(35.76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691903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13.76M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(8.19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563146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13.8M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(8.21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16410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stride2[0]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49.23M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(29.30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21207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stride2[1]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45.66M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(27.18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1822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stride2[2]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41.82M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(24.89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700545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stride2[3]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36.51M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(21.73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19462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stride2[4]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23.63M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(14.07 </a:t>
                      </a:r>
                      <a:r>
                        <a:rPr lang="en-US" sz="1200" b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328956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551BCDFF-1D08-8127-0679-FCD996CFDE64}"/>
              </a:ext>
            </a:extLst>
          </p:cNvPr>
          <p:cNvSpPr txBox="1"/>
          <p:nvPr/>
        </p:nvSpPr>
        <p:spPr>
          <a:xfrm>
            <a:off x="10373096" y="139708"/>
            <a:ext cx="15917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Teacher: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Large</a:t>
            </a:r>
          </a:p>
          <a:p>
            <a:endParaRPr lang="en-US" altLang="zh-TW" sz="1200" b="1" dirty="0"/>
          </a:p>
          <a:p>
            <a:r>
              <a:rPr lang="en-US" altLang="zh-TW" sz="1200" b="1" dirty="0"/>
              <a:t>Student: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Small</a:t>
            </a:r>
            <a:endParaRPr lang="zh-TW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7969736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AD6E14-5370-BC34-8F78-D2E2BF8734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30872B2-61CA-5279-C021-3F3A2EC544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Structure (teacher)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F37436FC-8C0D-0E89-BB64-3D6721509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197" y="1690688"/>
            <a:ext cx="10705605" cy="4323329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0E821354-2716-C940-8F77-5C04F1D5299C}"/>
              </a:ext>
            </a:extLst>
          </p:cNvPr>
          <p:cNvSpPr/>
          <p:nvPr/>
        </p:nvSpPr>
        <p:spPr>
          <a:xfrm>
            <a:off x="4441371" y="2606634"/>
            <a:ext cx="3598224" cy="35032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4D9693F-CD95-0497-9C03-333C40C968EE}"/>
              </a:ext>
            </a:extLst>
          </p:cNvPr>
          <p:cNvSpPr/>
          <p:nvPr/>
        </p:nvSpPr>
        <p:spPr>
          <a:xfrm>
            <a:off x="4494810" y="2763981"/>
            <a:ext cx="3443846" cy="144483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C0517253-E056-BDCD-6A7E-E6441616E0D1}"/>
              </a:ext>
            </a:extLst>
          </p:cNvPr>
          <p:cNvSpPr txBox="1"/>
          <p:nvPr/>
        </p:nvSpPr>
        <p:spPr>
          <a:xfrm>
            <a:off x="4564276" y="6014017"/>
            <a:ext cx="3063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B0F0"/>
                </a:solidFill>
              </a:rPr>
              <a:t>Blue</a:t>
            </a:r>
            <a:r>
              <a:rPr lang="en-US" altLang="zh-TW" sz="1200" dirty="0"/>
              <a:t>: Selected layer to do MGD-1layer</a:t>
            </a:r>
          </a:p>
          <a:p>
            <a:r>
              <a:rPr lang="en-US" altLang="zh-TW" sz="1200" dirty="0">
                <a:solidFill>
                  <a:srgbClr val="FFC000"/>
                </a:solidFill>
              </a:rPr>
              <a:t>Orange</a:t>
            </a:r>
            <a:r>
              <a:rPr lang="en-US" altLang="zh-TW" sz="1200" dirty="0"/>
              <a:t>: Selected layer to do MGD-2layers</a:t>
            </a:r>
          </a:p>
        </p:txBody>
      </p:sp>
    </p:spTree>
    <p:extLst>
      <p:ext uri="{BB962C8B-B14F-4D97-AF65-F5344CB8AC3E}">
        <p14:creationId xmlns:p14="http://schemas.microsoft.com/office/powerpoint/2010/main" val="481009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45836-8FC3-1E0D-3890-E44FC3D88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圖片 71">
            <a:extLst>
              <a:ext uri="{FF2B5EF4-FFF2-40B4-BE49-F238E27FC236}">
                <a16:creationId xmlns:a16="http://schemas.microsoft.com/office/drawing/2014/main" id="{9CD09A17-9450-B06A-3B9F-60CF37A343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7332" y="1690688"/>
            <a:ext cx="5717336" cy="41251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BCA4D3D-EA8B-909B-BA62-2BB3F4173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Structure (student)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F758B06-49DB-B022-F9ED-08EEFCEE0393}"/>
              </a:ext>
            </a:extLst>
          </p:cNvPr>
          <p:cNvSpPr/>
          <p:nvPr/>
        </p:nvSpPr>
        <p:spPr>
          <a:xfrm>
            <a:off x="3373438" y="3025617"/>
            <a:ext cx="5455863" cy="1947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EF19511-84D7-1D34-F284-7B2E0223A15C}"/>
              </a:ext>
            </a:extLst>
          </p:cNvPr>
          <p:cNvSpPr/>
          <p:nvPr/>
        </p:nvSpPr>
        <p:spPr>
          <a:xfrm>
            <a:off x="3373438" y="2151671"/>
            <a:ext cx="5455865" cy="1947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5BDFE407-66B1-8479-1E1A-AA91A6B31E0A}"/>
              </a:ext>
            </a:extLst>
          </p:cNvPr>
          <p:cNvSpPr/>
          <p:nvPr/>
        </p:nvSpPr>
        <p:spPr>
          <a:xfrm>
            <a:off x="3373439" y="2371184"/>
            <a:ext cx="5455863" cy="1947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2D404A9-F997-911E-D705-6EECE098A319}"/>
              </a:ext>
            </a:extLst>
          </p:cNvPr>
          <p:cNvSpPr/>
          <p:nvPr/>
        </p:nvSpPr>
        <p:spPr>
          <a:xfrm>
            <a:off x="3373439" y="2585811"/>
            <a:ext cx="5455863" cy="1947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9B954716-2EAF-3F44-C3CB-3B89C26288EB}"/>
              </a:ext>
            </a:extLst>
          </p:cNvPr>
          <p:cNvSpPr/>
          <p:nvPr/>
        </p:nvSpPr>
        <p:spPr>
          <a:xfrm>
            <a:off x="3373438" y="4110070"/>
            <a:ext cx="5455863" cy="1947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內容版面配置區 2">
            <a:extLst>
              <a:ext uri="{FF2B5EF4-FFF2-40B4-BE49-F238E27FC236}">
                <a16:creationId xmlns:a16="http://schemas.microsoft.com/office/drawing/2014/main" id="{1071DFA2-ACFB-135C-CC6C-5C56D0183D18}"/>
              </a:ext>
            </a:extLst>
          </p:cNvPr>
          <p:cNvSpPr txBox="1">
            <a:spLocks/>
          </p:cNvSpPr>
          <p:nvPr/>
        </p:nvSpPr>
        <p:spPr>
          <a:xfrm>
            <a:off x="8878036" y="2115862"/>
            <a:ext cx="819422" cy="26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stride2[0]</a:t>
            </a:r>
          </a:p>
        </p:txBody>
      </p:sp>
      <p:sp>
        <p:nvSpPr>
          <p:cNvPr id="43" name="內容版面配置區 2">
            <a:extLst>
              <a:ext uri="{FF2B5EF4-FFF2-40B4-BE49-F238E27FC236}">
                <a16:creationId xmlns:a16="http://schemas.microsoft.com/office/drawing/2014/main" id="{DE200425-F232-5E90-EF62-F5BE38E8E7A1}"/>
              </a:ext>
            </a:extLst>
          </p:cNvPr>
          <p:cNvSpPr txBox="1">
            <a:spLocks/>
          </p:cNvSpPr>
          <p:nvPr/>
        </p:nvSpPr>
        <p:spPr>
          <a:xfrm>
            <a:off x="8878036" y="2334256"/>
            <a:ext cx="819422" cy="26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stride2[1]</a:t>
            </a:r>
          </a:p>
        </p:txBody>
      </p:sp>
      <p:sp>
        <p:nvSpPr>
          <p:cNvPr id="44" name="內容版面配置區 2">
            <a:extLst>
              <a:ext uri="{FF2B5EF4-FFF2-40B4-BE49-F238E27FC236}">
                <a16:creationId xmlns:a16="http://schemas.microsoft.com/office/drawing/2014/main" id="{ADFDA82C-A764-2212-F079-72F7A73530B9}"/>
              </a:ext>
            </a:extLst>
          </p:cNvPr>
          <p:cNvSpPr txBox="1">
            <a:spLocks/>
          </p:cNvSpPr>
          <p:nvPr/>
        </p:nvSpPr>
        <p:spPr>
          <a:xfrm>
            <a:off x="8878036" y="2552650"/>
            <a:ext cx="819422" cy="26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stride2[2]</a:t>
            </a:r>
          </a:p>
        </p:txBody>
      </p:sp>
      <p:sp>
        <p:nvSpPr>
          <p:cNvPr id="45" name="內容版面配置區 2">
            <a:extLst>
              <a:ext uri="{FF2B5EF4-FFF2-40B4-BE49-F238E27FC236}">
                <a16:creationId xmlns:a16="http://schemas.microsoft.com/office/drawing/2014/main" id="{476F95BB-F04C-9987-45DD-B369375A6DF8}"/>
              </a:ext>
            </a:extLst>
          </p:cNvPr>
          <p:cNvSpPr txBox="1">
            <a:spLocks/>
          </p:cNvSpPr>
          <p:nvPr/>
        </p:nvSpPr>
        <p:spPr>
          <a:xfrm>
            <a:off x="8878036" y="2988689"/>
            <a:ext cx="819422" cy="26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stride2[3]</a:t>
            </a:r>
          </a:p>
        </p:txBody>
      </p:sp>
      <p:sp>
        <p:nvSpPr>
          <p:cNvPr id="46" name="內容版面配置區 2">
            <a:extLst>
              <a:ext uri="{FF2B5EF4-FFF2-40B4-BE49-F238E27FC236}">
                <a16:creationId xmlns:a16="http://schemas.microsoft.com/office/drawing/2014/main" id="{E25A0F5D-A9B4-5D45-8396-D57423BDF661}"/>
              </a:ext>
            </a:extLst>
          </p:cNvPr>
          <p:cNvSpPr txBox="1">
            <a:spLocks/>
          </p:cNvSpPr>
          <p:nvPr/>
        </p:nvSpPr>
        <p:spPr>
          <a:xfrm>
            <a:off x="8878036" y="4073142"/>
            <a:ext cx="819422" cy="268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altLang="zh-TW" sz="1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stride2[4]</a:t>
            </a: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10E74CEF-50AF-4792-CA51-461028E1CA1D}"/>
              </a:ext>
            </a:extLst>
          </p:cNvPr>
          <p:cNvSpPr/>
          <p:nvPr/>
        </p:nvSpPr>
        <p:spPr>
          <a:xfrm>
            <a:off x="3373438" y="4768220"/>
            <a:ext cx="5455863" cy="194709"/>
          </a:xfrm>
          <a:prstGeom prst="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3DE46458-BA7D-C782-EC11-692D7544C1E6}"/>
              </a:ext>
            </a:extLst>
          </p:cNvPr>
          <p:cNvSpPr/>
          <p:nvPr/>
        </p:nvSpPr>
        <p:spPr>
          <a:xfrm>
            <a:off x="3307278" y="4545889"/>
            <a:ext cx="5570758" cy="45955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7" name="文字方塊 76">
            <a:extLst>
              <a:ext uri="{FF2B5EF4-FFF2-40B4-BE49-F238E27FC236}">
                <a16:creationId xmlns:a16="http://schemas.microsoft.com/office/drawing/2014/main" id="{069F56C1-C950-E44E-3953-862857EBD565}"/>
              </a:ext>
            </a:extLst>
          </p:cNvPr>
          <p:cNvSpPr txBox="1"/>
          <p:nvPr/>
        </p:nvSpPr>
        <p:spPr>
          <a:xfrm>
            <a:off x="4569646" y="5924574"/>
            <a:ext cx="306344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B0F0"/>
                </a:solidFill>
              </a:rPr>
              <a:t>Blue</a:t>
            </a:r>
            <a:r>
              <a:rPr lang="en-US" altLang="zh-TW" sz="1200" dirty="0"/>
              <a:t>: Selected layer to do MGD-1layer</a:t>
            </a:r>
          </a:p>
          <a:p>
            <a:r>
              <a:rPr lang="en-US" altLang="zh-TW" sz="1200" dirty="0">
                <a:solidFill>
                  <a:srgbClr val="FFC000"/>
                </a:solidFill>
              </a:rPr>
              <a:t>Orange</a:t>
            </a:r>
            <a:r>
              <a:rPr lang="en-US" altLang="zh-TW" sz="1200" dirty="0"/>
              <a:t>: Selected layer to do MGD-2layers</a:t>
            </a:r>
          </a:p>
        </p:txBody>
      </p:sp>
    </p:spTree>
    <p:extLst>
      <p:ext uri="{BB962C8B-B14F-4D97-AF65-F5344CB8AC3E}">
        <p14:creationId xmlns:p14="http://schemas.microsoft.com/office/powerpoint/2010/main" val="2427848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F375-72CE-717C-7CCE-D3F98387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1FE8D-2754-CFBD-1599-C448F952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– MGD Process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random mask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cover the student’s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feature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the corresponding mask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cover the student’s feature map 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try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 teacher’s feature maps with remaining pixels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the distillation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𝑑𝑖𝑠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MGD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train all the models with total loss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  <a:blipFill>
                <a:blip r:embed="rId3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89661321-64A5-E580-1E04-143D771A4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103" y="3562505"/>
            <a:ext cx="74104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1DE4F170-CABE-E906-C801-5C06CEF6F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187" y="5319555"/>
            <a:ext cx="3095625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7670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4B3F5-8597-5700-0C57-1B80F8DD3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E0AE87-4545-8F6C-248F-E03E9F3B3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 (1 layer)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1260F51-E89C-3260-3278-B4B7AA5157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38536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I5-10500 + 2080Ti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 seed = 42</a:t>
                </a: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SGD(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weight_decay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1e-4) +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BCEWithLogitsLoss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CosineAnnealingLR</a:t>
                </a:r>
                <a:endParaRPr lang="en-US" altLang="zh-TW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Modify the stride of layer stride2[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from 2 to 1</a:t>
                </a:r>
              </a:p>
              <a:p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lr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0.01, alpha = 0.1</a:t>
                </a: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ABCD Dataset as training set (0.8 for training and 0.2 for validating)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Google Dataset as testing set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MobileNet_V3_Large with modified stride2[0] layer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teacher model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MobileNet_V3_Small with modified stride2[4] layer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student model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1260F51-E89C-3260-3278-B4B7AA5157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38536" cy="4351338"/>
              </a:xfrm>
              <a:blipFill>
                <a:blip r:embed="rId3"/>
                <a:stretch>
                  <a:fillRect l="-780" t="-28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59638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9BC93-ABD8-5C46-C81C-AE38819A86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06CDDB6-62EF-81FB-D9C5-6BCDD94FC6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961E4E0-BC52-54AB-97D1-1FA98B9263B0}"/>
              </a:ext>
            </a:extLst>
          </p:cNvPr>
          <p:cNvSpPr txBox="1"/>
          <p:nvPr/>
        </p:nvSpPr>
        <p:spPr>
          <a:xfrm>
            <a:off x="1765971" y="1287353"/>
            <a:ext cx="1744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 err="1"/>
              <a:t>lambda_mgd</a:t>
            </a:r>
            <a:r>
              <a:rPr lang="en-US" altLang="zh-TW" sz="1400" dirty="0"/>
              <a:t> = 0.15</a:t>
            </a:r>
            <a:endParaRPr lang="zh-TW" altLang="en-US" sz="1400" dirty="0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73F05521-913D-67D6-994C-7ACBE142A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236" y="1595130"/>
            <a:ext cx="4286400" cy="2520000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2072E7B0-55BB-D680-7228-17F932555A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800" y="4210688"/>
            <a:ext cx="4286400" cy="2520000"/>
          </a:xfrm>
          <a:prstGeom prst="rect">
            <a:avLst/>
          </a:prstGeom>
        </p:spPr>
      </p:pic>
      <p:pic>
        <p:nvPicPr>
          <p:cNvPr id="16" name="圖片 15">
            <a:extLst>
              <a:ext uri="{FF2B5EF4-FFF2-40B4-BE49-F238E27FC236}">
                <a16:creationId xmlns:a16="http://schemas.microsoft.com/office/drawing/2014/main" id="{A84DFF38-A4E4-1E22-5061-D3D1E8D4D96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10364" y="1595130"/>
            <a:ext cx="4286400" cy="2520000"/>
          </a:xfrm>
          <a:prstGeom prst="rect">
            <a:avLst/>
          </a:prstGeom>
        </p:spPr>
      </p:pic>
      <p:sp>
        <p:nvSpPr>
          <p:cNvPr id="17" name="文字方塊 16">
            <a:extLst>
              <a:ext uri="{FF2B5EF4-FFF2-40B4-BE49-F238E27FC236}">
                <a16:creationId xmlns:a16="http://schemas.microsoft.com/office/drawing/2014/main" id="{E511AFAD-A49C-0730-B784-4B61C914C759}"/>
              </a:ext>
            </a:extLst>
          </p:cNvPr>
          <p:cNvSpPr txBox="1"/>
          <p:nvPr/>
        </p:nvSpPr>
        <p:spPr>
          <a:xfrm>
            <a:off x="5223535" y="3902911"/>
            <a:ext cx="1744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 err="1"/>
              <a:t>lambda_mgd</a:t>
            </a:r>
            <a:r>
              <a:rPr lang="en-US" altLang="zh-TW" sz="1400" dirty="0"/>
              <a:t> = 0.1</a:t>
            </a:r>
            <a:endParaRPr lang="zh-TW" altLang="en-US" sz="14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2DC282F3-85E4-A4C1-260D-C1A014BD7150}"/>
              </a:ext>
            </a:extLst>
          </p:cNvPr>
          <p:cNvSpPr txBox="1"/>
          <p:nvPr/>
        </p:nvSpPr>
        <p:spPr>
          <a:xfrm>
            <a:off x="8729003" y="1287353"/>
            <a:ext cx="18641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 err="1"/>
              <a:t>lambda_mgd</a:t>
            </a:r>
            <a:r>
              <a:rPr lang="en-US" altLang="zh-TW" sz="1400" dirty="0"/>
              <a:t> = 0.075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9736903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36A89-7EB9-1DEA-2639-EBA97E622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5F72210-546D-FACD-DB8E-5C94E2EC8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 (2 layers)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213CBE3-E580-1934-22EB-AD281F6974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38536" cy="4351338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I5-10500 + 2080Ti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 seed = 42</a:t>
                </a: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SGD(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weight_decay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1e-4) +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BCEWithLogitsLoss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CosineAnnealingLR</a:t>
                </a:r>
                <a:endParaRPr lang="en-US" altLang="zh-TW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Modify the stride of layer stride2[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from 2 to 1</a:t>
                </a:r>
              </a:p>
              <a:p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lr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0.02, alpha = 0.0075</a:t>
                </a:r>
              </a:p>
              <a:p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ABCD Dataset as training set (0.8 for training and 0.2 for validating)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Google Dataset as testing set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MobileNet_V3_Large with modified stride2[0] layer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teacher model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MobileNet_V3_Small with modified stride2[4] layer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student model</a:t>
                </a:r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4213CBE3-E580-1934-22EB-AD281F6974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38536" cy="4351338"/>
              </a:xfrm>
              <a:blipFill>
                <a:blip r:embed="rId3"/>
                <a:stretch>
                  <a:fillRect l="-780" t="-280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034170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F3D0C5-EEE3-894F-6A37-EC6EDCCE0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26DF600-D40C-799C-3E87-A00CE7C4A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F3CFC575-C70F-38BA-4EF2-5734D8DAE245}"/>
              </a:ext>
            </a:extLst>
          </p:cNvPr>
          <p:cNvSpPr txBox="1"/>
          <p:nvPr/>
        </p:nvSpPr>
        <p:spPr>
          <a:xfrm>
            <a:off x="1765971" y="1287353"/>
            <a:ext cx="17449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 err="1"/>
              <a:t>lambda_mgd</a:t>
            </a:r>
            <a:r>
              <a:rPr lang="en-US" altLang="zh-TW" sz="1400" dirty="0"/>
              <a:t> = 0.1</a:t>
            </a:r>
            <a:endParaRPr lang="zh-TW" altLang="en-US" sz="1400" dirty="0"/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1756FD3-2FCF-DE4E-23AB-388488A39AF2}"/>
              </a:ext>
            </a:extLst>
          </p:cNvPr>
          <p:cNvSpPr txBox="1"/>
          <p:nvPr/>
        </p:nvSpPr>
        <p:spPr>
          <a:xfrm>
            <a:off x="5164039" y="3902911"/>
            <a:ext cx="186603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 err="1"/>
              <a:t>lambda_mgd</a:t>
            </a:r>
            <a:r>
              <a:rPr lang="en-US" altLang="zh-TW" sz="1400" dirty="0"/>
              <a:t> = 0.075</a:t>
            </a:r>
            <a:endParaRPr lang="zh-TW" altLang="en-US" sz="1400" dirty="0"/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F4960C46-FDCF-B26C-4C15-FE6592475470}"/>
              </a:ext>
            </a:extLst>
          </p:cNvPr>
          <p:cNvSpPr txBox="1"/>
          <p:nvPr/>
        </p:nvSpPr>
        <p:spPr>
          <a:xfrm>
            <a:off x="8729003" y="1287353"/>
            <a:ext cx="186418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 err="1"/>
              <a:t>lambda_mgd</a:t>
            </a:r>
            <a:r>
              <a:rPr lang="en-US" altLang="zh-TW" sz="1400" dirty="0"/>
              <a:t> = 0.125</a:t>
            </a:r>
            <a:endParaRPr lang="zh-TW" altLang="en-US" sz="1400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B3FCCCD9-9E1B-A0DC-3718-3C93B2619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349" y="1595130"/>
            <a:ext cx="4286400" cy="2520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8E40FC56-A638-7D95-C058-231EF8C17A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52799" y="4210688"/>
            <a:ext cx="4286400" cy="2520000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636A6B82-D7AE-6DD1-79E0-A32218178A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7896" y="1595130"/>
            <a:ext cx="4286400" cy="25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68093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DDE7C-9164-8009-F780-2C99CEFFC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B081C3AC-D5B3-6E71-9193-0257AF5E3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2EA36D5-14DF-DDA2-474D-DCBA79C6C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144523"/>
              </p:ext>
            </p:extLst>
          </p:nvPr>
        </p:nvGraphicFramePr>
        <p:xfrm>
          <a:off x="949996" y="1926268"/>
          <a:ext cx="10292007" cy="3980883"/>
        </p:xfrm>
        <a:graphic>
          <a:graphicData uri="http://schemas.openxmlformats.org/drawingml/2006/table">
            <a:tbl>
              <a:tblPr/>
              <a:tblGrid>
                <a:gridCol w="3647372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1005453566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211015883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054909154"/>
                    </a:ext>
                  </a:extLst>
                </a:gridCol>
                <a:gridCol w="1328927">
                  <a:extLst>
                    <a:ext uri="{9D8B030D-6E8A-4147-A177-3AD203B41FA5}">
                      <a16:colId xmlns:a16="http://schemas.microsoft.com/office/drawing/2014/main" val="3642255895"/>
                    </a:ext>
                  </a:extLst>
                </a:gridCol>
              </a:tblGrid>
              <a:tr h="4983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V3 Large, stride2[0]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98.64%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1.02%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1.14%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80247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HLCFN3S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94.57%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3.10%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5.43%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0.76%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6823082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stride2[4]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82.81%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5.09%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6.33%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3.85%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156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440480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1 layer,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V3 Large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0.01, alpha = 0.01,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lambda_mgd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0.15</a:t>
                      </a:r>
                      <a:endParaRPr kumimoji="0" lang="en-US" altLang="zh-TW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99.55%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174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594138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1 layer, 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HLCFN3S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0.01, alpha = 0.1,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lambda_mgd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0.1</a:t>
                      </a:r>
                      <a:endParaRPr kumimoji="0" lang="en-US" altLang="zh-TW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95.02%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2.94%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3.17%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2.71%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172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8006538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2 layer,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MobileNet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V3 Large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0.02, alpha = 0.0075,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lambda_mgd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0.1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99.55%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0.65%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0.45%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0.86%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188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859686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MGD 2 layer, 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HLCFN3S</a:t>
                      </a:r>
                    </a:p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lr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0.02, alpha = 0.0075,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lambda_mgd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0.1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94.12%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3.05%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3.62%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2.47%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>
                        <a:buNone/>
                      </a:pPr>
                      <a:r>
                        <a:rPr lang="en-US" altLang="zh-TW" sz="1200" kern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186</a:t>
                      </a:r>
                      <a:endParaRPr lang="zh-TW" altLang="en-US" sz="1200" kern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F98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2451518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C752FB7A-2BAA-B0F6-A508-57DA375A4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C155226-6E0A-EE3E-2850-F5FFFA6571C6}"/>
              </a:ext>
            </a:extLst>
          </p:cNvPr>
          <p:cNvSpPr txBox="1"/>
          <p:nvPr/>
        </p:nvSpPr>
        <p:spPr>
          <a:xfrm>
            <a:off x="5327750" y="6139810"/>
            <a:ext cx="15544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Student: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Small</a:t>
            </a:r>
            <a:endParaRPr lang="zh-TW" altLang="en-US" sz="1200" b="1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F25DAE52-5596-1437-EA9A-820148BA36B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Result Metric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982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4282</TotalTime>
  <Words>828</Words>
  <Application>Microsoft Office PowerPoint</Application>
  <PresentationFormat>寬螢幕</PresentationFormat>
  <Paragraphs>200</Paragraphs>
  <Slides>10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標楷體</vt:lpstr>
      <vt:lpstr>Aptos</vt:lpstr>
      <vt:lpstr>Aptos Display</vt:lpstr>
      <vt:lpstr>Arial</vt:lpstr>
      <vt:lpstr>Cambria Math</vt:lpstr>
      <vt:lpstr>Times New Roman</vt:lpstr>
      <vt:lpstr>Office 佈景主題</vt:lpstr>
      <vt:lpstr>4/15 個人咪挺 The result of MGD with HLCFN3S as teacher</vt:lpstr>
      <vt:lpstr>Recall – Result Metric (MMAC)</vt:lpstr>
      <vt:lpstr>Model Structure (teacher)</vt:lpstr>
      <vt:lpstr>Model Structure (student)</vt:lpstr>
      <vt:lpstr>Recall – MGD Process</vt:lpstr>
      <vt:lpstr>Train Setting (1 layer)</vt:lpstr>
      <vt:lpstr>Metric Curve (TDR@FDR=1%)</vt:lpstr>
      <vt:lpstr>Train Setting (2 layers)</vt:lpstr>
      <vt:lpstr>Metric Curve (TDR@FDR=1%)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105</cp:revision>
  <dcterms:created xsi:type="dcterms:W3CDTF">2025-09-01T15:41:03Z</dcterms:created>
  <dcterms:modified xsi:type="dcterms:W3CDTF">2026-04-14T23:58:46Z</dcterms:modified>
</cp:coreProperties>
</file>
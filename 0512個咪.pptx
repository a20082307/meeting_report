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31" r:id="rId3"/>
    <p:sldId id="340" r:id="rId4"/>
    <p:sldId id="313" r:id="rId5"/>
    <p:sldId id="343" r:id="rId6"/>
    <p:sldId id="344" r:id="rId7"/>
    <p:sldId id="342" r:id="rId8"/>
    <p:sldId id="312" r:id="rId9"/>
    <p:sldId id="345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98F"/>
    <a:srgbClr val="E6ECE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034F-5C94-A8AC-DB66-CDCC2C4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D682A5-C5D6-1D23-B075-274D91B5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D3F290-F4DB-EE66-9A0F-434D23F3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FCE69-EFC6-182E-3E92-0D69EC6B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AF60-5971-5CCA-3009-805BC9BE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287589F-94CE-54F6-AD8D-B76120FEE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43DEB6-F41D-561C-545A-4F61D5847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9FFB7E-801C-ACEB-136C-BE16B6B84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4561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E0BC6-6CAF-7DB6-0F37-0C0441A2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C438A25-4608-826F-F69D-7F3778381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3D86B4B-72C3-CCD2-2FC9-0EC6A6E15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0009D9-9DD1-3BDB-2779-9FDE4597B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592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F7DDA-34C2-5860-40A0-DB96E382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F7D7D1-89B6-DE65-8756-67624128E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5252D3-9FD1-6701-C572-49FA29CD9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8266E4-FCA7-8B5F-DBC0-CD32A64AC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0456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41F20-F6D6-1EC4-9480-CF9B4E667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8F8CF2-836D-B076-223D-DBE95A98D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AE7F656-6F62-2739-530C-6F73B67FA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19E7E4-4179-E878-6D8E-993B00224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7187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5/12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effect of custom layers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7" y="6248064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9CC5FB41-8AC6-C593-7D96-F0E2BD889B26}"/>
              </a:ext>
            </a:extLst>
          </p:cNvPr>
          <p:cNvGrpSpPr/>
          <p:nvPr/>
        </p:nvGrpSpPr>
        <p:grpSpPr>
          <a:xfrm>
            <a:off x="6139544" y="1889631"/>
            <a:ext cx="5677394" cy="3668020"/>
            <a:chOff x="5582112" y="1626520"/>
            <a:chExt cx="6460126" cy="412510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C9669128-3870-BF7D-A101-5A7E187A2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2112" y="1626520"/>
              <a:ext cx="5717336" cy="4125100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197C474-7B9C-9D3C-BE62-F5BB3EE8C1EA}"/>
                </a:ext>
              </a:extLst>
            </p:cNvPr>
            <p:cNvSpPr/>
            <p:nvPr/>
          </p:nvSpPr>
          <p:spPr>
            <a:xfrm>
              <a:off x="5718218" y="2961449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F8FEE89-7DC9-63A7-3F1C-AD43F64C108B}"/>
                </a:ext>
              </a:extLst>
            </p:cNvPr>
            <p:cNvSpPr/>
            <p:nvPr/>
          </p:nvSpPr>
          <p:spPr>
            <a:xfrm>
              <a:off x="5718218" y="2087503"/>
              <a:ext cx="5455865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7217CE0-F7F0-D8EC-4828-89D67CA00623}"/>
                </a:ext>
              </a:extLst>
            </p:cNvPr>
            <p:cNvSpPr/>
            <p:nvPr/>
          </p:nvSpPr>
          <p:spPr>
            <a:xfrm>
              <a:off x="5718219" y="2307016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872792F-019A-3B55-644F-437C481B281A}"/>
                </a:ext>
              </a:extLst>
            </p:cNvPr>
            <p:cNvSpPr/>
            <p:nvPr/>
          </p:nvSpPr>
          <p:spPr>
            <a:xfrm>
              <a:off x="5718219" y="2521643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3477D0B-1BFD-783F-3FF6-7D3FA8FEB257}"/>
                </a:ext>
              </a:extLst>
            </p:cNvPr>
            <p:cNvSpPr/>
            <p:nvPr/>
          </p:nvSpPr>
          <p:spPr>
            <a:xfrm>
              <a:off x="5718218" y="4045902"/>
              <a:ext cx="5455863" cy="1947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內容版面配置區 2">
              <a:extLst>
                <a:ext uri="{FF2B5EF4-FFF2-40B4-BE49-F238E27FC236}">
                  <a16:creationId xmlns:a16="http://schemas.microsoft.com/office/drawing/2014/main" id="{8A088E45-80BC-9873-993A-318FDC076AF3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051694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stride2[0]</a:t>
              </a:r>
            </a:p>
          </p:txBody>
        </p:sp>
        <p:sp>
          <p:nvSpPr>
            <p:cNvPr id="14" name="內容版面配置區 2">
              <a:extLst>
                <a:ext uri="{FF2B5EF4-FFF2-40B4-BE49-F238E27FC236}">
                  <a16:creationId xmlns:a16="http://schemas.microsoft.com/office/drawing/2014/main" id="{0CF542A6-5191-0C85-0B36-7C959749E395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270088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stride2[1]</a:t>
              </a:r>
            </a:p>
          </p:txBody>
        </p:sp>
        <p:sp>
          <p:nvSpPr>
            <p:cNvPr id="15" name="內容版面配置區 2">
              <a:extLst>
                <a:ext uri="{FF2B5EF4-FFF2-40B4-BE49-F238E27FC236}">
                  <a16:creationId xmlns:a16="http://schemas.microsoft.com/office/drawing/2014/main" id="{73D9EEC6-922B-54B0-A763-E6B410ABC982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488482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stride2[2]</a:t>
              </a:r>
            </a:p>
          </p:txBody>
        </p:sp>
        <p:sp>
          <p:nvSpPr>
            <p:cNvPr id="16" name="內容版面配置區 2">
              <a:extLst>
                <a:ext uri="{FF2B5EF4-FFF2-40B4-BE49-F238E27FC236}">
                  <a16:creationId xmlns:a16="http://schemas.microsoft.com/office/drawing/2014/main" id="{0C99F337-563F-19EF-C34C-9BDD006BD010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2924521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stride2[3]</a:t>
              </a:r>
            </a:p>
          </p:txBody>
        </p:sp>
        <p:sp>
          <p:nvSpPr>
            <p:cNvPr id="17" name="內容版面配置區 2">
              <a:extLst>
                <a:ext uri="{FF2B5EF4-FFF2-40B4-BE49-F238E27FC236}">
                  <a16:creationId xmlns:a16="http://schemas.microsoft.com/office/drawing/2014/main" id="{0B8F949A-8205-8380-48B9-F4C7ACF93011}"/>
                </a:ext>
              </a:extLst>
            </p:cNvPr>
            <p:cNvSpPr txBox="1">
              <a:spLocks/>
            </p:cNvSpPr>
            <p:nvPr/>
          </p:nvSpPr>
          <p:spPr>
            <a:xfrm>
              <a:off x="11222816" y="4008974"/>
              <a:ext cx="819422" cy="26856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stride2[4]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2B3AD89-5EA1-1FA4-F27E-83B394FFE84D}"/>
                </a:ext>
              </a:extLst>
            </p:cNvPr>
            <p:cNvSpPr/>
            <p:nvPr/>
          </p:nvSpPr>
          <p:spPr>
            <a:xfrm>
              <a:off x="5718218" y="4704052"/>
              <a:ext cx="5455863" cy="194709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23" name="圖片 22">
            <a:extLst>
              <a:ext uri="{FF2B5EF4-FFF2-40B4-BE49-F238E27FC236}">
                <a16:creationId xmlns:a16="http://schemas.microsoft.com/office/drawing/2014/main" id="{CB1781C1-0B31-F08B-4A6F-13F35B69B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6" y="1419004"/>
            <a:ext cx="4822613" cy="41386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1138030" y="4688974"/>
            <a:ext cx="4562126" cy="148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385ED7-8688-6701-233A-529186A4496E}"/>
              </a:ext>
            </a:extLst>
          </p:cNvPr>
          <p:cNvSpPr txBox="1"/>
          <p:nvPr/>
        </p:nvSpPr>
        <p:spPr>
          <a:xfrm>
            <a:off x="1881899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Large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F3A1C2-43A9-08F7-98D7-1E69D7152F60}"/>
              </a:ext>
            </a:extLst>
          </p:cNvPr>
          <p:cNvSpPr txBox="1"/>
          <p:nvPr/>
        </p:nvSpPr>
        <p:spPr>
          <a:xfrm>
            <a:off x="7120122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Small</a:t>
            </a:r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2B5E-EC8F-C191-31CD-CFB6A61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2587F-E3EF-8584-1014-0869BA9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V.S. Custom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459BF8-A95E-79BE-A8E5-74C3E1EF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1" y="1899000"/>
            <a:ext cx="5662090" cy="3060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56B50-8C9F-5B3C-B71E-181ADD3C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971" y="1899000"/>
            <a:ext cx="5696024" cy="3060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270110-D70E-D44A-FEB6-0145962DA261}"/>
              </a:ext>
            </a:extLst>
          </p:cNvPr>
          <p:cNvSpPr/>
          <p:nvPr/>
        </p:nvSpPr>
        <p:spPr>
          <a:xfrm>
            <a:off x="9217748" y="3429001"/>
            <a:ext cx="730332" cy="112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6C02B-5F74-92EE-BE38-4D6339D67261}"/>
              </a:ext>
            </a:extLst>
          </p:cNvPr>
          <p:cNvSpPr/>
          <p:nvPr/>
        </p:nvSpPr>
        <p:spPr>
          <a:xfrm>
            <a:off x="10326972" y="3409122"/>
            <a:ext cx="88768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22B2204-AA5D-2DF1-160B-EF8CC1494C29}"/>
              </a:ext>
            </a:extLst>
          </p:cNvPr>
          <p:cNvSpPr txBox="1"/>
          <p:nvPr/>
        </p:nvSpPr>
        <p:spPr>
          <a:xfrm>
            <a:off x="788124" y="5034272"/>
            <a:ext cx="417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Modified</a:t>
            </a:r>
          </a:p>
          <a:p>
            <a:pPr algn="ctr"/>
            <a:r>
              <a:rPr lang="en-US" altLang="zh-TW" dirty="0"/>
              <a:t>( Only change part of </a:t>
            </a:r>
            <a:r>
              <a:rPr lang="en-US" altLang="zh-TW" dirty="0" err="1"/>
              <a:t>torchvision</a:t>
            </a:r>
            <a:r>
              <a:rPr lang="en-US" altLang="zh-TW" dirty="0"/>
              <a:t> model )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4B0AF9-843E-9F4F-C5EA-5BB09717F2C2}"/>
              </a:ext>
            </a:extLst>
          </p:cNvPr>
          <p:cNvSpPr txBox="1"/>
          <p:nvPr/>
        </p:nvSpPr>
        <p:spPr>
          <a:xfrm>
            <a:off x="7114094" y="5034272"/>
            <a:ext cx="420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Custom</a:t>
            </a:r>
          </a:p>
          <a:p>
            <a:pPr algn="ctr"/>
            <a:r>
              <a:rPr lang="en-US" altLang="zh-TW" dirty="0"/>
              <a:t>( Re-write the model with some mistake )</a:t>
            </a:r>
          </a:p>
          <a:p>
            <a:pPr algn="ctr"/>
            <a:r>
              <a:rPr lang="en-US" altLang="zh-TW" dirty="0"/>
              <a:t>( Used in previous time 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28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(Origin SE layer)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260F51-E89C-3260-3278-B4B7AA515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MobileNet_V3_Large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F073-21D0-EFDE-56A7-5EB147B3C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6C1401-6931-7B02-1AB0-5C12058A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370F872-AAE2-BDFC-49D6-7BE945990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8000"/>
            <a:ext cx="6123429" cy="3600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1ACAFF5-9000-1A2E-AD7B-A06CCD571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3258000"/>
            <a:ext cx="6123429" cy="360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A7AC41E-1332-7BBE-723C-11A7168FD8F3}"/>
              </a:ext>
            </a:extLst>
          </p:cNvPr>
          <p:cNvSpPr txBox="1"/>
          <p:nvPr/>
        </p:nvSpPr>
        <p:spPr>
          <a:xfrm>
            <a:off x="2286849" y="5022374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6AC4EB4-302C-1C07-A599-2364362E2D68}"/>
              </a:ext>
            </a:extLst>
          </p:cNvPr>
          <p:cNvSpPr txBox="1"/>
          <p:nvPr/>
        </p:nvSpPr>
        <p:spPr>
          <a:xfrm>
            <a:off x="8355420" y="2919446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96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3DDB-F9AE-9D8E-C368-6A2BF3EB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C9A4A8-F19E-19A6-3470-EAE31ED8A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(Origin Projection layer)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D34227-3434-32FD-8DB2-F41DD0233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MobileNet_V3_Large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143170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BF428-56F1-474A-8398-4A9D2DD8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C2FF9-814C-9471-42C5-BEBA32C4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4CF26F3-6A82-EE48-E20C-E772E4669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8000"/>
            <a:ext cx="6123429" cy="3600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DC2D087-687B-79CB-1B28-BA97C2DE7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3258000"/>
            <a:ext cx="6123429" cy="36000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99EC55D-AB7B-7359-CB98-2597BAF2E1ED}"/>
              </a:ext>
            </a:extLst>
          </p:cNvPr>
          <p:cNvSpPr txBox="1"/>
          <p:nvPr/>
        </p:nvSpPr>
        <p:spPr>
          <a:xfrm>
            <a:off x="2286849" y="5022374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9B60AC5-64A1-EF01-4324-036BFAABA138}"/>
              </a:ext>
            </a:extLst>
          </p:cNvPr>
          <p:cNvSpPr txBox="1"/>
          <p:nvPr/>
        </p:nvSpPr>
        <p:spPr>
          <a:xfrm>
            <a:off x="8355420" y="2919446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09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073733"/>
              </p:ext>
            </p:extLst>
          </p:nvPr>
        </p:nvGraphicFramePr>
        <p:xfrm>
          <a:off x="829210" y="863056"/>
          <a:ext cx="10496910" cy="5947443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TW" altLang="en-US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 </a:t>
                      </a: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85.11%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3.489%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6.033%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0.956%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stride2[0]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00348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origin SE layer, stride2[0]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98.19%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1.29%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1.81%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164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06933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origin projection layer, stride2[0]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64171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stride2[0]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985394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HLCFN3S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82308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90.95%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5.88%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317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  w/ origin SE layer,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88.24%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4.87%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6.79%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2.95%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99944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  w/ origin projection layer,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87.33%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4.52%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641779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60463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1layer, Custom </a:t>
                      </a:r>
                      <a:r>
                        <a:rPr kumimoji="0" lang="en-US" altLang="zh-TW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MGD 1layer, Modified </a:t>
                      </a:r>
                      <a:r>
                        <a:rPr kumimoji="0" lang="en-US" altLang="zh-TW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V3 Large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2.73%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1.38%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665243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</a:t>
                      </a: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91.40%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3.63%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4.98%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2.28%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006538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B965526D-7A1F-4E28-BBBF-0B7F25ED05CE}"/>
              </a:ext>
            </a:extLst>
          </p:cNvPr>
          <p:cNvSpPr txBox="1">
            <a:spLocks/>
          </p:cNvSpPr>
          <p:nvPr/>
        </p:nvSpPr>
        <p:spPr>
          <a:xfrm>
            <a:off x="847190" y="0"/>
            <a:ext cx="10515600" cy="9494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8A99A-F41B-5E0F-AAF6-607194CBF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65E87B-F7C0-22C1-95A1-141F81FF9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of changed layer &amp; Estimations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F25D8-0C80-5238-6742-6ACC85C8D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38536" cy="5032375"/>
          </a:xfrm>
        </p:spPr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SE forward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weakens channel suppression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preserve more information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projection activation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breaks MobileNetV3’s linear bottleneck assumption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non-linearity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help representation but can also distort residual features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benefits from the changed SE forward, suggesting that preserved channel information helps spoof/live classification.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removing the extra projection activation gives the best performance.</a:t>
            </a:r>
          </a:p>
          <a:p>
            <a:pPr lvl="1"/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relies more on effective channel suppression.</a:t>
            </a:r>
            <a:b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SE may preserve noisy channels, while extra activation may partially compensate for limited model capacity.</a:t>
            </a:r>
          </a:p>
        </p:txBody>
      </p:sp>
    </p:spTree>
    <p:extLst>
      <p:ext uri="{BB962C8B-B14F-4D97-AF65-F5344CB8AC3E}">
        <p14:creationId xmlns:p14="http://schemas.microsoft.com/office/powerpoint/2010/main" val="1364337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5018</TotalTime>
  <Words>538</Words>
  <Application>Microsoft Office PowerPoint</Application>
  <PresentationFormat>寬螢幕</PresentationFormat>
  <Paragraphs>139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標楷體</vt:lpstr>
      <vt:lpstr>Aptos</vt:lpstr>
      <vt:lpstr>Aptos Display</vt:lpstr>
      <vt:lpstr>Arial</vt:lpstr>
      <vt:lpstr>Times New Roman</vt:lpstr>
      <vt:lpstr>Office 佈景主題</vt:lpstr>
      <vt:lpstr>5/12 個人咪挺 The effect of custom layers</vt:lpstr>
      <vt:lpstr>Model Structure</vt:lpstr>
      <vt:lpstr>Modified V.S. Custom</vt:lpstr>
      <vt:lpstr>Train Setting (Origin SE layer)</vt:lpstr>
      <vt:lpstr>Metric Curve (TDR@FDR=1%)</vt:lpstr>
      <vt:lpstr>Train Setting (Origin Projection layer)</vt:lpstr>
      <vt:lpstr>Metric Curve (TDR@FDR=1%)</vt:lpstr>
      <vt:lpstr>PowerPoint 簡報</vt:lpstr>
      <vt:lpstr>Effects of changed layer &amp; Estimations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120</cp:revision>
  <dcterms:created xsi:type="dcterms:W3CDTF">2025-09-01T15:41:03Z</dcterms:created>
  <dcterms:modified xsi:type="dcterms:W3CDTF">2026-05-12T00:15:17Z</dcterms:modified>
</cp:coreProperties>
</file>
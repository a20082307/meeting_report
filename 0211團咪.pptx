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91" r:id="rId3"/>
    <p:sldId id="314" r:id="rId4"/>
    <p:sldId id="319" r:id="rId5"/>
    <p:sldId id="313" r:id="rId6"/>
    <p:sldId id="318" r:id="rId7"/>
    <p:sldId id="320" r:id="rId8"/>
    <p:sldId id="321" r:id="rId9"/>
    <p:sldId id="322" r:id="rId10"/>
    <p:sldId id="312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DB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7" autoAdjust="0"/>
    <p:restoredTop sz="97484" autoAdjust="0"/>
  </p:normalViewPr>
  <p:slideViewPr>
    <p:cSldViewPr snapToGrid="0">
      <p:cViewPr varScale="1">
        <p:scale>
          <a:sx n="144" d="100"/>
          <a:sy n="144" d="100"/>
        </p:scale>
        <p:origin x="150" y="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1702F5-EEC7-43F1-8753-E49F1251FB00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636AB37-21CE-43C9-98D2-EEC12DC16FE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83048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04F47C-490F-90B9-82A0-AC43D6CA5D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BFEE019-2C36-0710-2A70-F03814F005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33A7811C-2A84-7188-C080-EF987252A2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580C3D2-94C8-9949-39D7-869D0929E5D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984119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65BCD1-1DB1-2D4B-5814-67E7FE084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F070D8B-DEB5-DC23-1DE8-8E1BB6495B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A6EFCCC3-D748-9ADF-1AF9-7782D20E18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C57AA0E-6F4E-1C1B-11FC-A6C1507736E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75090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B28D7A-F5B3-C1D8-E5D1-851A501B3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91D77C0-9270-61D6-75FE-A5A5DE0C92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9873FF7-1B8F-1AAE-AC48-71DE5037A9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BBE85BD-668D-2032-3C7C-5006AEE03D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222241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28B83-81F0-AEF6-5DFB-810F4C1D5A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AB739B9-1D26-28FA-C09D-32B000C999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B461D11-6812-AA98-B3D9-601EF9559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D854294-6615-CEB4-062D-5A18B56CE3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1325372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38709-312E-164A-E169-609D394216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BD8F1E5F-1FC2-C3B3-8E6D-3710EFE609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1094909-9C90-7255-9694-C2DE91F525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4FF29F62-47CE-9A63-BD96-475DD4A671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286178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C79980-2376-2DCF-0B79-C0CDA998D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F988E1C-1FC0-9D61-BA5E-780F36C48C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69E3D3FF-99CB-2225-9516-C11E24641B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1B393BA-50D8-1CB5-137D-E19BA262A1D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50473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09289-2D20-D8B9-4819-1411242E1C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66A83845-A02A-27FA-6C36-8E1F2B36047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025F63A-082E-5DC6-9368-62B4B0F8391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B6500F6-6874-A274-8802-7C4A348DCA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9593631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0EA62C-1E51-4A1A-1E4D-9CBCF0B83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746CC45-491A-04C3-9BB8-05AF07FDD1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4EE372E-FF46-8D67-DAE3-EB94102EA4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E4881C7C-9C99-58E3-57AC-925A4753D3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636AB37-21CE-43C9-98D2-EEC12DC16FEF}" type="slidenum">
              <a:rPr lang="zh-TW" altLang="en-US" smtClean="0"/>
              <a:t>10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526181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AD4DCBA-51AC-D91B-47BB-225CDD2CAE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8BD35443-63AB-3EC9-4C95-14517F26F58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E7DC0BC-8B6B-5D06-F648-6BEC56232C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CA1CF83-B8C3-0527-DB73-39EF864D53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3C2DC4-176A-869E-5524-2BB4AC92F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52782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BCE5284-E6A7-DB8E-F4AD-683E72284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9DC3518F-E7CF-A5A9-772C-686B8E7618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12D7864-750A-0C68-0679-1E0658508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7D2C57-3681-4A39-E0B0-4A4A938647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E25840A-99A4-0733-D2A5-3C6DA7AB0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519911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62A5DA9-35BA-51E2-0602-E45F73A0E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70AA28-5A70-EF53-8E37-3BBF60A72F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E086CC4-5AE6-24A5-8E01-5AA15EE9E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2E24F4A-A52C-43FE-C759-83753D3DA8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19929D9-41D6-A96B-F658-3093CF76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441346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667688-E3C2-365B-E7B1-3A09A26F33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EB6CCC1-A33B-201B-5126-CC5DF3A3AE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DB83EA-3693-E5A1-4DA0-D7C260403D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68A9F6EB-DF8A-7785-28B5-E1DD7893C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B4D81CD-4A15-EB38-5E54-9CF64E96B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07FE8CD-30B4-82D9-6A3D-B5B7948D73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973389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38288C8-1A78-D9CD-48BD-C78FC8C85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3F2DA23-D978-4625-4958-134BDCAE95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9A290B02-5C50-D04F-76AD-4D18BB038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D1D64ED-6A45-9F9E-18DB-FAFE0C04788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5BFBE9D-957A-678B-4E8F-6BF86C2A032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4BA2C9A-E056-8B84-773D-956B58F4AB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252D1E4F-C411-E9C1-184F-C47589427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B52ED124-F997-8EDB-DC6D-5791A12779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537539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578DDD-85A0-8A88-85BC-77BC25968E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D3DC6CF-DE9A-8D77-4454-27F7EC81C8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63892C1-B560-38AF-0E46-C7384C100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8D7D0F1-C437-5040-82FC-AEB9ADA05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12108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C2FC309F-5D21-2DC0-2299-EECC9A91B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B7DFA01-E969-6DD8-CB5B-DDAB9A55D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4946CC-D32E-B973-93C3-DF7B666B5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82354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30BF451-5FC6-82F6-637D-0F7A83332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D9D7F59-F1BE-F3D4-37A5-69E826EB80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1A7818BD-75ED-0ED7-9684-90CF26D314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9D47E-1CD2-7F02-8736-BEA8066F9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70CE9-FE59-884B-AA87-6525267E3D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98824D4-B6A6-7EC0-3559-C0116A43D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3567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B3BD5F-7280-1728-56F0-858936365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0250C36-27A7-A928-3E18-262A19162A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326AF92-F7AE-DFE9-668F-2301504B8A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265A76F-A3EE-A51A-DFE1-4ED26DB12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A6173AB-9719-AA37-2A31-BF074D476E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1EE834-E54F-316C-CB95-5DEDD844F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3299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FFA9E8-094A-D4BE-26F7-3C24200EF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962626-7AC7-B1E5-C4CC-9DEEDC124D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AC26FA6-3AB6-5F0F-96BC-7C1E58F0E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79942ED-8906-52F9-E382-E7C8FEF5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2B9C5B7-32BF-6057-C07A-F35836BF1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91324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C563645D-7CB2-6F76-9456-8622C20F0E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2D5E55E-6695-B7B7-9C3E-81A7FA8CE0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C7D1E62-79D6-81D5-417F-04A18360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77AB272-8120-A724-2DD5-02DF78AAD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95E0427-9A80-23C2-23DD-0E0788B5D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020785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FC02BF7-E234-88FF-25C1-67A0168DBF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FF9B0BC-6ECF-7838-6875-F96D7CEC29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E6892DF-9D40-70F0-ADDE-D0298766F7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697C4A-BE63-4EF5-B0E1-B2249042B5A8}" type="datetimeFigureOut">
              <a:rPr lang="zh-TW" altLang="en-US" smtClean="0"/>
              <a:t>2026/2/10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584B6F0-6550-3CE3-1E23-FA4AEE9213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081F80E-2576-6419-3956-6B702AF862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2FB4CB-5B9C-4887-8DFF-DBBABBC4C808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8301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B6E718C-0417-3EF3-A019-EEE0579E7A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88438" y="2672204"/>
            <a:ext cx="9015124" cy="1513592"/>
          </a:xfrm>
        </p:spPr>
        <p:txBody>
          <a:bodyPr>
            <a:noAutofit/>
          </a:bodyPr>
          <a:lstStyle/>
          <a:p>
            <a:r>
              <a:rPr lang="en-US" altLang="zh-TW" sz="7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2/11 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  <a:cs typeface="Times New Roman" panose="02020603050405020304" pitchFamily="18" charset="0"/>
              </a:rPr>
              <a:t>團體</a:t>
            </a:r>
            <a:r>
              <a:rPr lang="zh-TW" altLang="en-US" sz="7200" dirty="0">
                <a:latin typeface="標楷體" panose="03000509000000000000" pitchFamily="65" charset="-120"/>
                <a:ea typeface="標楷體" panose="03000509000000000000" pitchFamily="65" charset="-120"/>
              </a:rPr>
              <a:t>咪挺</a:t>
            </a:r>
            <a:br>
              <a:rPr lang="en-US" altLang="zh-TW" sz="7200" dirty="0"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The result of changing stride from 2 to 1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and MGD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56840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Idea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F8A3F815-B203-4A53-0C43-681295019F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4036"/>
            <a:ext cx="11353800" cy="4351338"/>
          </a:xfrm>
        </p:spPr>
        <p:txBody>
          <a:bodyPr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original image (3x128x80) would be too small for classification</a:t>
            </a:r>
            <a:b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halving the size 5 times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dimensions of a 224x224 image after five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comparable to those of the original image after four </a:t>
            </a:r>
            <a:r>
              <a:rPr lang="en-US" altLang="zh-TW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downsamplings</a:t>
            </a: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(7x7 vs. 8x5)</a:t>
            </a:r>
          </a:p>
          <a:p>
            <a:pPr marL="457200" indent="-457200">
              <a:buFont typeface="+mj-lt"/>
              <a:buAutoNum type="arabicPeriod"/>
            </a:pPr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Removing arbitrary layers will degrade model performance</a:t>
            </a:r>
          </a:p>
          <a:p>
            <a:pPr marL="0" indent="0">
              <a:buNone/>
            </a:pP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35491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545836-8FC3-1E0D-3890-E44FC3D885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CA4D3D-EA8B-909B-BA62-2BB3F4173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Notation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EE485152-795E-2AC3-58A4-6276713A6DBF}"/>
              </a:ext>
            </a:extLst>
          </p:cNvPr>
          <p:cNvGrpSpPr/>
          <p:nvPr/>
        </p:nvGrpSpPr>
        <p:grpSpPr>
          <a:xfrm>
            <a:off x="978231" y="1690688"/>
            <a:ext cx="10235538" cy="4318226"/>
            <a:chOff x="1339147" y="1690688"/>
            <a:chExt cx="9407030" cy="3818857"/>
          </a:xfrm>
        </p:grpSpPr>
        <p:grpSp>
          <p:nvGrpSpPr>
            <p:cNvPr id="50" name="群組 49">
              <a:extLst>
                <a:ext uri="{FF2B5EF4-FFF2-40B4-BE49-F238E27FC236}">
                  <a16:creationId xmlns:a16="http://schemas.microsoft.com/office/drawing/2014/main" id="{D10701E5-E2F2-4947-B3AD-86C22B22E44F}"/>
                </a:ext>
              </a:extLst>
            </p:cNvPr>
            <p:cNvGrpSpPr/>
            <p:nvPr/>
          </p:nvGrpSpPr>
          <p:grpSpPr>
            <a:xfrm>
              <a:off x="2018021" y="1690688"/>
              <a:ext cx="8728156" cy="3818857"/>
              <a:chOff x="2018021" y="1690688"/>
              <a:chExt cx="8728156" cy="3818857"/>
            </a:xfrm>
          </p:grpSpPr>
          <p:grpSp>
            <p:nvGrpSpPr>
              <p:cNvPr id="48" name="群組 47">
                <a:extLst>
                  <a:ext uri="{FF2B5EF4-FFF2-40B4-BE49-F238E27FC236}">
                    <a16:creationId xmlns:a16="http://schemas.microsoft.com/office/drawing/2014/main" id="{6F7AC5C5-4650-12ED-410E-91E2E13C4285}"/>
                  </a:ext>
                </a:extLst>
              </p:cNvPr>
              <p:cNvGrpSpPr/>
              <p:nvPr/>
            </p:nvGrpSpPr>
            <p:grpSpPr>
              <a:xfrm>
                <a:off x="2018021" y="1690688"/>
                <a:ext cx="8155957" cy="3818857"/>
                <a:chOff x="2018021" y="1690688"/>
                <a:chExt cx="8155957" cy="3818857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C233CB55-5F90-7AD8-DACF-6E70B7CA943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2018021" y="1690688"/>
                  <a:ext cx="8155957" cy="3818857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6" name="矩形 5">
                  <a:extLst>
                    <a:ext uri="{FF2B5EF4-FFF2-40B4-BE49-F238E27FC236}">
                      <a16:creationId xmlns:a16="http://schemas.microsoft.com/office/drawing/2014/main" id="{AD706AF3-D138-93A5-1E40-2D08818AF02F}"/>
                    </a:ext>
                  </a:extLst>
                </p:cNvPr>
                <p:cNvSpPr/>
                <p:nvPr/>
              </p:nvSpPr>
              <p:spPr>
                <a:xfrm>
                  <a:off x="2095995" y="2012868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8" name="矩形 7">
                  <a:extLst>
                    <a:ext uri="{FF2B5EF4-FFF2-40B4-BE49-F238E27FC236}">
                      <a16:creationId xmlns:a16="http://schemas.microsoft.com/office/drawing/2014/main" id="{F8CA5AB9-E9CD-6511-B7AF-1D84460360B0}"/>
                    </a:ext>
                  </a:extLst>
                </p:cNvPr>
                <p:cNvSpPr/>
                <p:nvPr/>
              </p:nvSpPr>
              <p:spPr>
                <a:xfrm>
                  <a:off x="2095995" y="231129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9" name="矩形 8">
                  <a:extLst>
                    <a:ext uri="{FF2B5EF4-FFF2-40B4-BE49-F238E27FC236}">
                      <a16:creationId xmlns:a16="http://schemas.microsoft.com/office/drawing/2014/main" id="{81425E57-CDD4-1C06-1C82-1C2F4B214CA4}"/>
                    </a:ext>
                  </a:extLst>
                </p:cNvPr>
                <p:cNvSpPr/>
                <p:nvPr/>
              </p:nvSpPr>
              <p:spPr>
                <a:xfrm>
                  <a:off x="2095995" y="2603786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0" name="矩形 9">
                  <a:extLst>
                    <a:ext uri="{FF2B5EF4-FFF2-40B4-BE49-F238E27FC236}">
                      <a16:creationId xmlns:a16="http://schemas.microsoft.com/office/drawing/2014/main" id="{E5C6F402-87F9-7973-08D0-68BC8D8B3BA0}"/>
                    </a:ext>
                  </a:extLst>
                </p:cNvPr>
                <p:cNvSpPr/>
                <p:nvPr/>
              </p:nvSpPr>
              <p:spPr>
                <a:xfrm>
                  <a:off x="2095995" y="3049979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1" name="矩形 10">
                  <a:extLst>
                    <a:ext uri="{FF2B5EF4-FFF2-40B4-BE49-F238E27FC236}">
                      <a16:creationId xmlns:a16="http://schemas.microsoft.com/office/drawing/2014/main" id="{9F5C767F-3FBD-1A3A-C92C-6260B8FACBAD}"/>
                    </a:ext>
                  </a:extLst>
                </p:cNvPr>
                <p:cNvSpPr/>
                <p:nvPr/>
              </p:nvSpPr>
              <p:spPr>
                <a:xfrm>
                  <a:off x="2095995" y="4099837"/>
                  <a:ext cx="3544784" cy="130628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2" name="矩形 11">
                  <a:extLst>
                    <a:ext uri="{FF2B5EF4-FFF2-40B4-BE49-F238E27FC236}">
                      <a16:creationId xmlns:a16="http://schemas.microsoft.com/office/drawing/2014/main" id="{7F758B06-49DB-B022-F9ED-08EEFCEE0393}"/>
                    </a:ext>
                  </a:extLst>
                </p:cNvPr>
                <p:cNvSpPr/>
                <p:nvPr/>
              </p:nvSpPr>
              <p:spPr>
                <a:xfrm>
                  <a:off x="5872348" y="2066306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3" name="矩形 12">
                  <a:extLst>
                    <a:ext uri="{FF2B5EF4-FFF2-40B4-BE49-F238E27FC236}">
                      <a16:creationId xmlns:a16="http://schemas.microsoft.com/office/drawing/2014/main" id="{4EF19511-84D7-1D34-F284-7B2E0223A15C}"/>
                    </a:ext>
                  </a:extLst>
                </p:cNvPr>
                <p:cNvSpPr/>
                <p:nvPr/>
              </p:nvSpPr>
              <p:spPr>
                <a:xfrm>
                  <a:off x="5872347" y="225192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4" name="矩形 13">
                  <a:extLst>
                    <a:ext uri="{FF2B5EF4-FFF2-40B4-BE49-F238E27FC236}">
                      <a16:creationId xmlns:a16="http://schemas.microsoft.com/office/drawing/2014/main" id="{5BDFE407-66B1-8479-1E1A-AA91A6B31E0A}"/>
                    </a:ext>
                  </a:extLst>
                </p:cNvPr>
                <p:cNvSpPr/>
                <p:nvPr/>
              </p:nvSpPr>
              <p:spPr>
                <a:xfrm>
                  <a:off x="5872347" y="2431595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5" name="矩形 14">
                  <a:extLst>
                    <a:ext uri="{FF2B5EF4-FFF2-40B4-BE49-F238E27FC236}">
                      <a16:creationId xmlns:a16="http://schemas.microsoft.com/office/drawing/2014/main" id="{D2D404A9-F997-911E-D705-6EECE098A319}"/>
                    </a:ext>
                  </a:extLst>
                </p:cNvPr>
                <p:cNvSpPr/>
                <p:nvPr/>
              </p:nvSpPr>
              <p:spPr>
                <a:xfrm>
                  <a:off x="5872347" y="2799730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sp>
              <p:nvSpPr>
                <p:cNvPr id="17" name="矩形 16">
                  <a:extLst>
                    <a:ext uri="{FF2B5EF4-FFF2-40B4-BE49-F238E27FC236}">
                      <a16:creationId xmlns:a16="http://schemas.microsoft.com/office/drawing/2014/main" id="{9B954716-2EAF-3F44-C3CB-3B89C26288EB}"/>
                    </a:ext>
                  </a:extLst>
                </p:cNvPr>
                <p:cNvSpPr/>
                <p:nvPr/>
              </p:nvSpPr>
              <p:spPr>
                <a:xfrm>
                  <a:off x="5872346" y="3713887"/>
                  <a:ext cx="4120737" cy="172192"/>
                </a:xfrm>
                <a:prstGeom prst="rect">
                  <a:avLst/>
                </a:prstGeom>
                <a:noFill/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/>
                </a:p>
              </p:txBody>
            </p:sp>
            <p:cxnSp>
              <p:nvCxnSpPr>
                <p:cNvPr id="19" name="直線接點 18">
                  <a:extLst>
                    <a:ext uri="{FF2B5EF4-FFF2-40B4-BE49-F238E27FC236}">
                      <a16:creationId xmlns:a16="http://schemas.microsoft.com/office/drawing/2014/main" id="{4DE0B037-DAE0-94E5-D3F3-1959209A0DBC}"/>
                    </a:ext>
                  </a:extLst>
                </p:cNvPr>
                <p:cNvCxnSpPr>
                  <a:stCxn id="6" idx="3"/>
                  <a:endCxn id="12" idx="1"/>
                </p:cNvCxnSpPr>
                <p:nvPr/>
              </p:nvCxnSpPr>
              <p:spPr>
                <a:xfrm>
                  <a:off x="5640779" y="2078182"/>
                  <a:ext cx="231569" cy="74220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19">
                  <a:extLst>
                    <a:ext uri="{FF2B5EF4-FFF2-40B4-BE49-F238E27FC236}">
                      <a16:creationId xmlns:a16="http://schemas.microsoft.com/office/drawing/2014/main" id="{954B0778-57F2-FE81-76D9-0685CA99F004}"/>
                    </a:ext>
                  </a:extLst>
                </p:cNvPr>
                <p:cNvCxnSpPr>
                  <a:cxnSpLocks/>
                  <a:endCxn id="13" idx="1"/>
                </p:cNvCxnSpPr>
                <p:nvPr/>
              </p:nvCxnSpPr>
              <p:spPr>
                <a:xfrm flipV="1">
                  <a:off x="5640778" y="2338016"/>
                  <a:ext cx="231569" cy="38594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" name="直線接點 22">
                  <a:extLst>
                    <a:ext uri="{FF2B5EF4-FFF2-40B4-BE49-F238E27FC236}">
                      <a16:creationId xmlns:a16="http://schemas.microsoft.com/office/drawing/2014/main" id="{50A51206-A6B4-9A18-A27C-2E6F7C39FF4F}"/>
                    </a:ext>
                  </a:extLst>
                </p:cNvPr>
                <p:cNvCxnSpPr>
                  <a:cxnSpLocks/>
                  <a:endCxn id="14" idx="1"/>
                </p:cNvCxnSpPr>
                <p:nvPr/>
              </p:nvCxnSpPr>
              <p:spPr>
                <a:xfrm flipV="1">
                  <a:off x="5640778" y="2517691"/>
                  <a:ext cx="231569" cy="14695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" name="直線接點 25">
                  <a:extLst>
                    <a:ext uri="{FF2B5EF4-FFF2-40B4-BE49-F238E27FC236}">
                      <a16:creationId xmlns:a16="http://schemas.microsoft.com/office/drawing/2014/main" id="{ED5C0FFF-1D29-AF1F-00DB-EBAE89C830D8}"/>
                    </a:ext>
                  </a:extLst>
                </p:cNvPr>
                <p:cNvCxnSpPr>
                  <a:cxnSpLocks/>
                  <a:endCxn id="15" idx="1"/>
                </p:cNvCxnSpPr>
                <p:nvPr/>
              </p:nvCxnSpPr>
              <p:spPr>
                <a:xfrm flipV="1">
                  <a:off x="5640778" y="2885826"/>
                  <a:ext cx="231569" cy="229467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直線接點 28">
                  <a:extLst>
                    <a:ext uri="{FF2B5EF4-FFF2-40B4-BE49-F238E27FC236}">
                      <a16:creationId xmlns:a16="http://schemas.microsoft.com/office/drawing/2014/main" id="{F1A847D6-BA9B-8DBC-7ECB-371F2D10178E}"/>
                    </a:ext>
                  </a:extLst>
                </p:cNvPr>
                <p:cNvCxnSpPr>
                  <a:cxnSpLocks/>
                  <a:stCxn id="11" idx="3"/>
                </p:cNvCxnSpPr>
                <p:nvPr/>
              </p:nvCxnSpPr>
              <p:spPr>
                <a:xfrm flipV="1">
                  <a:off x="5640779" y="3799983"/>
                  <a:ext cx="231567" cy="365168"/>
                </a:xfrm>
                <a:prstGeom prst="line">
                  <a:avLst/>
                </a:prstGeom>
                <a:ln>
                  <a:solidFill>
                    <a:srgbClr val="FF000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9" name="群組 48">
                <a:extLst>
                  <a:ext uri="{FF2B5EF4-FFF2-40B4-BE49-F238E27FC236}">
                    <a16:creationId xmlns:a16="http://schemas.microsoft.com/office/drawing/2014/main" id="{F170B0DA-A3D8-9482-0C2C-D229A56DC3BC}"/>
                  </a:ext>
                </a:extLst>
              </p:cNvPr>
              <p:cNvGrpSpPr/>
              <p:nvPr/>
            </p:nvGrpSpPr>
            <p:grpSpPr>
              <a:xfrm>
                <a:off x="9993082" y="2035196"/>
                <a:ext cx="753095" cy="1883540"/>
                <a:chOff x="9993082" y="2035196"/>
                <a:chExt cx="753095" cy="1883540"/>
              </a:xfrm>
            </p:grpSpPr>
            <p:sp>
              <p:nvSpPr>
                <p:cNvPr id="42" name="內容版面配置區 2">
                  <a:extLst>
                    <a:ext uri="{FF2B5EF4-FFF2-40B4-BE49-F238E27FC236}">
                      <a16:creationId xmlns:a16="http://schemas.microsoft.com/office/drawing/2014/main" id="{1071DFA2-ACFB-135C-CC6C-5C56D0183D1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03519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stride2[0]</a:t>
                  </a:r>
                </a:p>
              </p:txBody>
            </p:sp>
            <p:sp>
              <p:nvSpPr>
                <p:cNvPr id="43" name="內容版面配置區 2">
                  <a:extLst>
                    <a:ext uri="{FF2B5EF4-FFF2-40B4-BE49-F238E27FC236}">
                      <a16:creationId xmlns:a16="http://schemas.microsoft.com/office/drawing/2014/main" id="{DE200425-F232-5E90-EF62-F5BE38E8E7A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2" y="222244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44" name="內容版面配置區 2">
                  <a:extLst>
                    <a:ext uri="{FF2B5EF4-FFF2-40B4-BE49-F238E27FC236}">
                      <a16:creationId xmlns:a16="http://schemas.microsoft.com/office/drawing/2014/main" id="{ADFDA82C-A764-2212-F079-72F7A73530B9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39893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45" name="內容版面配置區 2">
                  <a:extLst>
                    <a:ext uri="{FF2B5EF4-FFF2-40B4-BE49-F238E27FC236}">
                      <a16:creationId xmlns:a16="http://schemas.microsoft.com/office/drawing/2014/main" id="{476F95BB-F04C-9987-45DD-B369375A6DF8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278520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46" name="內容版面配置區 2">
                  <a:extLst>
                    <a:ext uri="{FF2B5EF4-FFF2-40B4-BE49-F238E27FC236}">
                      <a16:creationId xmlns:a16="http://schemas.microsoft.com/office/drawing/2014/main" id="{E25A0F5D-A9B4-5D45-8396-D57423BDF661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9993083" y="3681230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</p:grpSp>
        <p:grpSp>
          <p:nvGrpSpPr>
            <p:cNvPr id="53" name="群組 52">
              <a:extLst>
                <a:ext uri="{FF2B5EF4-FFF2-40B4-BE49-F238E27FC236}">
                  <a16:creationId xmlns:a16="http://schemas.microsoft.com/office/drawing/2014/main" id="{44F19F73-5040-AE52-A1BF-FD9ACF3B18EA}"/>
                </a:ext>
              </a:extLst>
            </p:cNvPr>
            <p:cNvGrpSpPr/>
            <p:nvPr/>
          </p:nvGrpSpPr>
          <p:grpSpPr>
            <a:xfrm>
              <a:off x="1339147" y="1953056"/>
              <a:ext cx="753094" cy="2330848"/>
              <a:chOff x="1339147" y="1953056"/>
              <a:chExt cx="753094" cy="2330848"/>
            </a:xfrm>
          </p:grpSpPr>
          <p:grpSp>
            <p:nvGrpSpPr>
              <p:cNvPr id="51" name="群組 50">
                <a:extLst>
                  <a:ext uri="{FF2B5EF4-FFF2-40B4-BE49-F238E27FC236}">
                    <a16:creationId xmlns:a16="http://schemas.microsoft.com/office/drawing/2014/main" id="{2A6ED467-D50B-50D1-E5E5-46727E701490}"/>
                  </a:ext>
                </a:extLst>
              </p:cNvPr>
              <p:cNvGrpSpPr/>
              <p:nvPr/>
            </p:nvGrpSpPr>
            <p:grpSpPr>
              <a:xfrm>
                <a:off x="1339147" y="2260146"/>
                <a:ext cx="753094" cy="2023758"/>
                <a:chOff x="1339147" y="2260146"/>
                <a:chExt cx="753094" cy="2023758"/>
              </a:xfrm>
            </p:grpSpPr>
            <p:sp>
              <p:nvSpPr>
                <p:cNvPr id="33" name="內容版面配置區 2">
                  <a:extLst>
                    <a:ext uri="{FF2B5EF4-FFF2-40B4-BE49-F238E27FC236}">
                      <a16:creationId xmlns:a16="http://schemas.microsoft.com/office/drawing/2014/main" id="{A72C97EA-975D-6CF4-11C4-F513C903922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260146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stride2[1]</a:t>
                  </a:r>
                </a:p>
              </p:txBody>
            </p:sp>
            <p:sp>
              <p:nvSpPr>
                <p:cNvPr id="34" name="內容版面配置區 2">
                  <a:extLst>
                    <a:ext uri="{FF2B5EF4-FFF2-40B4-BE49-F238E27FC236}">
                      <a16:creationId xmlns:a16="http://schemas.microsoft.com/office/drawing/2014/main" id="{19F64221-69C1-E3F4-F520-78A8C5CA4712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553379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stride2[2]</a:t>
                  </a:r>
                </a:p>
              </p:txBody>
            </p:sp>
            <p:sp>
              <p:nvSpPr>
                <p:cNvPr id="35" name="內容版面配置區 2">
                  <a:extLst>
                    <a:ext uri="{FF2B5EF4-FFF2-40B4-BE49-F238E27FC236}">
                      <a16:creationId xmlns:a16="http://schemas.microsoft.com/office/drawing/2014/main" id="{F9C83E72-E66B-C95F-1AB7-32FE7864AACF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2991714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stride2[3]</a:t>
                  </a:r>
                </a:p>
              </p:txBody>
            </p:sp>
            <p:sp>
              <p:nvSpPr>
                <p:cNvPr id="36" name="內容版面配置區 2">
                  <a:extLst>
                    <a:ext uri="{FF2B5EF4-FFF2-40B4-BE49-F238E27FC236}">
                      <a16:creationId xmlns:a16="http://schemas.microsoft.com/office/drawing/2014/main" id="{DEC7A82E-D5B8-D535-07A6-D636AD5A9A93}"/>
                    </a:ext>
                  </a:extLst>
                </p:cNvPr>
                <p:cNvSpPr txBox="1">
                  <a:spLocks/>
                </p:cNvSpPr>
                <p:nvPr/>
              </p:nvSpPr>
              <p:spPr>
                <a:xfrm>
                  <a:off x="1339147" y="4046398"/>
                  <a:ext cx="753094" cy="237506"/>
                </a:xfrm>
                <a:prstGeom prst="rect">
                  <a:avLst/>
                </a:prstGeom>
              </p:spPr>
              <p:txBody>
                <a:bodyPr vert="horz" lIns="91440" tIns="45720" rIns="91440" bIns="45720" rtlCol="0">
                  <a:normAutofit/>
                </a:bodyPr>
                <a:lstStyle>
                  <a:lvl1pPr marL="228600" indent="-228600" algn="l" defTabSz="914400" rtl="0" eaLnBrk="1" latinLnBrk="0" hangingPunct="1">
                    <a:lnSpc>
                      <a:spcPct val="90000"/>
                    </a:lnSpc>
                    <a:spcBef>
                      <a:spcPts val="1000"/>
                    </a:spcBef>
                    <a:buFont typeface="Arial" panose="020B0604020202020204" pitchFamily="34" charset="0"/>
                    <a:buChar char="•"/>
                    <a:defRPr sz="2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685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4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1143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20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600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20574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indent="0">
                    <a:buFont typeface="Arial" panose="020B0604020202020204" pitchFamily="34" charset="0"/>
                    <a:buNone/>
                  </a:pPr>
                  <a:r>
                    <a:rPr lang="en-US" altLang="zh-TW" sz="1200" dirty="0">
                      <a:solidFill>
                        <a:srgbClr val="FF0000"/>
                      </a:solidFill>
                      <a:latin typeface="Times New Roman" panose="02020603050405020304" pitchFamily="18" charset="0"/>
                      <a:cs typeface="Times New Roman" panose="02020603050405020304" pitchFamily="18" charset="0"/>
                    </a:rPr>
                    <a:t>stride2[4]</a:t>
                  </a:r>
                </a:p>
              </p:txBody>
            </p:sp>
          </p:grpSp>
          <p:sp>
            <p:nvSpPr>
              <p:cNvPr id="52" name="內容版面配置區 2">
                <a:extLst>
                  <a:ext uri="{FF2B5EF4-FFF2-40B4-BE49-F238E27FC236}">
                    <a16:creationId xmlns:a16="http://schemas.microsoft.com/office/drawing/2014/main" id="{AB37FD06-2F91-D168-78FA-2D0174CAB2F7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339147" y="1953056"/>
                <a:ext cx="753094" cy="237506"/>
              </a:xfrm>
              <a:prstGeom prst="rect">
                <a:avLst/>
              </a:prstGeom>
            </p:spPr>
            <p:txBody>
              <a:bodyPr vert="horz" lIns="91440" tIns="45720" rIns="91440" bIns="45720" rtlCol="0">
                <a:normAutofit/>
              </a:bodyPr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US" altLang="zh-TW" sz="12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stride2[0]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4278486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5F162-12E8-7AC0-FC8A-4DD96D46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AC8F8D97-428C-DAF6-B7D8-B430581EBB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26BA3CE9-9E97-AEE9-19CE-C0AC183D72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0002889"/>
              </p:ext>
            </p:extLst>
          </p:nvPr>
        </p:nvGraphicFramePr>
        <p:xfrm>
          <a:off x="290583" y="1155372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230.04M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(136.93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230.93M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(137.46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51.05M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(30.39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8950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51.24M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(30.50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189.02M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(112.51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171.57M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(102.125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(91.55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133.03M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(79.18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78.1M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(76.49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634792D7-C222-0E3E-99A3-D20434E8D7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10" name="標題 1">
            <a:extLst>
              <a:ext uri="{FF2B5EF4-FFF2-40B4-BE49-F238E27FC236}">
                <a16:creationId xmlns:a16="http://schemas.microsoft.com/office/drawing/2014/main" id="{37FAB7B8-F81C-7565-8FF9-E85E007733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7190" y="0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Result Metric (MMAC)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1" name="表格 10">
            <a:extLst>
              <a:ext uri="{FF2B5EF4-FFF2-40B4-BE49-F238E27FC236}">
                <a16:creationId xmlns:a16="http://schemas.microsoft.com/office/drawing/2014/main" id="{381C0AED-C46D-E67B-169D-7671FD26EE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78745831"/>
              </p:ext>
            </p:extLst>
          </p:nvPr>
        </p:nvGraphicFramePr>
        <p:xfrm>
          <a:off x="6321559" y="1155371"/>
          <a:ext cx="5579858" cy="5623560"/>
        </p:xfrm>
        <a:graphic>
          <a:graphicData uri="http://schemas.openxmlformats.org/drawingml/2006/table">
            <a:tbl>
              <a:tblPr/>
              <a:tblGrid>
                <a:gridCol w="3408581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2171277">
                  <a:extLst>
                    <a:ext uri="{9D8B030D-6E8A-4147-A177-3AD203B41FA5}">
                      <a16:colId xmlns:a16="http://schemas.microsoft.com/office/drawing/2014/main" val="287966880"/>
                    </a:ext>
                  </a:extLst>
                </a:gridCol>
              </a:tblGrid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(Test image size)</a:t>
                      </a:r>
                      <a:endParaRPr lang="en-US" sz="14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MACs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4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(Approx. inference time)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59.89M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(35.65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984657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(3x224x224)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60.07M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(35.76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89691903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</a:t>
                      </a:r>
                      <a:r>
                        <a:rPr lang="en-US" sz="12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torchvision</a:t>
                      </a: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13.76M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(8.19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563146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13.8M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(8.21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816410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stride2[0]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49.23M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(29.30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621207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stride2[1]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45.66M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(27.18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021822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stride2[2]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41.82M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(24.89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21700545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stride2[3]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36.51M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(21.73 </a:t>
                      </a:r>
                      <a:r>
                        <a:rPr lang="en-US" sz="12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7194629"/>
                  </a:ext>
                </a:extLst>
              </a:tr>
              <a:tr h="43859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handwrite version, stride2[4]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(3x128x80)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23.63M MAC</a:t>
                      </a:r>
                    </a:p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(14.07 </a:t>
                      </a:r>
                      <a:r>
                        <a:rPr lang="en-US" sz="1200" b="1" dirty="0" err="1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ms</a:t>
                      </a:r>
                      <a:r>
                        <a:rPr lang="en-US" sz="1200" b="1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3328956"/>
                  </a:ext>
                </a:extLst>
              </a:tr>
            </a:tbl>
          </a:graphicData>
        </a:graphic>
      </p:graphicFrame>
      <p:sp>
        <p:nvSpPr>
          <p:cNvPr id="12" name="文字方塊 11">
            <a:extLst>
              <a:ext uri="{FF2B5EF4-FFF2-40B4-BE49-F238E27FC236}">
                <a16:creationId xmlns:a16="http://schemas.microsoft.com/office/drawing/2014/main" id="{551BCDFF-1D08-8127-0679-FCD996CFDE64}"/>
              </a:ext>
            </a:extLst>
          </p:cNvPr>
          <p:cNvSpPr txBox="1"/>
          <p:nvPr/>
        </p:nvSpPr>
        <p:spPr>
          <a:xfrm>
            <a:off x="10373096" y="139708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</p:spTree>
    <p:extLst>
      <p:ext uri="{BB962C8B-B14F-4D97-AF65-F5344CB8AC3E}">
        <p14:creationId xmlns:p14="http://schemas.microsoft.com/office/powerpoint/2010/main" val="796973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94B3F5-8597-5700-0C57-1B80F8DD3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1E0AE87-4545-8F6C-248F-E03E9F3B3C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– Baseline of Student 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</p:spPr>
            <p:txBody>
              <a:bodyPr>
                <a:normAutofit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0.01,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E1260F51-E89C-3260-3278-B4B7AA5157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5"/>
                <a:ext cx="10938536" cy="4351338"/>
              </a:xfrm>
              <a:blipFill>
                <a:blip r:embed="rId3"/>
                <a:stretch>
                  <a:fillRect l="-780" t="-19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9638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38E0A-3968-C94B-0C79-A2B3CB86F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CABDA77-EE4A-8AA3-A9BF-1513AD6334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(TDR@FDR=1%, stride2[4])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圖片 3" descr="一張含有 文字, 螢幕擷取畫面, 繪圖, 字型 的圖片&#10;&#10;AI 產生的內容可能不正確。">
            <a:extLst>
              <a:ext uri="{FF2B5EF4-FFF2-40B4-BE49-F238E27FC236}">
                <a16:creationId xmlns:a16="http://schemas.microsoft.com/office/drawing/2014/main" id="{7F5211AD-AA9B-EFD8-C9FC-9738C097E3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87" y="1690688"/>
            <a:ext cx="8505825" cy="500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47327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46F375-72CE-717C-7CCE-D3F983875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1B1FE8D-2754-CFBD-1599-C448F95264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Recall – MGD Process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</p:spPr>
            <p:txBody>
              <a:bodyPr>
                <a:normAutofit/>
              </a:bodyPr>
              <a:lstStyle/>
              <a:p>
                <a:pPr marL="457200" indent="-457200">
                  <a:buClr>
                    <a:schemeClr val="tx1"/>
                  </a:buClr>
                  <a:buFont typeface="+mj-lt"/>
                  <a:buAutoNum type="arabicPeriod"/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random mask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to cover the student’s </a:t>
                </a:r>
                <a14:m>
                  <m:oMath xmlns:m="http://schemas.openxmlformats.org/officeDocument/2006/math">
                    <m:r>
                      <a:rPr lang="en-US" altLang="zh-TW" sz="24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𝑙</m:t>
                    </m:r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-</a:t>
                </a:r>
                <a:r>
                  <a:rPr lang="en-US" altLang="zh-TW" sz="24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feature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Use the corresponding mask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cover the student’s feature map </a:t>
                </a:r>
                <a:b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and try to 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generate teacher’s feature maps with remaining pixels</a:t>
                </a: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Calculate the distillation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𝐿</m:t>
                        </m:r>
                      </m:e>
                      <m:sub>
                        <m:r>
                          <a:rPr lang="en-US" altLang="zh-TW" sz="24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𝑑𝑖𝑠</m:t>
                        </m:r>
                      </m:sub>
                    </m:sSub>
                  </m:oMath>
                </a14:m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for MGD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457200" indent="-457200">
                  <a:buFont typeface="+mj-lt"/>
                  <a:buAutoNum type="arabicPeriod"/>
                </a:pP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 train all the models with total loss as follow</a:t>
                </a:r>
              </a:p>
              <a:p>
                <a:pPr marL="457200" indent="-457200">
                  <a:buFont typeface="+mj-lt"/>
                  <a:buAutoNum type="arabicPeriod"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內容版面配置區 2">
                <a:extLst>
                  <a:ext uri="{FF2B5EF4-FFF2-40B4-BE49-F238E27FC236}">
                    <a16:creationId xmlns:a16="http://schemas.microsoft.com/office/drawing/2014/main" id="{F8A3F815-B203-4A53-0C43-681295019F4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44036"/>
                <a:ext cx="10515600" cy="4351338"/>
              </a:xfrm>
              <a:blipFill>
                <a:blip r:embed="rId3"/>
                <a:stretch>
                  <a:fillRect l="-812" t="-182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" name="Picture 2">
            <a:extLst>
              <a:ext uri="{FF2B5EF4-FFF2-40B4-BE49-F238E27FC236}">
                <a16:creationId xmlns:a16="http://schemas.microsoft.com/office/drawing/2014/main" id="{89661321-64A5-E580-1E04-143D771A4E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95103" y="3562505"/>
            <a:ext cx="741045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2">
            <a:extLst>
              <a:ext uri="{FF2B5EF4-FFF2-40B4-BE49-F238E27FC236}">
                <a16:creationId xmlns:a16="http://schemas.microsoft.com/office/drawing/2014/main" id="{1DE4F170-CABE-E906-C801-5C06CEF6F0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48187" y="5319555"/>
            <a:ext cx="3095625" cy="2952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7670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7893D-B81D-6A32-2F48-AFD7890E4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9126139-B19C-5A6B-7D49-04D5F39DF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Setting – MGD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7E76544-8AC0-923C-939B-69336ABD87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25624"/>
                <a:ext cx="10938536" cy="475924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I5-10500 + 2080Ti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Random seed = 42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SGD(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lr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0.01,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weight_decay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1e-4)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BCEWithLogitsLoss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CosineAnnealingLR</a:t>
                </a:r>
                <a:endParaRPr lang="en-US" altLang="zh-TW" sz="2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Modify the stride of layer stride2[</a:t>
                </a:r>
                <a14:m>
                  <m:oMath xmlns:m="http://schemas.openxmlformats.org/officeDocument/2006/math">
                    <m:r>
                      <a:rPr lang="en-US" altLang="zh-TW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4</m:t>
                    </m:r>
                  </m:oMath>
                </a14:m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] from 2 to 1</a:t>
                </a:r>
              </a:p>
              <a:p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alpha = 0.01 </a:t>
                </a:r>
              </a:p>
              <a:p>
                <a:r>
                  <a:rPr lang="en-US" altLang="zh-TW" sz="2400" dirty="0" err="1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lambda_mgd</a:t>
                </a: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[0.15, 0.25, 0.35, 0.45]</a:t>
                </a:r>
              </a:p>
              <a:p>
                <a:endParaRPr lang="en-US" altLang="zh-TW" sz="2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ABCD Dataset as training set (0.8 for training and 0.2 for validating)</a:t>
                </a:r>
              </a:p>
              <a:p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Google Dataset as testing set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MobileNet_V3_Large with modified stride2[0] layer 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as teacher model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altLang="zh-TW" sz="2400" dirty="0">
                    <a:solidFill>
                      <a:srgbClr val="FF0000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MobileNet_V3_Small with modified stride2[4] layer</a:t>
                </a:r>
                <a:r>
                  <a:rPr lang="en-US" altLang="zh-TW" sz="24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as student model</a:t>
                </a:r>
              </a:p>
            </p:txBody>
          </p:sp>
        </mc:Choice>
        <mc:Fallback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B7E76544-8AC0-923C-939B-69336ABD87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25624"/>
                <a:ext cx="10938536" cy="4759243"/>
              </a:xfrm>
              <a:blipFill>
                <a:blip r:embed="rId3"/>
                <a:stretch>
                  <a:fillRect l="-780" t="-2561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900005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48E51D-B8D9-1551-BFF6-3FDA99BE71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1E869E-4F9C-9711-F878-AF3A514D8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31995"/>
            <a:ext cx="10515600" cy="1325563"/>
          </a:xfrm>
        </p:spPr>
        <p:txBody>
          <a:bodyPr/>
          <a:lstStyle/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Metric Curve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圖片 4" descr="一張含有 文字, 字型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81B7496E-2435-6129-E2BF-2C3B25162D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7227" y="1493041"/>
            <a:ext cx="4252913" cy="2500313"/>
          </a:xfrm>
          <a:prstGeom prst="rect">
            <a:avLst/>
          </a:prstGeom>
        </p:spPr>
      </p:pic>
      <p:pic>
        <p:nvPicPr>
          <p:cNvPr id="9" name="圖片 8" descr="一張含有 文字, 繪圖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4DFF29AD-F6F9-931D-75EA-B90DE4A6AA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71859" y="1493041"/>
            <a:ext cx="4252913" cy="2500313"/>
          </a:xfrm>
          <a:prstGeom prst="rect">
            <a:avLst/>
          </a:prstGeom>
        </p:spPr>
      </p:pic>
      <p:pic>
        <p:nvPicPr>
          <p:cNvPr id="11" name="圖片 10" descr="一張含有 文字, 字型, 繪圖, 螢幕擷取畫面 的圖片&#10;&#10;AI 產生的內容可能不正確。">
            <a:extLst>
              <a:ext uri="{FF2B5EF4-FFF2-40B4-BE49-F238E27FC236}">
                <a16:creationId xmlns:a16="http://schemas.microsoft.com/office/drawing/2014/main" id="{F96C2DD0-CE17-1D3D-93C0-633A834DC5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36282" y="4314024"/>
            <a:ext cx="4252913" cy="2500313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A3EB9471-FCF5-51A9-F2AD-752F1ED9CF33}"/>
              </a:ext>
            </a:extLst>
          </p:cNvPr>
          <p:cNvSpPr txBox="1"/>
          <p:nvPr/>
        </p:nvSpPr>
        <p:spPr>
          <a:xfrm>
            <a:off x="2650435" y="1260689"/>
            <a:ext cx="1424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0.15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78972CA6-8E25-1514-BDE5-EFF27F6E697D}"/>
              </a:ext>
            </a:extLst>
          </p:cNvPr>
          <p:cNvSpPr txBox="1"/>
          <p:nvPr/>
        </p:nvSpPr>
        <p:spPr>
          <a:xfrm>
            <a:off x="8186012" y="4083406"/>
            <a:ext cx="1424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0.45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E24E0320-44F5-A0CF-1F24-F5CD892452A5}"/>
              </a:ext>
            </a:extLst>
          </p:cNvPr>
          <p:cNvSpPr txBox="1"/>
          <p:nvPr/>
        </p:nvSpPr>
        <p:spPr>
          <a:xfrm>
            <a:off x="2581381" y="4083406"/>
            <a:ext cx="1424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0.35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678BF29F-07ED-1B37-7D71-9D619AE0840E}"/>
              </a:ext>
            </a:extLst>
          </p:cNvPr>
          <p:cNvSpPr txBox="1"/>
          <p:nvPr/>
        </p:nvSpPr>
        <p:spPr>
          <a:xfrm>
            <a:off x="8347214" y="1260689"/>
            <a:ext cx="1424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lambda_mgd</a:t>
            </a:r>
            <a:r>
              <a:rPr lang="en-US" altLang="zh-TW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0.25</a:t>
            </a:r>
            <a:endParaRPr lang="zh-TW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圖片 17" descr="一張含有 文字, 螢幕擷取畫面, 繪圖, 行 的圖片&#10;&#10;AI 產生的內容可能不正確。">
            <a:extLst>
              <a:ext uri="{FF2B5EF4-FFF2-40B4-BE49-F238E27FC236}">
                <a16:creationId xmlns:a16="http://schemas.microsoft.com/office/drawing/2014/main" id="{F144884A-D3F5-E50C-0144-CD97F4B92C9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71862" y="4314023"/>
            <a:ext cx="4252913" cy="250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10501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7DDE7C-9164-8009-F780-2C99CEFFC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>
            <a:extLst>
              <a:ext uri="{FF2B5EF4-FFF2-40B4-BE49-F238E27FC236}">
                <a16:creationId xmlns:a16="http://schemas.microsoft.com/office/drawing/2014/main" id="{B081C3AC-D5B3-6E71-9193-0257AF5E3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22373" y="2920093"/>
            <a:ext cx="876523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A2EA36D5-14DF-DDA2-474D-DCBA79C6CF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0240826"/>
              </p:ext>
            </p:extLst>
          </p:nvPr>
        </p:nvGraphicFramePr>
        <p:xfrm>
          <a:off x="1511824" y="1941826"/>
          <a:ext cx="9168352" cy="3013323"/>
        </p:xfrm>
        <a:graphic>
          <a:graphicData uri="http://schemas.openxmlformats.org/drawingml/2006/table">
            <a:tbl>
              <a:tblPr/>
              <a:tblGrid>
                <a:gridCol w="2737182">
                  <a:extLst>
                    <a:ext uri="{9D8B030D-6E8A-4147-A177-3AD203B41FA5}">
                      <a16:colId xmlns:a16="http://schemas.microsoft.com/office/drawing/2014/main" val="401869850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325375474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1005453566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211015883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054909154"/>
                    </a:ext>
                  </a:extLst>
                </a:gridCol>
                <a:gridCol w="1286234">
                  <a:extLst>
                    <a:ext uri="{9D8B030D-6E8A-4147-A177-3AD203B41FA5}">
                      <a16:colId xmlns:a16="http://schemas.microsoft.com/office/drawing/2014/main" val="3642255895"/>
                    </a:ext>
                  </a:extLst>
                </a:gridCol>
              </a:tblGrid>
              <a:tr h="498363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TDR@FDR=1%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ACE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BPCER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 Epoch</a:t>
                      </a:r>
                      <a:endParaRPr 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9691535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Teacher</a:t>
                      </a:r>
                      <a:r>
                        <a:rPr lang="en-US" altLang="zh-TW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stride2[0]</a:t>
                      </a:r>
                      <a:endParaRPr lang="en-US" sz="1200" b="1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4980247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12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Student, stride2[4]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82.81%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5.09%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6.33%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3.85%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5440480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Student, MGD,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0.15</a:t>
                      </a:r>
                      <a:endParaRPr kumimoji="0" lang="en-US" altLang="zh-TW" sz="1200" b="1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Times New Roman" panose="02020603050405020304" pitchFamily="18" charset="0"/>
                        <a:ea typeface="新細明體" panose="02020500000000000000" pitchFamily="18" charset="-12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99.55%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0.45%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174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9594138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Student, MGD,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0.25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98.19%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1.14%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1.38%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solidFill>
                            <a:srgbClr val="FF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158</a:t>
                      </a:r>
                      <a:endParaRPr lang="zh-TW" altLang="en-US" sz="1200" dirty="0">
                        <a:solidFill>
                          <a:srgbClr val="FF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2725932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Student, MGD,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0.35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63.35%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10.81%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15.38%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6.23%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104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1965107"/>
                  </a:ext>
                </a:extLst>
              </a:tr>
              <a:tr h="419160"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Student, MGD, </a:t>
                      </a:r>
                      <a:r>
                        <a:rPr kumimoji="0" lang="en-US" altLang="zh-TW" sz="1200" b="1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lambda_mgd</a:t>
                      </a:r>
                      <a:r>
                        <a:rPr kumimoji="0" lang="en-US" altLang="zh-TW" sz="12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= 0.45</a:t>
                      </a: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FC5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68.78%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9.59%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11.76%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7.42%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zh-TW" sz="12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106</a:t>
                      </a:r>
                      <a:endParaRPr lang="zh-TW" altLang="en-US" sz="1200" dirty="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0" marR="95250" marT="95250" marB="95250" anchor="ctr">
                    <a:lnL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939824"/>
                  </a:ext>
                </a:extLst>
              </a:tr>
            </a:tbl>
          </a:graphicData>
        </a:graphic>
      </p:graphicFrame>
      <p:sp>
        <p:nvSpPr>
          <p:cNvPr id="9" name="Rectangle 3">
            <a:extLst>
              <a:ext uri="{FF2B5EF4-FFF2-40B4-BE49-F238E27FC236}">
                <a16:creationId xmlns:a16="http://schemas.microsoft.com/office/drawing/2014/main" id="{C752FB7A-2BAA-B0F6-A508-57DA375A4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38650" y="3265488"/>
            <a:ext cx="5476681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TW" altLang="en-US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5C155226-6E0A-EE3E-2850-F5FFFA6571C6}"/>
              </a:ext>
            </a:extLst>
          </p:cNvPr>
          <p:cNvSpPr txBox="1"/>
          <p:nvPr/>
        </p:nvSpPr>
        <p:spPr>
          <a:xfrm>
            <a:off x="5309118" y="5300544"/>
            <a:ext cx="159174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b="1" dirty="0"/>
              <a:t>Teacher: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Large</a:t>
            </a:r>
          </a:p>
          <a:p>
            <a:endParaRPr lang="en-US" altLang="zh-TW" sz="1200" b="1" dirty="0"/>
          </a:p>
          <a:p>
            <a:r>
              <a:rPr lang="en-US" altLang="zh-TW" sz="1200" b="1" dirty="0"/>
              <a:t>Student: </a:t>
            </a:r>
          </a:p>
          <a:p>
            <a:r>
              <a:rPr lang="en-US" altLang="zh-TW" sz="1200" b="1" dirty="0" err="1"/>
              <a:t>MobileNet</a:t>
            </a:r>
            <a:r>
              <a:rPr lang="en-US" altLang="zh-TW" sz="1200" b="1" dirty="0"/>
              <a:t> V3 Small</a:t>
            </a:r>
            <a:endParaRPr lang="zh-TW" altLang="en-US" sz="1200" b="1" dirty="0"/>
          </a:p>
        </p:txBody>
      </p:sp>
      <p:sp>
        <p:nvSpPr>
          <p:cNvPr id="4" name="標題 1">
            <a:extLst>
              <a:ext uri="{FF2B5EF4-FFF2-40B4-BE49-F238E27FC236}">
                <a16:creationId xmlns:a16="http://schemas.microsoft.com/office/drawing/2014/main" id="{F25DAE52-5596-1437-EA9A-820148BA36B0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Metric (TDR@FDR=1%)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59820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3879</TotalTime>
  <Words>802</Words>
  <Application>Microsoft Office PowerPoint</Application>
  <PresentationFormat>寬螢幕</PresentationFormat>
  <Paragraphs>194</Paragraphs>
  <Slides>10</Slides>
  <Notes>9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7" baseType="lpstr">
      <vt:lpstr>標楷體</vt:lpstr>
      <vt:lpstr>Aptos</vt:lpstr>
      <vt:lpstr>Aptos Display</vt:lpstr>
      <vt:lpstr>Arial</vt:lpstr>
      <vt:lpstr>Cambria Math</vt:lpstr>
      <vt:lpstr>Times New Roman</vt:lpstr>
      <vt:lpstr>Office 佈景主題</vt:lpstr>
      <vt:lpstr>2/11 團體咪挺 The result of changing stride from 2 to 1 and MGD</vt:lpstr>
      <vt:lpstr>Recall – Idea</vt:lpstr>
      <vt:lpstr>Notation</vt:lpstr>
      <vt:lpstr>Recall – Result Metric (MMAC)</vt:lpstr>
      <vt:lpstr>Train Setting – Baseline of Student </vt:lpstr>
      <vt:lpstr>Metric Curve (TDR@FDR=1%, stride2[4])</vt:lpstr>
      <vt:lpstr>Recall – MGD Process</vt:lpstr>
      <vt:lpstr>Train Setting – MGD</vt:lpstr>
      <vt:lpstr>Metric Curve (TDR@FDR=1%)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林家逸</dc:creator>
  <cp:lastModifiedBy>林家逸</cp:lastModifiedBy>
  <cp:revision>87</cp:revision>
  <dcterms:created xsi:type="dcterms:W3CDTF">2025-09-01T15:41:03Z</dcterms:created>
  <dcterms:modified xsi:type="dcterms:W3CDTF">2026-02-10T15:32:57Z</dcterms:modified>
</cp:coreProperties>
</file>
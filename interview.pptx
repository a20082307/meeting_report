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01" r:id="rId3"/>
    <p:sldId id="257" r:id="rId4"/>
    <p:sldId id="258" r:id="rId5"/>
    <p:sldId id="302" r:id="rId6"/>
    <p:sldId id="303" r:id="rId7"/>
    <p:sldId id="304" r:id="rId8"/>
    <p:sldId id="306" r:id="rId9"/>
    <p:sldId id="305" r:id="rId10"/>
    <p:sldId id="259" r:id="rId11"/>
    <p:sldId id="277" r:id="rId12"/>
    <p:sldId id="298" r:id="rId13"/>
    <p:sldId id="300" r:id="rId14"/>
    <p:sldId id="299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9BAF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4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49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042C8-4261-4AEE-9EEC-F733BEACEFBC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963D1-E333-4EFF-A367-C9588E0DBB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40727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042C8-4261-4AEE-9EEC-F733BEACEFBC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963D1-E333-4EFF-A367-C9588E0DBB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4507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042C8-4261-4AEE-9EEC-F733BEACEFBC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963D1-E333-4EFF-A367-C9588E0DBB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11732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042C8-4261-4AEE-9EEC-F733BEACEFBC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963D1-E333-4EFF-A367-C9588E0DBB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1837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042C8-4261-4AEE-9EEC-F733BEACEFBC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963D1-E333-4EFF-A367-C9588E0DBB46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124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042C8-4261-4AEE-9EEC-F733BEACEFBC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963D1-E333-4EFF-A367-C9588E0DBB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2363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042C8-4261-4AEE-9EEC-F733BEACEFBC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963D1-E333-4EFF-A367-C9588E0DBB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946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042C8-4261-4AEE-9EEC-F733BEACEFBC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963D1-E333-4EFF-A367-C9588E0DBB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1626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14042C8-4261-4AEE-9EEC-F733BEACEFBC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963D1-E333-4EFF-A367-C9588E0DBB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8029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042C8-4261-4AEE-9EEC-F733BEACEFBC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963D1-E333-4EFF-A367-C9588E0DBB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4981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042C8-4261-4AEE-9EEC-F733BEACEFBC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963D1-E333-4EFF-A367-C9588E0DBB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5311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14042C8-4261-4AEE-9EEC-F733BEACEFBC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7EA963D1-E333-4EFF-A367-C9588E0DBB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0051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rtifactdev.tw/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AAB0F3D1-F8A1-5DE5-E6E0-B078DDCD57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7697" y="2735011"/>
            <a:ext cx="4376605" cy="1387978"/>
          </a:xfrm>
        </p:spPr>
        <p:txBody>
          <a:bodyPr>
            <a:normAutofit/>
          </a:bodyPr>
          <a:lstStyle/>
          <a:p>
            <a:r>
              <a:rPr lang="zh-TW" altLang="en-US" sz="8000" b="1" dirty="0"/>
              <a:t>面試簡報</a:t>
            </a:r>
            <a:endParaRPr lang="en-US" altLang="zh-TW" sz="8000" b="1" dirty="0"/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B419740C-2B05-82F6-45BD-82FB5F32CDEB}"/>
              </a:ext>
            </a:extLst>
          </p:cNvPr>
          <p:cNvSpPr txBox="1">
            <a:spLocks/>
          </p:cNvSpPr>
          <p:nvPr/>
        </p:nvSpPr>
        <p:spPr>
          <a:xfrm>
            <a:off x="3907697" y="4209672"/>
            <a:ext cx="4376605" cy="1387978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b="1" dirty="0"/>
              <a:t>林家逸</a:t>
            </a:r>
            <a:endParaRPr lang="en-US" altLang="zh-TW" b="1" dirty="0"/>
          </a:p>
        </p:txBody>
      </p:sp>
    </p:spTree>
    <p:extLst>
      <p:ext uri="{BB962C8B-B14F-4D97-AF65-F5344CB8AC3E}">
        <p14:creationId xmlns:p14="http://schemas.microsoft.com/office/powerpoint/2010/main" val="238960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E4A1F-4F79-3997-B8E1-0D63EB4B0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04F04541-DFE3-2B5A-6128-8B8EE71462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7697" y="431999"/>
            <a:ext cx="4376605" cy="1070229"/>
          </a:xfrm>
        </p:spPr>
        <p:txBody>
          <a:bodyPr>
            <a:noAutofit/>
          </a:bodyPr>
          <a:lstStyle/>
          <a:p>
            <a:r>
              <a:rPr lang="zh-TW" altLang="en-US" sz="6000" b="1" dirty="0"/>
              <a:t>目錄</a:t>
            </a:r>
            <a:endParaRPr lang="en-US" altLang="zh-TW" sz="6000" b="1" dirty="0"/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771A6C5E-20C6-FBCB-814B-72EB79A72BF0}"/>
              </a:ext>
            </a:extLst>
          </p:cNvPr>
          <p:cNvSpPr txBox="1">
            <a:spLocks/>
          </p:cNvSpPr>
          <p:nvPr/>
        </p:nvSpPr>
        <p:spPr>
          <a:xfrm>
            <a:off x="471055" y="2562301"/>
            <a:ext cx="7813247" cy="2524956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spcAft>
                <a:spcPts val="1200"/>
              </a:spcAft>
              <a:buClr>
                <a:srgbClr val="F2F2F2"/>
              </a:buClr>
              <a:buFont typeface="Arial" panose="020B0604020202020204" pitchFamily="34" charset="0"/>
              <a:buChar char="•"/>
            </a:pPr>
            <a:r>
              <a:rPr lang="zh-TW" altLang="en-US" sz="3600" dirty="0">
                <a:solidFill>
                  <a:srgbClr val="F2F2F2"/>
                </a:solidFill>
              </a:rPr>
              <a:t>自我介紹</a:t>
            </a:r>
            <a:endParaRPr lang="en-US" altLang="zh-TW" sz="3600" dirty="0">
              <a:solidFill>
                <a:srgbClr val="F2F2F2"/>
              </a:solidFill>
            </a:endParaRPr>
          </a:p>
          <a:p>
            <a:pPr marL="342900" indent="-342900" algn="l">
              <a:spcAft>
                <a:spcPts val="1200"/>
              </a:spcAft>
              <a:buClr>
                <a:srgbClr val="F2F2F2"/>
              </a:buClr>
              <a:buFont typeface="Arial" panose="020B0604020202020204" pitchFamily="34" charset="0"/>
              <a:buChar char="•"/>
            </a:pPr>
            <a:r>
              <a:rPr lang="zh-TW" altLang="en-US" sz="3600" dirty="0">
                <a:solidFill>
                  <a:srgbClr val="F2F2F2"/>
                </a:solidFill>
              </a:rPr>
              <a:t>工作經驗</a:t>
            </a:r>
            <a:endParaRPr lang="en-US" altLang="zh-TW" sz="3600" dirty="0">
              <a:solidFill>
                <a:srgbClr val="F2F2F2"/>
              </a:solidFill>
            </a:endParaRPr>
          </a:p>
          <a:p>
            <a:pPr marL="342900" indent="-342900" algn="l">
              <a:spcAft>
                <a:spcPts val="1200"/>
              </a:spcAft>
              <a:buClr>
                <a:srgbClr val="F2F2F2"/>
              </a:buClr>
              <a:buFont typeface="Arial" panose="020B0604020202020204" pitchFamily="34" charset="0"/>
              <a:buChar char="•"/>
            </a:pPr>
            <a:r>
              <a:rPr lang="zh-TW" altLang="en-US" sz="3600" dirty="0">
                <a:solidFill>
                  <a:srgbClr val="F2F2F2"/>
                </a:solidFill>
              </a:rPr>
              <a:t>專案經驗</a:t>
            </a:r>
            <a:endParaRPr lang="en-US" altLang="zh-TW" sz="3600" dirty="0">
              <a:solidFill>
                <a:srgbClr val="F2F2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7326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3">
            <a:extLst>
              <a:ext uri="{FF2B5EF4-FFF2-40B4-BE49-F238E27FC236}">
                <a16:creationId xmlns:a16="http://schemas.microsoft.com/office/drawing/2014/main" id="{3187B137-290C-6AF1-E451-C931E0EE976B}"/>
              </a:ext>
            </a:extLst>
          </p:cNvPr>
          <p:cNvSpPr txBox="1">
            <a:spLocks/>
          </p:cNvSpPr>
          <p:nvPr/>
        </p:nvSpPr>
        <p:spPr>
          <a:xfrm>
            <a:off x="7590567" y="3116318"/>
            <a:ext cx="3778205" cy="2989890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5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sz="60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1B166D3-1AE5-9F16-46A0-B9F797394884}"/>
              </a:ext>
            </a:extLst>
          </p:cNvPr>
          <p:cNvSpPr txBox="1"/>
          <p:nvPr/>
        </p:nvSpPr>
        <p:spPr>
          <a:xfrm>
            <a:off x="6232322" y="3116318"/>
            <a:ext cx="590649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zh-TW" altLang="en-US" sz="2400" dirty="0">
                <a:solidFill>
                  <a:srgbClr val="9BAFB5"/>
                </a:solidFill>
              </a:rPr>
              <a:t>姓名：</a:t>
            </a:r>
            <a:r>
              <a:rPr lang="en-US" altLang="zh-TW" sz="2400" dirty="0">
                <a:solidFill>
                  <a:srgbClr val="9BAFB5"/>
                </a:solidFill>
              </a:rPr>
              <a:t>		</a:t>
            </a:r>
            <a:r>
              <a:rPr lang="zh-TW" altLang="en-US" sz="2400" dirty="0">
                <a:solidFill>
                  <a:srgbClr val="9BAFB5"/>
                </a:solidFill>
              </a:rPr>
              <a:t>林家逸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>
              <a:spcAft>
                <a:spcPts val="1200"/>
              </a:spcAft>
            </a:pPr>
            <a:r>
              <a:rPr lang="zh-TW" altLang="en-US" sz="2400" dirty="0">
                <a:solidFill>
                  <a:srgbClr val="9BAFB5"/>
                </a:solidFill>
              </a:rPr>
              <a:t>信箱：　</a:t>
            </a:r>
            <a:r>
              <a:rPr lang="en-US" altLang="zh-TW" sz="2400" dirty="0">
                <a:solidFill>
                  <a:srgbClr val="9BAFB5"/>
                </a:solidFill>
              </a:rPr>
              <a:t>		cylin2003@gmail.com</a:t>
            </a:r>
          </a:p>
          <a:p>
            <a:pPr>
              <a:spcAft>
                <a:spcPts val="1200"/>
              </a:spcAft>
            </a:pPr>
            <a:r>
              <a:rPr lang="zh-TW" altLang="en-US" sz="2400" dirty="0">
                <a:solidFill>
                  <a:srgbClr val="9BAFB5"/>
                </a:solidFill>
              </a:rPr>
              <a:t>電話：　</a:t>
            </a:r>
            <a:r>
              <a:rPr lang="en-US" altLang="zh-TW" sz="2400" dirty="0">
                <a:solidFill>
                  <a:srgbClr val="9BAFB5"/>
                </a:solidFill>
              </a:rPr>
              <a:t>		0903-502-751</a:t>
            </a:r>
          </a:p>
          <a:p>
            <a:pPr>
              <a:spcAft>
                <a:spcPts val="1200"/>
              </a:spcAft>
            </a:pPr>
            <a:r>
              <a:rPr lang="en-US" altLang="zh-TW" sz="2400" dirty="0">
                <a:solidFill>
                  <a:srgbClr val="9BAFB5"/>
                </a:solidFill>
              </a:rPr>
              <a:t>GitHub</a:t>
            </a:r>
            <a:r>
              <a:rPr lang="zh-TW" altLang="en-US" sz="2400" dirty="0">
                <a:solidFill>
                  <a:srgbClr val="9BAFB5"/>
                </a:solidFill>
              </a:rPr>
              <a:t>：　</a:t>
            </a:r>
            <a:r>
              <a:rPr lang="en-US" altLang="zh-TW" sz="2400" dirty="0">
                <a:solidFill>
                  <a:srgbClr val="9BAFB5"/>
                </a:solidFill>
              </a:rPr>
              <a:t>	https://github.com/a20082307</a:t>
            </a:r>
          </a:p>
          <a:p>
            <a:pPr>
              <a:spcAft>
                <a:spcPts val="1200"/>
              </a:spcAft>
            </a:pPr>
            <a:r>
              <a:rPr lang="en-US" altLang="zh-TW" sz="2400" dirty="0">
                <a:solidFill>
                  <a:srgbClr val="9BAFB5"/>
                </a:solidFill>
              </a:rPr>
              <a:t>LinkedIn</a:t>
            </a:r>
            <a:r>
              <a:rPr lang="zh-TW" altLang="en-US" sz="2400" dirty="0">
                <a:solidFill>
                  <a:srgbClr val="9BAFB5"/>
                </a:solidFill>
              </a:rPr>
              <a:t>：</a:t>
            </a:r>
            <a:r>
              <a:rPr lang="en-US" altLang="zh-TW" sz="2400" dirty="0">
                <a:solidFill>
                  <a:srgbClr val="9BAFB5"/>
                </a:solidFill>
              </a:rPr>
              <a:t>		www.linkedin.com/in/cylin2003/</a:t>
            </a:r>
          </a:p>
        </p:txBody>
      </p:sp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95BBE989-B752-83F0-FCDE-F1652F69C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4665" y="2921032"/>
            <a:ext cx="4275972" cy="1015935"/>
          </a:xfrm>
        </p:spPr>
        <p:txBody>
          <a:bodyPr>
            <a:normAutofit/>
          </a:bodyPr>
          <a:lstStyle/>
          <a:p>
            <a:r>
              <a:rPr lang="zh-TW" altLang="en-US" sz="6000" b="1" dirty="0"/>
              <a:t>自我介紹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E8AC5D0-300C-2AFE-8620-4D5411F11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7021" y="999857"/>
            <a:ext cx="1225296" cy="169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649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2FE5F0F-78AD-370B-93AD-F9BB2420CB6D}"/>
              </a:ext>
            </a:extLst>
          </p:cNvPr>
          <p:cNvSpPr txBox="1"/>
          <p:nvPr/>
        </p:nvSpPr>
        <p:spPr>
          <a:xfrm>
            <a:off x="3945817" y="432000"/>
            <a:ext cx="42491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800" b="1" dirty="0">
                <a:solidFill>
                  <a:srgbClr val="9BAFB5"/>
                </a:solidFill>
              </a:rPr>
              <a:t>自我介紹</a:t>
            </a:r>
            <a:endParaRPr lang="en-US" altLang="zh-TW" sz="4800" b="1" dirty="0">
              <a:solidFill>
                <a:srgbClr val="9BAFB5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5157730-8A77-6456-FA8A-37B8599C88D0}"/>
              </a:ext>
            </a:extLst>
          </p:cNvPr>
          <p:cNvSpPr txBox="1"/>
          <p:nvPr/>
        </p:nvSpPr>
        <p:spPr>
          <a:xfrm>
            <a:off x="423211" y="1895682"/>
            <a:ext cx="11345578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srgbClr val="9BAFB5"/>
                </a:solidFill>
              </a:rPr>
              <a:t>學歷</a:t>
            </a:r>
            <a:endParaRPr lang="en-US" altLang="zh-TW" sz="3200" dirty="0">
              <a:solidFill>
                <a:srgbClr val="9BAFB5"/>
              </a:solidFill>
            </a:endParaRPr>
          </a:p>
          <a:p>
            <a:pPr marL="1143000" lvl="1" indent="-685800">
              <a:buFont typeface="Times New Roman" panose="02020603050405020304" pitchFamily="18" charset="0"/>
              <a:buChar char="○"/>
            </a:pPr>
            <a:r>
              <a:rPr lang="zh-TW" altLang="en-US" sz="2400" dirty="0">
                <a:solidFill>
                  <a:srgbClr val="9BAFB5"/>
                </a:solidFill>
              </a:rPr>
              <a:t>國立清華大學 資訊工程學系碩士班（就讀中）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1143000" lvl="1" indent="-685800">
              <a:buFont typeface="Times New Roman" panose="02020603050405020304" pitchFamily="18" charset="0"/>
              <a:buChar char="○"/>
            </a:pPr>
            <a:r>
              <a:rPr lang="zh-TW" altLang="en-US" sz="2400" dirty="0">
                <a:solidFill>
                  <a:srgbClr val="9BAFB5"/>
                </a:solidFill>
              </a:rPr>
              <a:t>國立清華大學 資訊工程學系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1143000" lvl="1" indent="-685800">
              <a:buFont typeface="Wingdings" panose="05000000000000000000" pitchFamily="2" charset="2"/>
              <a:buChar char="l"/>
            </a:pPr>
            <a:endParaRPr lang="en-US" altLang="zh-TW" sz="2800" dirty="0">
              <a:solidFill>
                <a:srgbClr val="9BAFB5"/>
              </a:solidFill>
            </a:endParaRPr>
          </a:p>
          <a:p>
            <a:pPr lvl="1"/>
            <a:endParaRPr lang="en-US" altLang="zh-TW" sz="2800" dirty="0">
              <a:solidFill>
                <a:srgbClr val="9BAFB5"/>
              </a:solidFill>
            </a:endParaRPr>
          </a:p>
          <a:p>
            <a:pPr marL="57150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srgbClr val="9BAFB5"/>
                </a:solidFill>
              </a:rPr>
              <a:t>技能</a:t>
            </a:r>
          </a:p>
          <a:p>
            <a:pPr marL="1143000" lvl="1" indent="-685800">
              <a:buFont typeface="Times New Roman" panose="02020603050405020304" pitchFamily="18" charset="0"/>
              <a:buChar char="○"/>
            </a:pPr>
            <a:r>
              <a:rPr lang="en-US" altLang="zh-TW" sz="2400" dirty="0">
                <a:solidFill>
                  <a:srgbClr val="9BAFB5"/>
                </a:solidFill>
              </a:rPr>
              <a:t>Python</a:t>
            </a:r>
            <a:r>
              <a:rPr lang="zh-TW" altLang="en-US" sz="2400" dirty="0">
                <a:solidFill>
                  <a:srgbClr val="9BAFB5"/>
                </a:solidFill>
              </a:rPr>
              <a:t>、</a:t>
            </a:r>
            <a:r>
              <a:rPr lang="en-US" altLang="zh-TW" sz="2400" dirty="0">
                <a:solidFill>
                  <a:srgbClr val="9BAFB5"/>
                </a:solidFill>
              </a:rPr>
              <a:t>C/C++</a:t>
            </a:r>
            <a:r>
              <a:rPr lang="zh-TW" altLang="en-US" sz="2400" dirty="0">
                <a:solidFill>
                  <a:srgbClr val="9BAFB5"/>
                </a:solidFill>
              </a:rPr>
              <a:t>、</a:t>
            </a:r>
            <a:r>
              <a:rPr lang="en-US" altLang="zh-TW" sz="2400" dirty="0">
                <a:solidFill>
                  <a:srgbClr val="9BAFB5"/>
                </a:solidFill>
              </a:rPr>
              <a:t>JS/TS</a:t>
            </a:r>
          </a:p>
          <a:p>
            <a:pPr marL="1143000" lvl="1" indent="-685800">
              <a:buFont typeface="Times New Roman" panose="02020603050405020304" pitchFamily="18" charset="0"/>
              <a:buChar char="○"/>
            </a:pPr>
            <a:r>
              <a:rPr lang="en-US" altLang="zh-TW" sz="2400" dirty="0">
                <a:solidFill>
                  <a:srgbClr val="9BAFB5"/>
                </a:solidFill>
              </a:rPr>
              <a:t>Git</a:t>
            </a:r>
            <a:r>
              <a:rPr lang="zh-TW" altLang="en-US" sz="2400" dirty="0">
                <a:solidFill>
                  <a:srgbClr val="9BAFB5"/>
                </a:solidFill>
              </a:rPr>
              <a:t>、</a:t>
            </a:r>
            <a:r>
              <a:rPr lang="en-US" altLang="zh-TW" sz="2400" dirty="0">
                <a:solidFill>
                  <a:srgbClr val="9BAFB5"/>
                </a:solidFill>
              </a:rPr>
              <a:t>Gitlab CI/CD</a:t>
            </a:r>
          </a:p>
          <a:p>
            <a:pPr marL="1143000" lvl="1" indent="-685800">
              <a:buFont typeface="Times New Roman" panose="02020603050405020304" pitchFamily="18" charset="0"/>
              <a:buChar char="○"/>
            </a:pPr>
            <a:r>
              <a:rPr lang="en-US" altLang="zh-TW" sz="2400" dirty="0">
                <a:solidFill>
                  <a:srgbClr val="9BAFB5"/>
                </a:solidFill>
              </a:rPr>
              <a:t>AWS Cognito/DynamoDB/EC2…</a:t>
            </a:r>
            <a:r>
              <a:rPr lang="zh-TW" altLang="en-US" sz="2400" dirty="0">
                <a:solidFill>
                  <a:srgbClr val="9BAFB5"/>
                </a:solidFill>
              </a:rPr>
              <a:t> 等部分服務</a:t>
            </a:r>
            <a:endParaRPr lang="en-US" altLang="zh-TW" sz="2400" dirty="0">
              <a:solidFill>
                <a:srgbClr val="9BAFB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0867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CAD3E-65E4-4218-0E8D-87FD61333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846C773-A5F4-2FD7-7DE1-DF6BCE1A0F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4665" y="2921032"/>
            <a:ext cx="4275972" cy="1015935"/>
          </a:xfrm>
        </p:spPr>
        <p:txBody>
          <a:bodyPr>
            <a:normAutofit/>
          </a:bodyPr>
          <a:lstStyle/>
          <a:p>
            <a:r>
              <a:rPr lang="zh-TW" altLang="en-US" sz="6000" b="1" dirty="0"/>
              <a:t>工作經驗</a:t>
            </a:r>
          </a:p>
        </p:txBody>
      </p:sp>
      <p:sp>
        <p:nvSpPr>
          <p:cNvPr id="5" name="文字版面配置區 3">
            <a:extLst>
              <a:ext uri="{FF2B5EF4-FFF2-40B4-BE49-F238E27FC236}">
                <a16:creationId xmlns:a16="http://schemas.microsoft.com/office/drawing/2014/main" id="{32F1BE4B-8A6B-3349-1836-1467BFFBC520}"/>
              </a:ext>
            </a:extLst>
          </p:cNvPr>
          <p:cNvSpPr txBox="1">
            <a:spLocks/>
          </p:cNvSpPr>
          <p:nvPr/>
        </p:nvSpPr>
        <p:spPr>
          <a:xfrm>
            <a:off x="7590567" y="3116318"/>
            <a:ext cx="3778205" cy="2989890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5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sz="60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A92A7FB-77DE-DFD8-8513-EA3B5BC349C9}"/>
              </a:ext>
            </a:extLst>
          </p:cNvPr>
          <p:cNvSpPr txBox="1"/>
          <p:nvPr/>
        </p:nvSpPr>
        <p:spPr>
          <a:xfrm>
            <a:off x="7021365" y="2582613"/>
            <a:ext cx="439075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000" dirty="0">
                <a:solidFill>
                  <a:srgbClr val="9BAFB5"/>
                </a:solidFill>
              </a:rPr>
              <a:t>後端工程師</a:t>
            </a:r>
          </a:p>
          <a:p>
            <a:r>
              <a:rPr lang="en-US" altLang="zh-TW" sz="4000" dirty="0">
                <a:solidFill>
                  <a:srgbClr val="9BAFB5"/>
                </a:solidFill>
              </a:rPr>
              <a:t>		</a:t>
            </a:r>
            <a:r>
              <a:rPr lang="en-US" altLang="zh-TW" sz="2400" dirty="0">
                <a:solidFill>
                  <a:srgbClr val="9BAFB5"/>
                </a:solidFill>
              </a:rPr>
              <a:t>-</a:t>
            </a:r>
            <a:r>
              <a:rPr lang="zh-TW" altLang="en-US" sz="2400" dirty="0">
                <a:solidFill>
                  <a:srgbClr val="9BAFB5"/>
                </a:solidFill>
              </a:rPr>
              <a:t> 智器科技股份有限公司</a:t>
            </a:r>
            <a:endParaRPr lang="en-US" altLang="zh-TW" sz="2400" dirty="0">
              <a:solidFill>
                <a:srgbClr val="9BAFB5"/>
              </a:solidFill>
            </a:endParaRPr>
          </a:p>
          <a:p>
            <a:r>
              <a:rPr lang="en-US" altLang="zh-TW" sz="2400" dirty="0">
                <a:solidFill>
                  <a:srgbClr val="9BAFB5"/>
                </a:solidFill>
              </a:rPr>
              <a:t>		-</a:t>
            </a:r>
            <a:r>
              <a:rPr lang="zh-TW" altLang="en-US" sz="2400" dirty="0">
                <a:solidFill>
                  <a:srgbClr val="9BAFB5"/>
                </a:solidFill>
              </a:rPr>
              <a:t> </a:t>
            </a:r>
            <a:r>
              <a:rPr lang="en-US" altLang="zh-TW" sz="2400" dirty="0">
                <a:solidFill>
                  <a:srgbClr val="9BAFB5"/>
                </a:solidFill>
              </a:rPr>
              <a:t>2025/09 ~ </a:t>
            </a:r>
            <a:r>
              <a:rPr lang="zh-TW" altLang="en-US" sz="2400" dirty="0">
                <a:solidFill>
                  <a:srgbClr val="9BAFB5"/>
                </a:solidFill>
              </a:rPr>
              <a:t>今</a:t>
            </a:r>
          </a:p>
        </p:txBody>
      </p:sp>
    </p:spTree>
    <p:extLst>
      <p:ext uri="{BB962C8B-B14F-4D97-AF65-F5344CB8AC3E}">
        <p14:creationId xmlns:p14="http://schemas.microsoft.com/office/powerpoint/2010/main" val="873722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63163-2730-5293-E31B-5E4E9B608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0A826EF-F0E9-9983-E3BE-F01231A6DE2C}"/>
              </a:ext>
            </a:extLst>
          </p:cNvPr>
          <p:cNvSpPr txBox="1"/>
          <p:nvPr/>
        </p:nvSpPr>
        <p:spPr>
          <a:xfrm>
            <a:off x="2466403" y="432000"/>
            <a:ext cx="72591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800" b="1" dirty="0">
                <a:solidFill>
                  <a:srgbClr val="9BAFB5"/>
                </a:solidFill>
              </a:rPr>
              <a:t>公司簡介</a:t>
            </a:r>
            <a:endParaRPr lang="en-US" altLang="zh-TW" sz="4800" b="1" dirty="0">
              <a:solidFill>
                <a:srgbClr val="9BAFB5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C87FA2C-B20E-B9F7-8B70-C3E81F78D773}"/>
              </a:ext>
            </a:extLst>
          </p:cNvPr>
          <p:cNvSpPr txBox="1"/>
          <p:nvPr/>
        </p:nvSpPr>
        <p:spPr>
          <a:xfrm>
            <a:off x="336388" y="1810710"/>
            <a:ext cx="11519221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9BAFB5"/>
                </a:solidFill>
              </a:rPr>
              <a:t>名稱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800100" lvl="1" indent="-342900">
              <a:spcAft>
                <a:spcPts val="1200"/>
              </a:spcAft>
              <a:buFont typeface="PMingLiU" panose="02020500000000000000" pitchFamily="18" charset="-120"/>
              <a:buChar char="。"/>
            </a:pPr>
            <a:r>
              <a:rPr lang="zh-TW" altLang="en-US" sz="2400" dirty="0">
                <a:solidFill>
                  <a:srgbClr val="9BAFB5"/>
                </a:solidFill>
              </a:rPr>
              <a:t>智器科技股份有限公司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9BAFB5"/>
                </a:solidFill>
              </a:rPr>
              <a:t>地址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800100" lvl="1" indent="-342900">
              <a:spcAft>
                <a:spcPts val="1200"/>
              </a:spcAft>
              <a:buFont typeface="PMingLiU" panose="02020500000000000000" pitchFamily="18" charset="-120"/>
              <a:buChar char="。"/>
            </a:pPr>
            <a:r>
              <a:rPr lang="zh-TW" altLang="en-US" sz="2400" dirty="0">
                <a:solidFill>
                  <a:srgbClr val="9BAFB5"/>
                </a:solidFill>
              </a:rPr>
              <a:t>臺北市中山區民權東路</a:t>
            </a:r>
            <a:r>
              <a:rPr lang="en-US" altLang="zh-TW" sz="2400" dirty="0">
                <a:solidFill>
                  <a:srgbClr val="9BAFB5"/>
                </a:solidFill>
              </a:rPr>
              <a:t>3</a:t>
            </a:r>
            <a:r>
              <a:rPr lang="zh-TW" altLang="en-US" sz="2400" dirty="0">
                <a:solidFill>
                  <a:srgbClr val="9BAFB5"/>
                </a:solidFill>
              </a:rPr>
              <a:t>段</a:t>
            </a:r>
            <a:r>
              <a:rPr lang="en-US" altLang="zh-TW" sz="2400" dirty="0">
                <a:solidFill>
                  <a:srgbClr val="9BAFB5"/>
                </a:solidFill>
              </a:rPr>
              <a:t>70</a:t>
            </a:r>
            <a:r>
              <a:rPr lang="zh-TW" altLang="en-US" sz="2400" dirty="0">
                <a:solidFill>
                  <a:srgbClr val="9BAFB5"/>
                </a:solidFill>
              </a:rPr>
              <a:t>之</a:t>
            </a:r>
            <a:r>
              <a:rPr lang="en-US" altLang="zh-TW" sz="2400" dirty="0">
                <a:solidFill>
                  <a:srgbClr val="9BAFB5"/>
                </a:solidFill>
              </a:rPr>
              <a:t>2</a:t>
            </a:r>
            <a:r>
              <a:rPr lang="zh-TW" altLang="en-US" sz="2400" dirty="0">
                <a:solidFill>
                  <a:srgbClr val="9BAFB5"/>
                </a:solidFill>
              </a:rPr>
              <a:t>號</a:t>
            </a:r>
            <a:r>
              <a:rPr lang="en-US" altLang="zh-TW" sz="2400" dirty="0">
                <a:solidFill>
                  <a:srgbClr val="9BAFB5"/>
                </a:solidFill>
              </a:rPr>
              <a:t>2</a:t>
            </a:r>
            <a:r>
              <a:rPr lang="zh-TW" altLang="en-US" sz="2400" dirty="0">
                <a:solidFill>
                  <a:srgbClr val="9BAFB5"/>
                </a:solidFill>
              </a:rPr>
              <a:t>樓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9BAFB5"/>
                </a:solidFill>
              </a:rPr>
              <a:t>服務項目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800100" lvl="1" indent="-342900">
              <a:spcAft>
                <a:spcPts val="1200"/>
              </a:spcAft>
              <a:buFont typeface="PMingLiU" panose="02020500000000000000" pitchFamily="18" charset="-120"/>
              <a:buChar char="。"/>
            </a:pPr>
            <a:r>
              <a:rPr lang="zh-TW" altLang="en-US" sz="2400" dirty="0">
                <a:solidFill>
                  <a:srgbClr val="9BAFB5"/>
                </a:solidFill>
              </a:rPr>
              <a:t>從專業 </a:t>
            </a:r>
            <a:r>
              <a:rPr lang="en-US" altLang="zh-TW" sz="2400" dirty="0">
                <a:solidFill>
                  <a:srgbClr val="9BAFB5"/>
                </a:solidFill>
              </a:rPr>
              <a:t>SaaS </a:t>
            </a:r>
            <a:r>
              <a:rPr lang="zh-TW" altLang="en-US" sz="2400" dirty="0">
                <a:solidFill>
                  <a:srgbClr val="9BAFB5"/>
                </a:solidFill>
              </a:rPr>
              <a:t>開發、雲端軟體規劃開發、系統整合到顧問服務、協助企業申請補助案，</a:t>
            </a:r>
            <a:r>
              <a:rPr lang="en-US" altLang="zh-TW" sz="2400" dirty="0">
                <a:solidFill>
                  <a:srgbClr val="9BAFB5"/>
                </a:solidFill>
              </a:rPr>
              <a:t>Artifact </a:t>
            </a:r>
            <a:r>
              <a:rPr lang="zh-TW" altLang="en-US" sz="2400" dirty="0">
                <a:solidFill>
                  <a:srgbClr val="9BAFB5"/>
                </a:solidFill>
              </a:rPr>
              <a:t>的專業團隊可以協助客戶，做到 </a:t>
            </a:r>
            <a:r>
              <a:rPr lang="en-US" altLang="zh-TW" sz="2400" dirty="0">
                <a:solidFill>
                  <a:srgbClr val="9BAFB5"/>
                </a:solidFill>
              </a:rPr>
              <a:t>100% </a:t>
            </a:r>
            <a:r>
              <a:rPr lang="zh-TW" altLang="en-US" sz="2400" dirty="0">
                <a:solidFill>
                  <a:srgbClr val="9BAFB5"/>
                </a:solidFill>
              </a:rPr>
              <a:t>的一站式系統整合服務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9BAFB5"/>
                </a:solidFill>
              </a:rPr>
              <a:t>官方網站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800100" lvl="1" indent="-342900">
              <a:spcAft>
                <a:spcPts val="1200"/>
              </a:spcAft>
              <a:buFont typeface="PMingLiU" panose="02020500000000000000" pitchFamily="18" charset="-120"/>
              <a:buChar char="。"/>
            </a:pPr>
            <a:r>
              <a:rPr lang="en-US" altLang="zh-TW" sz="2400" dirty="0">
                <a:solidFill>
                  <a:srgbClr val="9BAFB5"/>
                </a:solidFill>
                <a:hlinkClick r:id="rId2"/>
              </a:rPr>
              <a:t>https://www.artifactdev.tw/</a:t>
            </a:r>
            <a:endParaRPr lang="en-US" altLang="zh-TW" sz="2400" dirty="0">
              <a:solidFill>
                <a:srgbClr val="9BAFB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352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915C0-7F83-921D-B7BC-2DADD30EE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3E78D8A-20F8-CE06-00A3-3E9878DA8EC6}"/>
              </a:ext>
            </a:extLst>
          </p:cNvPr>
          <p:cNvSpPr txBox="1"/>
          <p:nvPr/>
        </p:nvSpPr>
        <p:spPr>
          <a:xfrm>
            <a:off x="2290795" y="432000"/>
            <a:ext cx="76104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800" b="1" dirty="0">
                <a:solidFill>
                  <a:srgbClr val="9BAFB5"/>
                </a:solidFill>
              </a:rPr>
              <a:t>目前專案 </a:t>
            </a:r>
            <a:r>
              <a:rPr lang="en-US" altLang="zh-TW" sz="4800" b="1" dirty="0">
                <a:solidFill>
                  <a:srgbClr val="9BAFB5"/>
                </a:solidFill>
              </a:rPr>
              <a:t>- </a:t>
            </a:r>
            <a:r>
              <a:rPr lang="en-US" altLang="zh-TW" sz="4800" dirty="0">
                <a:solidFill>
                  <a:srgbClr val="9BAFB5"/>
                </a:solidFill>
              </a:rPr>
              <a:t>AI</a:t>
            </a:r>
            <a:r>
              <a:rPr lang="zh-TW" altLang="en-US" sz="4800" dirty="0">
                <a:solidFill>
                  <a:srgbClr val="9BAFB5"/>
                </a:solidFill>
              </a:rPr>
              <a:t>智慧瓦斯平台</a:t>
            </a:r>
            <a:endParaRPr lang="en-US" altLang="zh-TW" sz="4800" b="1" dirty="0">
              <a:solidFill>
                <a:srgbClr val="9BAFB5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E7834F0-932E-31BA-F8AF-27995CAB0442}"/>
              </a:ext>
            </a:extLst>
          </p:cNvPr>
          <p:cNvSpPr txBox="1"/>
          <p:nvPr/>
        </p:nvSpPr>
        <p:spPr>
          <a:xfrm>
            <a:off x="336389" y="1829120"/>
            <a:ext cx="11519221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zh-TW" altLang="en-US" sz="2400" dirty="0">
                <a:solidFill>
                  <a:srgbClr val="9BAFB5"/>
                </a:solidFill>
              </a:rPr>
              <a:t>在市場調查以及我們自身經驗後，我們發現目前瓦斯行業有以下痛點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9BAFB5"/>
                </a:solidFill>
              </a:rPr>
              <a:t>瓦斯行端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800100" lvl="1" indent="-342900">
              <a:spcAft>
                <a:spcPts val="1200"/>
              </a:spcAft>
              <a:buFont typeface="PMingLiU" panose="02020500000000000000" pitchFamily="18" charset="-120"/>
              <a:buChar char="。"/>
            </a:pPr>
            <a:r>
              <a:rPr lang="zh-TW" altLang="en-US" sz="2400" dirty="0">
                <a:solidFill>
                  <a:srgbClr val="9BAFB5"/>
                </a:solidFill>
              </a:rPr>
              <a:t>由於少子化因素，瓦斯行沒有人可以接手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800100" lvl="1" indent="-342900">
              <a:spcAft>
                <a:spcPts val="1200"/>
              </a:spcAft>
              <a:buFont typeface="PMingLiU" panose="02020500000000000000" pitchFamily="18" charset="-120"/>
              <a:buChar char="。"/>
            </a:pPr>
            <a:r>
              <a:rPr lang="zh-TW" altLang="en-US" sz="2400" dirty="0">
                <a:solidFill>
                  <a:srgbClr val="9BAFB5"/>
                </a:solidFill>
              </a:rPr>
              <a:t>絕大多數沒有系統化管理方式，使用紙本記錄導致效率低落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800100" lvl="1" indent="-342900">
              <a:spcAft>
                <a:spcPts val="1200"/>
              </a:spcAft>
              <a:buFont typeface="PMingLiU" panose="02020500000000000000" pitchFamily="18" charset="-120"/>
              <a:buChar char="。"/>
            </a:pPr>
            <a:r>
              <a:rPr lang="zh-TW" altLang="en-US" sz="2400" dirty="0">
                <a:solidFill>
                  <a:srgbClr val="9BAFB5"/>
                </a:solidFill>
              </a:rPr>
              <a:t>外送員調度全靠人工安排，運輸速度無法保證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9BAFB5"/>
                </a:solidFill>
              </a:rPr>
              <a:t>客戶端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800100" lvl="1" indent="-342900">
              <a:spcAft>
                <a:spcPts val="1200"/>
              </a:spcAft>
              <a:buFont typeface="PMingLiU" panose="02020500000000000000" pitchFamily="18" charset="-120"/>
              <a:buChar char="。"/>
            </a:pPr>
            <a:r>
              <a:rPr lang="zh-TW" altLang="en-US" sz="2400" dirty="0">
                <a:solidFill>
                  <a:srgbClr val="9BAFB5"/>
                </a:solidFill>
              </a:rPr>
              <a:t>瓦斯行價格不透明，並且有的瓦斯行不支援存退氣的服務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800100" lvl="1" indent="-342900">
              <a:spcAft>
                <a:spcPts val="1200"/>
              </a:spcAft>
              <a:buFont typeface="PMingLiU" panose="02020500000000000000" pitchFamily="18" charset="-120"/>
              <a:buChar char="。"/>
            </a:pPr>
            <a:r>
              <a:rPr lang="zh-TW" altLang="en-US" sz="2400" dirty="0">
                <a:solidFill>
                  <a:srgbClr val="9BAFB5"/>
                </a:solidFill>
              </a:rPr>
              <a:t>時不時出現用到一半才發現沒有瓦斯可用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800100" lvl="1" indent="-342900">
              <a:spcAft>
                <a:spcPts val="1200"/>
              </a:spcAft>
              <a:buFont typeface="PMingLiU" panose="02020500000000000000" pitchFamily="18" charset="-120"/>
              <a:buChar char="。"/>
            </a:pPr>
            <a:r>
              <a:rPr lang="zh-TW" altLang="en-US" sz="2400" dirty="0">
                <a:solidFill>
                  <a:srgbClr val="9BAFB5"/>
                </a:solidFill>
              </a:rPr>
              <a:t>只能透過電話下單</a:t>
            </a:r>
            <a:endParaRPr lang="en-US" altLang="zh-TW" sz="2400" dirty="0">
              <a:solidFill>
                <a:srgbClr val="9BAFB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7805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DA443-2B03-1CA2-73DC-BECFFDE05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0F2ACE6-D2B0-BB02-8E3C-BFB46149731F}"/>
              </a:ext>
            </a:extLst>
          </p:cNvPr>
          <p:cNvSpPr txBox="1"/>
          <p:nvPr/>
        </p:nvSpPr>
        <p:spPr>
          <a:xfrm>
            <a:off x="2290795" y="432000"/>
            <a:ext cx="76104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800" b="1" dirty="0">
                <a:solidFill>
                  <a:srgbClr val="9BAFB5"/>
                </a:solidFill>
              </a:rPr>
              <a:t>目前專案 </a:t>
            </a:r>
            <a:r>
              <a:rPr lang="en-US" altLang="zh-TW" sz="4800" b="1" dirty="0">
                <a:solidFill>
                  <a:srgbClr val="9BAFB5"/>
                </a:solidFill>
              </a:rPr>
              <a:t>- </a:t>
            </a:r>
            <a:r>
              <a:rPr lang="en-US" altLang="zh-TW" sz="4800" dirty="0">
                <a:solidFill>
                  <a:srgbClr val="9BAFB5"/>
                </a:solidFill>
              </a:rPr>
              <a:t>AI</a:t>
            </a:r>
            <a:r>
              <a:rPr lang="zh-TW" altLang="en-US" sz="4800" dirty="0">
                <a:solidFill>
                  <a:srgbClr val="9BAFB5"/>
                </a:solidFill>
              </a:rPr>
              <a:t>智慧瓦斯平台</a:t>
            </a:r>
            <a:endParaRPr lang="en-US" altLang="zh-TW" sz="4800" b="1" dirty="0">
              <a:solidFill>
                <a:srgbClr val="9BAFB5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F2553B7-E06D-34E3-0A5E-4AC003A5DD48}"/>
              </a:ext>
            </a:extLst>
          </p:cNvPr>
          <p:cNvSpPr txBox="1"/>
          <p:nvPr/>
        </p:nvSpPr>
        <p:spPr>
          <a:xfrm>
            <a:off x="336389" y="1829120"/>
            <a:ext cx="11519221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zh-TW" altLang="en-US" sz="2400" dirty="0">
                <a:solidFill>
                  <a:srgbClr val="9BAFB5"/>
                </a:solidFill>
              </a:rPr>
              <a:t>有鑑於此，我們的產品目標為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9BAFB5"/>
                </a:solidFill>
              </a:rPr>
              <a:t>瓦斯行端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9BAFB5"/>
                </a:solidFill>
              </a:rPr>
              <a:t>告別紙本記錄方式，運營情況全面數位化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9BAFB5"/>
                </a:solidFill>
              </a:rPr>
              <a:t>智慧派單以及路徑最佳化，大幅降低空車率以及提升送貨效率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9BAFB5"/>
                </a:solidFill>
              </a:rPr>
              <a:t>提供運營代管服務，讓業者回歸家庭與生活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9BAFB5"/>
                </a:solidFill>
              </a:rPr>
              <a:t>用戶端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9BAFB5"/>
                </a:solidFill>
              </a:rPr>
              <a:t>透過結合 </a:t>
            </a:r>
            <a:r>
              <a:rPr lang="en-US" altLang="zh-TW" sz="2400" dirty="0">
                <a:solidFill>
                  <a:srgbClr val="9BAFB5"/>
                </a:solidFill>
              </a:rPr>
              <a:t>IoT </a:t>
            </a:r>
            <a:r>
              <a:rPr lang="zh-TW" altLang="en-US" sz="2400" dirty="0">
                <a:solidFill>
                  <a:srgbClr val="9BAFB5"/>
                </a:solidFill>
              </a:rPr>
              <a:t>設備以及模型預測，主動提醒用戶用量即將耗盡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9BAFB5"/>
                </a:solidFill>
              </a:rPr>
              <a:t>透過 </a:t>
            </a:r>
            <a:r>
              <a:rPr lang="en-US" altLang="zh-TW" sz="2400" dirty="0">
                <a:solidFill>
                  <a:srgbClr val="9BAFB5"/>
                </a:solidFill>
              </a:rPr>
              <a:t>Line APP </a:t>
            </a:r>
            <a:r>
              <a:rPr lang="zh-TW" altLang="en-US" sz="2400" dirty="0">
                <a:solidFill>
                  <a:srgbClr val="9BAFB5"/>
                </a:solidFill>
              </a:rPr>
              <a:t>將價格以及服務透明化，並提供一鍵下單功能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altLang="zh-TW" sz="2400" dirty="0">
              <a:solidFill>
                <a:srgbClr val="9BAFB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532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55B90-73B7-1EF8-5A2B-15A79AB21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CC9828A-EB99-C132-0DC4-3947949B00BF}"/>
              </a:ext>
            </a:extLst>
          </p:cNvPr>
          <p:cNvSpPr txBox="1"/>
          <p:nvPr/>
        </p:nvSpPr>
        <p:spPr>
          <a:xfrm>
            <a:off x="2466403" y="432000"/>
            <a:ext cx="72591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800" b="1" dirty="0">
                <a:solidFill>
                  <a:srgbClr val="9BAFB5"/>
                </a:solidFill>
              </a:rPr>
              <a:t>開發經歷</a:t>
            </a:r>
            <a:endParaRPr lang="en-US" altLang="zh-TW" sz="4800" b="1" dirty="0">
              <a:solidFill>
                <a:srgbClr val="9BAFB5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0A0D51C-0EE5-0103-B520-3B0347424E5B}"/>
              </a:ext>
            </a:extLst>
          </p:cNvPr>
          <p:cNvSpPr txBox="1"/>
          <p:nvPr/>
        </p:nvSpPr>
        <p:spPr>
          <a:xfrm>
            <a:off x="452537" y="1625798"/>
            <a:ext cx="11286924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9BAFB5"/>
                </a:solidFill>
              </a:rPr>
              <a:t>透過 </a:t>
            </a:r>
            <a:r>
              <a:rPr lang="en-US" altLang="zh-TW" sz="2400" dirty="0">
                <a:solidFill>
                  <a:srgbClr val="9BAFB5"/>
                </a:solidFill>
              </a:rPr>
              <a:t>AWS</a:t>
            </a:r>
            <a:r>
              <a:rPr lang="zh-TW" altLang="en-US" sz="2400" dirty="0">
                <a:solidFill>
                  <a:srgbClr val="9BAFB5"/>
                </a:solidFill>
              </a:rPr>
              <a:t> </a:t>
            </a:r>
            <a:r>
              <a:rPr lang="en-US" altLang="zh-TW" sz="2400" dirty="0">
                <a:solidFill>
                  <a:srgbClr val="9BAFB5"/>
                </a:solidFill>
              </a:rPr>
              <a:t>IoT Core + Lambda + AppSync</a:t>
            </a:r>
            <a:r>
              <a:rPr lang="zh-TW" altLang="en-US" sz="2400" dirty="0">
                <a:solidFill>
                  <a:srgbClr val="9BAFB5"/>
                </a:solidFill>
              </a:rPr>
              <a:t> ，讓瓦斯行以及用戶能夠掌握外送員的即時定位資訊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9BAFB5"/>
                </a:solidFill>
              </a:rPr>
              <a:t>透過 </a:t>
            </a:r>
            <a:r>
              <a:rPr lang="en-US" altLang="zh-TW" sz="2400" dirty="0">
                <a:solidFill>
                  <a:srgbClr val="9BAFB5"/>
                </a:solidFill>
              </a:rPr>
              <a:t>AWS Cognito </a:t>
            </a:r>
            <a:r>
              <a:rPr lang="zh-TW" altLang="en-US" sz="2400" dirty="0">
                <a:solidFill>
                  <a:srgbClr val="9BAFB5"/>
                </a:solidFill>
              </a:rPr>
              <a:t>處理瓦斯行以及外送員的身分認證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9BAFB5"/>
                </a:solidFill>
              </a:rPr>
              <a:t>透過 </a:t>
            </a:r>
            <a:r>
              <a:rPr lang="en-US" altLang="zh-TW" sz="2400" dirty="0">
                <a:solidFill>
                  <a:srgbClr val="9BAFB5"/>
                </a:solidFill>
              </a:rPr>
              <a:t>AWS SQS </a:t>
            </a:r>
            <a:r>
              <a:rPr lang="zh-TW" altLang="en-US" sz="2400" dirty="0">
                <a:solidFill>
                  <a:srgbClr val="9BAFB5"/>
                </a:solidFill>
              </a:rPr>
              <a:t>處理 </a:t>
            </a:r>
            <a:r>
              <a:rPr lang="en-US" altLang="zh-TW" sz="2400" dirty="0">
                <a:solidFill>
                  <a:srgbClr val="9BAFB5"/>
                </a:solidFill>
              </a:rPr>
              <a:t>DynamoDB </a:t>
            </a:r>
            <a:r>
              <a:rPr lang="zh-TW" altLang="en-US" sz="2400" dirty="0">
                <a:solidFill>
                  <a:srgbClr val="9BAFB5"/>
                </a:solidFill>
              </a:rPr>
              <a:t>資料的更新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9BAFB5"/>
                </a:solidFill>
              </a:rPr>
              <a:t>透過 </a:t>
            </a:r>
            <a:r>
              <a:rPr lang="en-US" altLang="zh-TW" sz="2400" dirty="0">
                <a:solidFill>
                  <a:srgbClr val="9BAFB5"/>
                </a:solidFill>
              </a:rPr>
              <a:t>AWS EC2 </a:t>
            </a:r>
            <a:r>
              <a:rPr lang="zh-TW" altLang="en-US" sz="2400" dirty="0">
                <a:solidFill>
                  <a:srgbClr val="9BAFB5"/>
                </a:solidFill>
              </a:rPr>
              <a:t>架設 </a:t>
            </a:r>
            <a:r>
              <a:rPr lang="en-US" altLang="zh-TW" sz="2400" dirty="0">
                <a:solidFill>
                  <a:srgbClr val="9BAFB5"/>
                </a:solidFill>
              </a:rPr>
              <a:t>OSRM Server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9BAFB5"/>
                </a:solidFill>
              </a:rPr>
              <a:t>串接 </a:t>
            </a:r>
            <a:r>
              <a:rPr lang="en-US" altLang="zh-TW" sz="2400" dirty="0">
                <a:solidFill>
                  <a:srgbClr val="9BAFB5"/>
                </a:solidFill>
              </a:rPr>
              <a:t>Google/HERE/TomTom </a:t>
            </a:r>
            <a:r>
              <a:rPr lang="zh-TW" altLang="en-US" sz="2400" dirty="0">
                <a:solidFill>
                  <a:srgbClr val="9BAFB5"/>
                </a:solidFill>
              </a:rPr>
              <a:t>等供應商 </a:t>
            </a:r>
            <a:r>
              <a:rPr lang="en-US" altLang="zh-TW" sz="2400" dirty="0">
                <a:solidFill>
                  <a:srgbClr val="9BAFB5"/>
                </a:solidFill>
              </a:rPr>
              <a:t>API </a:t>
            </a:r>
            <a:r>
              <a:rPr lang="zh-TW" altLang="en-US" sz="2400" dirty="0">
                <a:solidFill>
                  <a:srgbClr val="9BAFB5"/>
                </a:solidFill>
              </a:rPr>
              <a:t>以獲取客戶的地址，並對地址進行正規化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9BAFB5"/>
                </a:solidFill>
              </a:rPr>
              <a:t>串接 </a:t>
            </a:r>
            <a:r>
              <a:rPr lang="en-US" altLang="zh-TW" sz="2400" dirty="0">
                <a:solidFill>
                  <a:srgbClr val="9BAFB5"/>
                </a:solidFill>
              </a:rPr>
              <a:t>Google Route Optimization API </a:t>
            </a:r>
            <a:r>
              <a:rPr lang="zh-TW" altLang="en-US" sz="2400" dirty="0">
                <a:solidFill>
                  <a:srgbClr val="9BAFB5"/>
                </a:solidFill>
              </a:rPr>
              <a:t>以分配預約訂單給外送員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9BAFB5"/>
                </a:solidFill>
              </a:rPr>
              <a:t>開發派單演算法，讓新訂單能自動分配給成本最低的外送員，並同時決定好分配後的所有訂單順序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9BAFB5"/>
                </a:solidFill>
              </a:rPr>
              <a:t>使用 </a:t>
            </a:r>
            <a:r>
              <a:rPr lang="en-US" altLang="zh-TW" sz="2400" dirty="0">
                <a:solidFill>
                  <a:srgbClr val="9BAFB5"/>
                </a:solidFill>
              </a:rPr>
              <a:t>GitLab </a:t>
            </a:r>
            <a:r>
              <a:rPr lang="zh-TW" altLang="en-US" sz="2400" dirty="0">
                <a:solidFill>
                  <a:srgbClr val="9BAFB5"/>
                </a:solidFill>
              </a:rPr>
              <a:t>管理相關 </a:t>
            </a:r>
            <a:r>
              <a:rPr lang="en-US" altLang="zh-TW" sz="2400" dirty="0">
                <a:solidFill>
                  <a:srgbClr val="9BAFB5"/>
                </a:solidFill>
              </a:rPr>
              <a:t>repo</a:t>
            </a:r>
            <a:r>
              <a:rPr lang="zh-TW" altLang="en-US" sz="2400" dirty="0">
                <a:solidFill>
                  <a:srgbClr val="9BAFB5"/>
                </a:solidFill>
              </a:rPr>
              <a:t>，並透過 </a:t>
            </a:r>
            <a:r>
              <a:rPr lang="en-US" altLang="zh-TW" sz="2400" dirty="0">
                <a:solidFill>
                  <a:srgbClr val="9BAFB5"/>
                </a:solidFill>
              </a:rPr>
              <a:t>CI/CD pipeline </a:t>
            </a:r>
            <a:r>
              <a:rPr lang="zh-TW" altLang="en-US" sz="2400" dirty="0">
                <a:solidFill>
                  <a:srgbClr val="9BAFB5"/>
                </a:solidFill>
              </a:rPr>
              <a:t>進行檢查及部屬</a:t>
            </a:r>
            <a:endParaRPr lang="en-US" altLang="zh-TW" sz="2400" dirty="0">
              <a:solidFill>
                <a:srgbClr val="9BAFB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432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04D24-79AC-CE5C-F95C-292DDA13D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8E5FE3C-7DC4-975C-298A-6A6FF6E3C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4665" y="2921032"/>
            <a:ext cx="4275972" cy="1015935"/>
          </a:xfrm>
        </p:spPr>
        <p:txBody>
          <a:bodyPr>
            <a:normAutofit/>
          </a:bodyPr>
          <a:lstStyle/>
          <a:p>
            <a:r>
              <a:rPr lang="zh-TW" altLang="en-US" sz="6000" b="1" dirty="0"/>
              <a:t>專案經驗</a:t>
            </a:r>
          </a:p>
        </p:txBody>
      </p:sp>
      <p:sp>
        <p:nvSpPr>
          <p:cNvPr id="5" name="文字版面配置區 3">
            <a:extLst>
              <a:ext uri="{FF2B5EF4-FFF2-40B4-BE49-F238E27FC236}">
                <a16:creationId xmlns:a16="http://schemas.microsoft.com/office/drawing/2014/main" id="{FD05008C-29A2-4A74-015E-D83C4FB0817E}"/>
              </a:ext>
            </a:extLst>
          </p:cNvPr>
          <p:cNvSpPr txBox="1">
            <a:spLocks/>
          </p:cNvSpPr>
          <p:nvPr/>
        </p:nvSpPr>
        <p:spPr>
          <a:xfrm>
            <a:off x="7590567" y="3116318"/>
            <a:ext cx="3778205" cy="2989890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5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sz="60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1890DC0-E37E-16A9-E491-1E97FF166944}"/>
              </a:ext>
            </a:extLst>
          </p:cNvPr>
          <p:cNvSpPr txBox="1"/>
          <p:nvPr/>
        </p:nvSpPr>
        <p:spPr>
          <a:xfrm>
            <a:off x="7298576" y="2582613"/>
            <a:ext cx="407019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000" dirty="0">
                <a:solidFill>
                  <a:srgbClr val="9BAFB5"/>
                </a:solidFill>
              </a:rPr>
              <a:t>真假指紋辨識</a:t>
            </a:r>
            <a:endParaRPr lang="en-US" altLang="zh-TW" sz="4000" dirty="0">
              <a:solidFill>
                <a:srgbClr val="9BAFB5"/>
              </a:solidFill>
            </a:endParaRPr>
          </a:p>
          <a:p>
            <a:r>
              <a:rPr lang="en-US" altLang="zh-TW" sz="4000" dirty="0">
                <a:solidFill>
                  <a:srgbClr val="9BAFB5"/>
                </a:solidFill>
              </a:rPr>
              <a:t>		</a:t>
            </a:r>
            <a:r>
              <a:rPr lang="en-US" altLang="zh-TW" sz="2400" dirty="0">
                <a:solidFill>
                  <a:srgbClr val="9BAFB5"/>
                </a:solidFill>
              </a:rPr>
              <a:t>- </a:t>
            </a:r>
            <a:r>
              <a:rPr lang="zh-TW" altLang="en-US" sz="2400" dirty="0">
                <a:solidFill>
                  <a:srgbClr val="9BAFB5"/>
                </a:solidFill>
              </a:rPr>
              <a:t>透過訓練模型來抵禦假指紋對小型感測器的攻擊</a:t>
            </a:r>
          </a:p>
        </p:txBody>
      </p:sp>
    </p:spTree>
    <p:extLst>
      <p:ext uri="{BB962C8B-B14F-4D97-AF65-F5344CB8AC3E}">
        <p14:creationId xmlns:p14="http://schemas.microsoft.com/office/powerpoint/2010/main" val="3432364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0E660-B113-72D7-152B-301E82ADA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165ECDB-8941-7BBC-61B7-C9EDB597B01E}"/>
              </a:ext>
            </a:extLst>
          </p:cNvPr>
          <p:cNvSpPr txBox="1"/>
          <p:nvPr/>
        </p:nvSpPr>
        <p:spPr>
          <a:xfrm>
            <a:off x="2466403" y="432000"/>
            <a:ext cx="72591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800" b="1" dirty="0">
                <a:solidFill>
                  <a:srgbClr val="9BAFB5"/>
                </a:solidFill>
              </a:rPr>
              <a:t>真假指紋辨識 </a:t>
            </a:r>
            <a:r>
              <a:rPr lang="en-US" altLang="zh-TW" sz="4800" b="1" dirty="0">
                <a:solidFill>
                  <a:srgbClr val="9BAFB5"/>
                </a:solidFill>
              </a:rPr>
              <a:t>– </a:t>
            </a:r>
            <a:r>
              <a:rPr lang="zh-TW" altLang="en-US" sz="4800" b="1" dirty="0">
                <a:solidFill>
                  <a:srgbClr val="9BAFB5"/>
                </a:solidFill>
              </a:rPr>
              <a:t>簡介</a:t>
            </a:r>
            <a:endParaRPr lang="en-US" altLang="zh-TW" sz="4800" b="1" dirty="0">
              <a:solidFill>
                <a:srgbClr val="9BAFB5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5AEABC8-F0E5-0DD8-3AC7-1AB6BB18DBD9}"/>
              </a:ext>
            </a:extLst>
          </p:cNvPr>
          <p:cNvSpPr txBox="1"/>
          <p:nvPr/>
        </p:nvSpPr>
        <p:spPr>
          <a:xfrm>
            <a:off x="423211" y="2013228"/>
            <a:ext cx="1134557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sz="2400" dirty="0">
                <a:solidFill>
                  <a:srgbClr val="9BAFB5"/>
                </a:solidFill>
              </a:rPr>
              <a:t>	</a:t>
            </a:r>
            <a:r>
              <a:rPr lang="zh-TW" altLang="en-US" sz="2400" dirty="0">
                <a:solidFill>
                  <a:srgbClr val="9BAFB5"/>
                </a:solidFill>
              </a:rPr>
              <a:t>  由於其獨特性，指紋一直以來都是廣為使用的生物辨識技術。然而，隨著越來越多裝置使用指紋辨識作為驗證機制，針對指紋辨識的攻擊也越來越多。攻擊者主要會透過不同材料如</a:t>
            </a:r>
            <a:r>
              <a:rPr lang="en-US" altLang="zh-TW" sz="2400" dirty="0">
                <a:solidFill>
                  <a:srgbClr val="9BAFB5"/>
                </a:solidFill>
              </a:rPr>
              <a:t>Silicon</a:t>
            </a:r>
            <a:r>
              <a:rPr lang="zh-TW" altLang="en-US" sz="2400" dirty="0">
                <a:solidFill>
                  <a:srgbClr val="9BAFB5"/>
                </a:solidFill>
              </a:rPr>
              <a:t>、</a:t>
            </a:r>
            <a:r>
              <a:rPr lang="en-US" altLang="zh-TW" sz="2400" dirty="0">
                <a:solidFill>
                  <a:srgbClr val="9BAFB5"/>
                </a:solidFill>
              </a:rPr>
              <a:t>Gelatin</a:t>
            </a:r>
            <a:r>
              <a:rPr lang="zh-TW" altLang="en-US" sz="2400" dirty="0">
                <a:solidFill>
                  <a:srgbClr val="9BAFB5"/>
                </a:solidFill>
              </a:rPr>
              <a:t>來製作假指紋，以模擬真指紋在感測器下的物理特性，且該情況在小型的感測器下會更難以察覺。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>
              <a:spcAft>
                <a:spcPts val="1200"/>
              </a:spcAft>
            </a:pPr>
            <a:r>
              <a:rPr lang="en-US" altLang="zh-TW" sz="2400" dirty="0">
                <a:solidFill>
                  <a:srgbClr val="9BAFB5"/>
                </a:solidFill>
              </a:rPr>
              <a:t>	</a:t>
            </a:r>
            <a:r>
              <a:rPr lang="zh-TW" altLang="en-US" sz="2400" dirty="0">
                <a:solidFill>
                  <a:srgbClr val="9BAFB5"/>
                </a:solidFill>
              </a:rPr>
              <a:t>  為了抵禦假指紋的攻擊，我們透過訓練 </a:t>
            </a:r>
            <a:r>
              <a:rPr lang="en-US" altLang="zh-TW" sz="2400" dirty="0" err="1">
                <a:solidFill>
                  <a:srgbClr val="9BAFB5"/>
                </a:solidFill>
              </a:rPr>
              <a:t>MobileNet</a:t>
            </a:r>
            <a:r>
              <a:rPr lang="en-US" altLang="zh-TW" sz="2400" dirty="0">
                <a:solidFill>
                  <a:srgbClr val="9BAFB5"/>
                </a:solidFill>
              </a:rPr>
              <a:t> V3 </a:t>
            </a:r>
            <a:r>
              <a:rPr lang="zh-TW" altLang="en-US" sz="2400" dirty="0">
                <a:solidFill>
                  <a:srgbClr val="9BAFB5"/>
                </a:solidFill>
              </a:rPr>
              <a:t>系列模型來辨識其真假。並且由於模型需要部屬在手機端上，我們亦透過蒸餾的方式在縮小模型參數以及辨識時間下，將 </a:t>
            </a:r>
            <a:r>
              <a:rPr lang="en-US" altLang="zh-TW" sz="2400" dirty="0">
                <a:solidFill>
                  <a:srgbClr val="9BAFB5"/>
                </a:solidFill>
              </a:rPr>
              <a:t>teacher model </a:t>
            </a:r>
            <a:r>
              <a:rPr lang="zh-TW" altLang="en-US" sz="2400" dirty="0">
                <a:solidFill>
                  <a:srgbClr val="9BAFB5"/>
                </a:solidFill>
              </a:rPr>
              <a:t>的知識傳遞給 </a:t>
            </a:r>
            <a:r>
              <a:rPr lang="en-US" altLang="zh-TW" sz="2400" dirty="0">
                <a:solidFill>
                  <a:srgbClr val="9BAFB5"/>
                </a:solidFill>
              </a:rPr>
              <a:t>student model </a:t>
            </a:r>
            <a:r>
              <a:rPr lang="zh-TW" altLang="en-US" sz="2400" dirty="0">
                <a:solidFill>
                  <a:srgbClr val="9BAFB5"/>
                </a:solidFill>
              </a:rPr>
              <a:t>。</a:t>
            </a:r>
            <a:endParaRPr lang="en-US" altLang="zh-TW" sz="2400" dirty="0">
              <a:solidFill>
                <a:srgbClr val="9BAFB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7465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240F4-D4B5-6FD8-C140-931D00095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C570D05-FB27-725C-17FF-75D136956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054" y="1835431"/>
            <a:ext cx="4727981" cy="414575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E48A276-3B40-6C1F-D4AA-8593941E2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965" y="2311533"/>
            <a:ext cx="5016521" cy="3669656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451024ED-FA39-DF72-9914-9467B55EAE06}"/>
              </a:ext>
            </a:extLst>
          </p:cNvPr>
          <p:cNvSpPr txBox="1"/>
          <p:nvPr/>
        </p:nvSpPr>
        <p:spPr>
          <a:xfrm>
            <a:off x="1617830" y="432000"/>
            <a:ext cx="89563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800" b="1" dirty="0">
                <a:solidFill>
                  <a:srgbClr val="9BAFB5"/>
                </a:solidFill>
              </a:rPr>
              <a:t>真假指紋辨識 </a:t>
            </a:r>
            <a:r>
              <a:rPr lang="en-US" altLang="zh-TW" sz="4800" b="1" dirty="0">
                <a:solidFill>
                  <a:srgbClr val="9BAFB5"/>
                </a:solidFill>
              </a:rPr>
              <a:t>– </a:t>
            </a:r>
            <a:r>
              <a:rPr lang="zh-TW" altLang="en-US" sz="4800" b="1" dirty="0">
                <a:solidFill>
                  <a:srgbClr val="9BAFB5"/>
                </a:solidFill>
              </a:rPr>
              <a:t>模型架構</a:t>
            </a:r>
            <a:endParaRPr lang="en-US" altLang="zh-TW" sz="4800" b="1" dirty="0">
              <a:solidFill>
                <a:srgbClr val="9BAFB5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D7B4CAA-415C-451E-60BF-9BBDCEDDDCAD}"/>
              </a:ext>
            </a:extLst>
          </p:cNvPr>
          <p:cNvSpPr txBox="1"/>
          <p:nvPr/>
        </p:nvSpPr>
        <p:spPr>
          <a:xfrm>
            <a:off x="1174054" y="6091958"/>
            <a:ext cx="47279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zh-TW" sz="2000" dirty="0">
                <a:solidFill>
                  <a:srgbClr val="9BAFB5"/>
                </a:solidFill>
              </a:rPr>
              <a:t>Teacher : Modified </a:t>
            </a:r>
            <a:r>
              <a:rPr lang="en-US" altLang="zh-TW" sz="2000" dirty="0" err="1">
                <a:solidFill>
                  <a:srgbClr val="9BAFB5"/>
                </a:solidFill>
              </a:rPr>
              <a:t>MobileNet</a:t>
            </a:r>
            <a:r>
              <a:rPr lang="en-US" altLang="zh-TW" sz="2000" dirty="0">
                <a:solidFill>
                  <a:srgbClr val="9BAFB5"/>
                </a:solidFill>
              </a:rPr>
              <a:t> V3 Large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E1077A0-F7B6-13C8-CB52-8050384279E0}"/>
              </a:ext>
            </a:extLst>
          </p:cNvPr>
          <p:cNvSpPr txBox="1"/>
          <p:nvPr/>
        </p:nvSpPr>
        <p:spPr>
          <a:xfrm>
            <a:off x="6289965" y="6091958"/>
            <a:ext cx="47279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zh-TW" sz="2000" dirty="0">
                <a:solidFill>
                  <a:srgbClr val="9BAFB5"/>
                </a:solidFill>
              </a:rPr>
              <a:t>Student : Modified </a:t>
            </a:r>
            <a:r>
              <a:rPr lang="en-US" altLang="zh-TW" sz="2000" dirty="0" err="1">
                <a:solidFill>
                  <a:srgbClr val="9BAFB5"/>
                </a:solidFill>
              </a:rPr>
              <a:t>MobileNet</a:t>
            </a:r>
            <a:r>
              <a:rPr lang="en-US" altLang="zh-TW" sz="2000" dirty="0">
                <a:solidFill>
                  <a:srgbClr val="9BAFB5"/>
                </a:solidFill>
              </a:rPr>
              <a:t> V3 Small</a:t>
            </a:r>
          </a:p>
        </p:txBody>
      </p:sp>
    </p:spTree>
    <p:extLst>
      <p:ext uri="{BB962C8B-B14F-4D97-AF65-F5344CB8AC3E}">
        <p14:creationId xmlns:p14="http://schemas.microsoft.com/office/powerpoint/2010/main" val="1260579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D405C-2C49-F74C-2E0D-8F84AA8F4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5F6BF46-43CE-FBE3-307F-B3E6BD967406}"/>
              </a:ext>
            </a:extLst>
          </p:cNvPr>
          <p:cNvSpPr txBox="1"/>
          <p:nvPr/>
        </p:nvSpPr>
        <p:spPr>
          <a:xfrm>
            <a:off x="2466403" y="432000"/>
            <a:ext cx="72591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800" b="1" dirty="0">
                <a:solidFill>
                  <a:srgbClr val="9BAFB5"/>
                </a:solidFill>
              </a:rPr>
              <a:t>真假指紋辨識 </a:t>
            </a:r>
            <a:r>
              <a:rPr lang="en-US" altLang="zh-TW" sz="4800" b="1" dirty="0">
                <a:solidFill>
                  <a:srgbClr val="9BAFB5"/>
                </a:solidFill>
              </a:rPr>
              <a:t>– </a:t>
            </a:r>
            <a:r>
              <a:rPr lang="zh-TW" altLang="en-US" sz="4800" b="1" dirty="0">
                <a:solidFill>
                  <a:srgbClr val="9BAFB5"/>
                </a:solidFill>
              </a:rPr>
              <a:t>訓練</a:t>
            </a:r>
            <a:endParaRPr lang="en-US" altLang="zh-TW" sz="4800" b="1" dirty="0">
              <a:solidFill>
                <a:srgbClr val="9BAFB5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7294AB7-4BB9-002C-EEE5-DF03B8098E85}"/>
              </a:ext>
            </a:extLst>
          </p:cNvPr>
          <p:cNvSpPr txBox="1"/>
          <p:nvPr/>
        </p:nvSpPr>
        <p:spPr>
          <a:xfrm>
            <a:off x="423211" y="2013228"/>
            <a:ext cx="11345578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9BAFB5"/>
                </a:solidFill>
              </a:rPr>
              <a:t>訓練以及測試資料皆為合作公司所提供之</a:t>
            </a:r>
            <a:r>
              <a:rPr lang="en-US" altLang="zh-TW" sz="2400" dirty="0">
                <a:solidFill>
                  <a:srgbClr val="9BAFB5"/>
                </a:solidFill>
              </a:rPr>
              <a:t>private dataset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9BAFB5"/>
                </a:solidFill>
              </a:rPr>
              <a:t>透過 </a:t>
            </a:r>
            <a:r>
              <a:rPr lang="en-US" altLang="zh-TW" sz="2400" dirty="0">
                <a:solidFill>
                  <a:srgbClr val="9BAFB5"/>
                </a:solidFill>
              </a:rPr>
              <a:t>Masked Generative Distillation (MGD) [ECCV, 2022] </a:t>
            </a:r>
            <a:r>
              <a:rPr lang="zh-TW" altLang="en-US" sz="2400" dirty="0">
                <a:solidFill>
                  <a:srgbClr val="9BAFB5"/>
                </a:solidFill>
              </a:rPr>
              <a:t>進行蒸餾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9BAFB5"/>
                </a:solidFill>
              </a:rPr>
              <a:t>TDR@FDR=1%</a:t>
            </a:r>
            <a:r>
              <a:rPr lang="zh-TW" altLang="en-US" sz="2400" dirty="0">
                <a:solidFill>
                  <a:srgbClr val="9BAFB5"/>
                </a:solidFill>
              </a:rPr>
              <a:t>、</a:t>
            </a:r>
            <a:r>
              <a:rPr lang="en-US" altLang="zh-TW" sz="2400" dirty="0">
                <a:solidFill>
                  <a:srgbClr val="9BAFB5"/>
                </a:solidFill>
              </a:rPr>
              <a:t>APCER</a:t>
            </a:r>
            <a:r>
              <a:rPr lang="zh-TW" altLang="en-US" sz="2400" dirty="0">
                <a:solidFill>
                  <a:srgbClr val="9BAFB5"/>
                </a:solidFill>
              </a:rPr>
              <a:t>、</a:t>
            </a:r>
            <a:r>
              <a:rPr lang="en-US" altLang="zh-TW" sz="2400" dirty="0">
                <a:solidFill>
                  <a:srgbClr val="9BAFB5"/>
                </a:solidFill>
              </a:rPr>
              <a:t>BPCER</a:t>
            </a:r>
            <a:r>
              <a:rPr lang="zh-TW" altLang="en-US" sz="2400" dirty="0">
                <a:solidFill>
                  <a:srgbClr val="9BAFB5"/>
                </a:solidFill>
              </a:rPr>
              <a:t>、</a:t>
            </a:r>
            <a:r>
              <a:rPr lang="en-US" altLang="zh-TW" sz="2400" dirty="0">
                <a:solidFill>
                  <a:srgbClr val="9BAFB5"/>
                </a:solidFill>
              </a:rPr>
              <a:t>ACE </a:t>
            </a:r>
            <a:r>
              <a:rPr lang="zh-TW" altLang="en-US" sz="2400" dirty="0">
                <a:solidFill>
                  <a:srgbClr val="9BAFB5"/>
                </a:solidFill>
              </a:rPr>
              <a:t>做為測試時的 </a:t>
            </a:r>
            <a:r>
              <a:rPr lang="en-US" altLang="zh-TW" sz="2400" dirty="0">
                <a:solidFill>
                  <a:srgbClr val="9BAFB5"/>
                </a:solidFill>
              </a:rPr>
              <a:t>Metrics</a:t>
            </a:r>
          </a:p>
          <a:p>
            <a:pPr marL="800100" lvl="1" indent="-342900">
              <a:spcAft>
                <a:spcPts val="1200"/>
              </a:spcAft>
              <a:buFont typeface="PMingLiU" panose="02020500000000000000" pitchFamily="18" charset="-120"/>
              <a:buChar char="。"/>
            </a:pPr>
            <a:r>
              <a:rPr lang="en-US" altLang="zh-TW" sz="2400" dirty="0">
                <a:solidFill>
                  <a:srgbClr val="9BAFB5"/>
                </a:solidFill>
              </a:rPr>
              <a:t>BPCER</a:t>
            </a:r>
            <a:r>
              <a:rPr lang="zh-TW" altLang="en-US" sz="2400" dirty="0">
                <a:solidFill>
                  <a:srgbClr val="9BAFB5"/>
                </a:solidFill>
              </a:rPr>
              <a:t>、</a:t>
            </a:r>
            <a:r>
              <a:rPr lang="en-US" altLang="zh-TW" sz="2400" dirty="0">
                <a:solidFill>
                  <a:srgbClr val="9BAFB5"/>
                </a:solidFill>
              </a:rPr>
              <a:t>FDR</a:t>
            </a:r>
            <a:r>
              <a:rPr lang="zh-TW" altLang="en-US" sz="2400" dirty="0">
                <a:solidFill>
                  <a:srgbClr val="9BAFB5"/>
                </a:solidFill>
              </a:rPr>
              <a:t>：</a:t>
            </a:r>
            <a:r>
              <a:rPr lang="en-US" altLang="zh-TW" sz="2400" dirty="0">
                <a:solidFill>
                  <a:srgbClr val="9BAFB5"/>
                </a:solidFill>
              </a:rPr>
              <a:t>	</a:t>
            </a:r>
            <a:r>
              <a:rPr lang="zh-TW" altLang="en-US" sz="2400" dirty="0">
                <a:solidFill>
                  <a:srgbClr val="9BAFB5"/>
                </a:solidFill>
              </a:rPr>
              <a:t>真指紋被誤認為是假指紋的比例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800100" lvl="1" indent="-342900">
              <a:spcAft>
                <a:spcPts val="1200"/>
              </a:spcAft>
              <a:buFont typeface="PMingLiU" panose="02020500000000000000" pitchFamily="18" charset="-120"/>
              <a:buChar char="。"/>
            </a:pPr>
            <a:r>
              <a:rPr lang="en-US" altLang="zh-TW" sz="2400" dirty="0">
                <a:solidFill>
                  <a:srgbClr val="9BAFB5"/>
                </a:solidFill>
              </a:rPr>
              <a:t>APCER</a:t>
            </a:r>
            <a:r>
              <a:rPr lang="zh-TW" altLang="en-US" sz="2400" dirty="0">
                <a:solidFill>
                  <a:srgbClr val="9BAFB5"/>
                </a:solidFill>
              </a:rPr>
              <a:t>：</a:t>
            </a:r>
            <a:r>
              <a:rPr lang="en-US" altLang="zh-TW" sz="2400" dirty="0">
                <a:solidFill>
                  <a:srgbClr val="9BAFB5"/>
                </a:solidFill>
              </a:rPr>
              <a:t>			</a:t>
            </a:r>
            <a:r>
              <a:rPr lang="zh-TW" altLang="en-US" sz="2400" dirty="0">
                <a:solidFill>
                  <a:srgbClr val="9BAFB5"/>
                </a:solidFill>
              </a:rPr>
              <a:t>假指紋被誤認為是真指紋的比例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800100" lvl="1" indent="-342900">
              <a:spcAft>
                <a:spcPts val="1200"/>
              </a:spcAft>
              <a:buFont typeface="PMingLiU" panose="02020500000000000000" pitchFamily="18" charset="-120"/>
              <a:buChar char="。"/>
            </a:pPr>
            <a:r>
              <a:rPr lang="en-US" altLang="zh-TW" sz="2400" dirty="0">
                <a:solidFill>
                  <a:srgbClr val="9BAFB5"/>
                </a:solidFill>
              </a:rPr>
              <a:t>TDR</a:t>
            </a:r>
            <a:r>
              <a:rPr lang="zh-TW" altLang="en-US" sz="2400" dirty="0">
                <a:solidFill>
                  <a:srgbClr val="9BAFB5"/>
                </a:solidFill>
              </a:rPr>
              <a:t>：</a:t>
            </a:r>
            <a:r>
              <a:rPr lang="en-US" altLang="zh-TW" sz="2400" dirty="0">
                <a:solidFill>
                  <a:srgbClr val="9BAFB5"/>
                </a:solidFill>
              </a:rPr>
              <a:t>				</a:t>
            </a:r>
            <a:r>
              <a:rPr lang="zh-TW" altLang="en-US" sz="2400" dirty="0">
                <a:solidFill>
                  <a:srgbClr val="9BAFB5"/>
                </a:solidFill>
              </a:rPr>
              <a:t>所有假指紋中被成功偵測出來的比例</a:t>
            </a:r>
            <a:endParaRPr lang="en-US" altLang="zh-TW" sz="2400" dirty="0">
              <a:solidFill>
                <a:srgbClr val="9BAFB5"/>
              </a:solidFill>
            </a:endParaRPr>
          </a:p>
          <a:p>
            <a:pPr marL="800100" lvl="1" indent="-342900">
              <a:spcAft>
                <a:spcPts val="1200"/>
              </a:spcAft>
              <a:buFont typeface="PMingLiU" panose="02020500000000000000" pitchFamily="18" charset="-120"/>
              <a:buChar char="。"/>
            </a:pPr>
            <a:r>
              <a:rPr lang="en-US" altLang="zh-TW" sz="2400" dirty="0">
                <a:solidFill>
                  <a:srgbClr val="9BAFB5"/>
                </a:solidFill>
              </a:rPr>
              <a:t>ACE</a:t>
            </a:r>
            <a:r>
              <a:rPr lang="zh-TW" altLang="en-US" sz="2400" dirty="0">
                <a:solidFill>
                  <a:srgbClr val="9BAFB5"/>
                </a:solidFill>
              </a:rPr>
              <a:t>：</a:t>
            </a:r>
            <a:r>
              <a:rPr lang="en-US" altLang="zh-TW" sz="2400" dirty="0">
                <a:solidFill>
                  <a:srgbClr val="9BAFB5"/>
                </a:solidFill>
              </a:rPr>
              <a:t>				(APCER + BPCER) / 2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altLang="zh-TW" sz="2400" dirty="0">
              <a:solidFill>
                <a:srgbClr val="9BAFB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750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11206-D377-7280-757F-6DE9D4E0C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>
            <a:extLst>
              <a:ext uri="{FF2B5EF4-FFF2-40B4-BE49-F238E27FC236}">
                <a16:creationId xmlns:a16="http://schemas.microsoft.com/office/drawing/2014/main" id="{C996761E-7813-ABD1-A138-4FCD3F0176CA}"/>
              </a:ext>
            </a:extLst>
          </p:cNvPr>
          <p:cNvSpPr txBox="1"/>
          <p:nvPr/>
        </p:nvSpPr>
        <p:spPr>
          <a:xfrm>
            <a:off x="1617830" y="432000"/>
            <a:ext cx="89563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800" b="1" dirty="0">
                <a:solidFill>
                  <a:srgbClr val="9BAFB5"/>
                </a:solidFill>
              </a:rPr>
              <a:t>真假指紋辨識 </a:t>
            </a:r>
            <a:r>
              <a:rPr lang="en-US" altLang="zh-TW" sz="4800" b="1" dirty="0">
                <a:solidFill>
                  <a:srgbClr val="9BAFB5"/>
                </a:solidFill>
              </a:rPr>
              <a:t>– </a:t>
            </a:r>
            <a:r>
              <a:rPr lang="zh-TW" altLang="en-US" sz="4800" b="1" dirty="0">
                <a:solidFill>
                  <a:srgbClr val="9BAFB5"/>
                </a:solidFill>
              </a:rPr>
              <a:t>成果</a:t>
            </a:r>
            <a:endParaRPr lang="en-US" altLang="zh-TW" sz="4800" b="1" dirty="0">
              <a:solidFill>
                <a:srgbClr val="9BAFB5"/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165FBBF-963F-1634-FF5D-1F5F09B65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001293"/>
              </p:ext>
            </p:extLst>
          </p:nvPr>
        </p:nvGraphicFramePr>
        <p:xfrm>
          <a:off x="949996" y="1546358"/>
          <a:ext cx="10292007" cy="2594163"/>
        </p:xfrm>
        <a:graphic>
          <a:graphicData uri="http://schemas.openxmlformats.org/drawingml/2006/table">
            <a:tbl>
              <a:tblPr/>
              <a:tblGrid>
                <a:gridCol w="3647372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05490915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642255895"/>
                    </a:ext>
                  </a:extLst>
                </a:gridCol>
              </a:tblGrid>
              <a:tr h="4983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2F2F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AFB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F2F2F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200" dirty="0">
                        <a:solidFill>
                          <a:srgbClr val="F2F2F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AFB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solidFill>
                            <a:srgbClr val="F2F2F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AFB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solidFill>
                            <a:srgbClr val="F2F2F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AFB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solidFill>
                            <a:srgbClr val="F2F2F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AFB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solidFill>
                            <a:srgbClr val="F2F2F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 MAC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AF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dirty="0">
                          <a:solidFill>
                            <a:srgbClr val="F2F2F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AFB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85.11%</a:t>
                      </a:r>
                      <a:endParaRPr lang="zh-TW" altLang="en-US" sz="1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3.489%</a:t>
                      </a:r>
                      <a:endParaRPr lang="zh-TW" altLang="en-US" sz="1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6.033%</a:t>
                      </a: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0.956%</a:t>
                      </a:r>
                      <a:endParaRPr lang="zh-TW" altLang="en-US" sz="1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25.234</a:t>
                      </a:r>
                      <a:endParaRPr lang="zh-TW" altLang="en-US" sz="10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262643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dirty="0">
                          <a:solidFill>
                            <a:srgbClr val="F2F2F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AFB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98.64%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1.02%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1.14%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51.24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80247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dirty="0">
                          <a:solidFill>
                            <a:srgbClr val="F2F2F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AFB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82.81%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5.09%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6.33%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3.85%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23.63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440480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2F2F2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w/ 1 feature layer</a:t>
                      </a:r>
                      <a:endParaRPr kumimoji="0" lang="en-US" altLang="zh-TW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2F2F2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AFB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99.55%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23.63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594138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2F2F2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w/ 2 feature layers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AF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99.55%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0.65%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0.45%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0.86%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23.63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859686"/>
                  </a:ext>
                </a:extLst>
              </a:tr>
            </a:tbl>
          </a:graphicData>
        </a:graphic>
      </p:graphicFrame>
      <p:pic>
        <p:nvPicPr>
          <p:cNvPr id="4" name="圖片 3">
            <a:extLst>
              <a:ext uri="{FF2B5EF4-FFF2-40B4-BE49-F238E27FC236}">
                <a16:creationId xmlns:a16="http://schemas.microsoft.com/office/drawing/2014/main" id="{45681E92-79D4-6A0A-F2CF-E144C81FF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770" y="4277954"/>
            <a:ext cx="4010215" cy="235762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B82859A-B416-4A8A-B57A-5FFE9FFF4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016" y="4252880"/>
            <a:ext cx="4010215" cy="235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309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910D8-3197-44B8-9CED-9D4817E8E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BE0192AE-7800-5B2A-EAC6-9790E6D4C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7697" y="2735011"/>
            <a:ext cx="4376605" cy="1387978"/>
          </a:xfrm>
        </p:spPr>
        <p:txBody>
          <a:bodyPr>
            <a:normAutofit/>
          </a:bodyPr>
          <a:lstStyle/>
          <a:p>
            <a:r>
              <a:rPr lang="zh-TW" altLang="en-US" sz="8000" b="1" dirty="0"/>
              <a:t>報告結束</a:t>
            </a:r>
            <a:endParaRPr lang="en-US" altLang="zh-TW" sz="8000" b="1" dirty="0"/>
          </a:p>
        </p:txBody>
      </p:sp>
    </p:spTree>
    <p:extLst>
      <p:ext uri="{BB962C8B-B14F-4D97-AF65-F5344CB8AC3E}">
        <p14:creationId xmlns:p14="http://schemas.microsoft.com/office/powerpoint/2010/main" val="2805195021"/>
      </p:ext>
    </p:extLst>
  </p:cSld>
  <p:clrMapOvr>
    <a:masterClrMapping/>
  </p:clrMapOvr>
</p:sld>
</file>

<file path=ppt/theme/theme1.xml><?xml version="1.0" encoding="utf-8"?>
<a:theme xmlns:a="http://schemas.openxmlformats.org/drawingml/2006/main" name="包裹">
  <a:themeElements>
    <a:clrScheme name="包裹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包裹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包裹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包裹</Template>
  <TotalTime>1662</TotalTime>
  <Words>882</Words>
  <Application>Microsoft Office PowerPoint</Application>
  <PresentationFormat>寬螢幕</PresentationFormat>
  <Paragraphs>118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1" baseType="lpstr">
      <vt:lpstr>PMingLiU</vt:lpstr>
      <vt:lpstr>Arial</vt:lpstr>
      <vt:lpstr>Gill Sans MT</vt:lpstr>
      <vt:lpstr>Times New Roman</vt:lpstr>
      <vt:lpstr>Wingdings</vt:lpstr>
      <vt:lpstr>包裹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40</cp:revision>
  <dcterms:created xsi:type="dcterms:W3CDTF">2025-08-18T13:31:23Z</dcterms:created>
  <dcterms:modified xsi:type="dcterms:W3CDTF">2026-04-23T01:47:30Z</dcterms:modified>
</cp:coreProperties>
</file>
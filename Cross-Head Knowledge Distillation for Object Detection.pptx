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7" r:id="rId2"/>
    <p:sldId id="258" r:id="rId3"/>
    <p:sldId id="272" r:id="rId4"/>
    <p:sldId id="264" r:id="rId5"/>
    <p:sldId id="296" r:id="rId6"/>
    <p:sldId id="297" r:id="rId7"/>
    <p:sldId id="259" r:id="rId8"/>
    <p:sldId id="270" r:id="rId9"/>
    <p:sldId id="271" r:id="rId10"/>
    <p:sldId id="260" r:id="rId11"/>
    <p:sldId id="269" r:id="rId12"/>
    <p:sldId id="274" r:id="rId13"/>
    <p:sldId id="298" r:id="rId14"/>
    <p:sldId id="275" r:id="rId15"/>
    <p:sldId id="276" r:id="rId16"/>
    <p:sldId id="261" r:id="rId17"/>
    <p:sldId id="278" r:id="rId18"/>
    <p:sldId id="279" r:id="rId19"/>
    <p:sldId id="299" r:id="rId20"/>
    <p:sldId id="300" r:id="rId21"/>
    <p:sldId id="301" r:id="rId22"/>
    <p:sldId id="302" r:id="rId23"/>
    <p:sldId id="303" r:id="rId24"/>
    <p:sldId id="304" r:id="rId25"/>
    <p:sldId id="262" r:id="rId26"/>
    <p:sldId id="291" r:id="rId27"/>
    <p:sldId id="294" r:id="rId28"/>
    <p:sldId id="295" r:id="rId29"/>
    <p:sldId id="305" r:id="rId3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3933" autoAdjust="0"/>
  </p:normalViewPr>
  <p:slideViewPr>
    <p:cSldViewPr snapToGrid="0">
      <p:cViewPr varScale="1">
        <p:scale>
          <a:sx n="161" d="100"/>
          <a:sy n="161" d="100"/>
        </p:scale>
        <p:origin x="150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EB9F0-3F82-4D38-9C6D-B02272BDCC8F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7CC409-55E0-4AEB-B6B6-A6906FF1919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3460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93003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7CC409-55E0-4AEB-B6B6-A6906FF1919D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24577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這些顏色是 </a:t>
            </a:r>
            <a:r>
              <a:rPr lang="zh-TW" altLang="en-US" b="1" dirty="0"/>
              <a:t>分類預測（</a:t>
            </a:r>
            <a:r>
              <a:rPr lang="en-US" altLang="zh-TW" b="1" dirty="0"/>
              <a:t>Classification Predictions</a:t>
            </a:r>
            <a:r>
              <a:rPr lang="zh-TW" altLang="en-US" b="1" dirty="0"/>
              <a:t>）的信心度熱點圖</a:t>
            </a:r>
            <a:r>
              <a:rPr lang="zh-TW" altLang="en-US" dirty="0"/>
              <a:t>。</a:t>
            </a:r>
          </a:p>
          <a:p>
            <a:r>
              <a:rPr lang="zh-TW" altLang="en-US" b="1" dirty="0"/>
              <a:t>顏色深淺</a:t>
            </a:r>
            <a:r>
              <a:rPr lang="en-US" altLang="zh-TW" b="1" dirty="0"/>
              <a:t>/</a:t>
            </a:r>
            <a:r>
              <a:rPr lang="zh-TW" altLang="en-US" b="1" dirty="0"/>
              <a:t>亮度：</a:t>
            </a:r>
            <a:r>
              <a:rPr lang="zh-TW" altLang="en-US" dirty="0"/>
              <a:t> 代表模型對該區域存在目標物（如馬桶、盆栽）的信心分數。通常越偏向</a:t>
            </a:r>
            <a:r>
              <a:rPr lang="zh-TW" altLang="en-US" b="1" dirty="0"/>
              <a:t>黃色</a:t>
            </a:r>
            <a:r>
              <a:rPr lang="en-US" altLang="zh-TW" b="1" dirty="0"/>
              <a:t>/</a:t>
            </a:r>
            <a:r>
              <a:rPr lang="zh-TW" altLang="en-US" b="1" dirty="0"/>
              <a:t>白色</a:t>
            </a:r>
            <a:r>
              <a:rPr lang="zh-TW" altLang="en-US" dirty="0"/>
              <a:t>代表信心值越高，越偏向</a:t>
            </a:r>
            <a:r>
              <a:rPr lang="zh-TW" altLang="en-US" b="1" dirty="0"/>
              <a:t>紫色</a:t>
            </a:r>
            <a:r>
              <a:rPr lang="en-US" altLang="zh-TW" b="1" dirty="0"/>
              <a:t>/</a:t>
            </a:r>
            <a:r>
              <a:rPr lang="zh-TW" altLang="en-US" b="1" dirty="0"/>
              <a:t>透明</a:t>
            </a:r>
            <a:r>
              <a:rPr lang="zh-TW" altLang="en-US" dirty="0"/>
              <a:t>代表信心值越低。</a:t>
            </a:r>
          </a:p>
          <a:p>
            <a:r>
              <a:rPr lang="zh-TW" altLang="en-US" b="1" dirty="0"/>
              <a:t>各子圖的差異：</a:t>
            </a:r>
            <a:endParaRPr lang="zh-TW" altLang="en-US" dirty="0"/>
          </a:p>
          <a:p>
            <a:pPr lvl="0"/>
            <a:r>
              <a:rPr lang="en-US" altLang="zh-TW" b="1" dirty="0"/>
              <a:t>(a) Ground-truth</a:t>
            </a:r>
            <a:r>
              <a:rPr lang="zh-TW" altLang="en-US" b="1" dirty="0"/>
              <a:t>：</a:t>
            </a:r>
            <a:r>
              <a:rPr lang="zh-TW" altLang="en-US" dirty="0"/>
              <a:t> 理想狀態，只有在真正物體的位置才有亮點。</a:t>
            </a:r>
          </a:p>
          <a:p>
            <a:pPr lvl="0"/>
            <a:r>
              <a:rPr lang="en-US" altLang="zh-TW" b="1" dirty="0"/>
              <a:t>(b) Teacher predictions</a:t>
            </a:r>
            <a:r>
              <a:rPr lang="zh-TW" altLang="en-US" b="1" dirty="0"/>
              <a:t>：</a:t>
            </a:r>
            <a:r>
              <a:rPr lang="zh-TW" altLang="en-US" dirty="0"/>
              <a:t> 教師模型的預測。注意綠色圓圈處，老師模型在樹叢中產生了「誤判」或「雜訊」（有亮色塊），這就是論文提到的 </a:t>
            </a:r>
            <a:r>
              <a:rPr lang="en-US" altLang="zh-TW" b="1" dirty="0"/>
              <a:t>Discrepancy (</a:t>
            </a:r>
            <a:r>
              <a:rPr lang="zh-TW" altLang="en-US" b="1" dirty="0"/>
              <a:t>差異</a:t>
            </a:r>
            <a:r>
              <a:rPr lang="en-US" altLang="zh-TW" b="1" dirty="0"/>
              <a:t>/</a:t>
            </a:r>
            <a:r>
              <a:rPr lang="zh-TW" altLang="en-US" b="1" dirty="0"/>
              <a:t>矛盾</a:t>
            </a:r>
            <a:r>
              <a:rPr lang="en-US" altLang="zh-TW" b="1" dirty="0"/>
              <a:t>)</a:t>
            </a:r>
            <a:r>
              <a:rPr lang="zh-TW" altLang="en-US" dirty="0"/>
              <a:t>。</a:t>
            </a:r>
          </a:p>
          <a:p>
            <a:pPr lvl="0"/>
            <a:r>
              <a:rPr lang="en-US" altLang="zh-TW" b="1" dirty="0"/>
              <a:t>(c) Prediction Mimicking</a:t>
            </a:r>
            <a:r>
              <a:rPr lang="zh-TW" altLang="en-US" b="1" dirty="0"/>
              <a:t>：</a:t>
            </a:r>
            <a:r>
              <a:rPr lang="zh-TW" altLang="en-US" dirty="0"/>
              <a:t> 傳統蒸餾方法。可以看到學生模型「被迫」模仿老師，導致綠色圓圈處也出現了不該有的亮點（模仿了老師的錯誤）。</a:t>
            </a:r>
          </a:p>
          <a:p>
            <a:pPr lvl="0"/>
            <a:r>
              <a:rPr lang="en-US" altLang="zh-TW" b="1" dirty="0"/>
              <a:t>(d) </a:t>
            </a:r>
            <a:r>
              <a:rPr lang="en-US" altLang="zh-TW" b="1" dirty="0" err="1"/>
              <a:t>CrossKD</a:t>
            </a:r>
            <a:r>
              <a:rPr lang="zh-TW" altLang="en-US" b="1" dirty="0"/>
              <a:t>：</a:t>
            </a:r>
            <a:r>
              <a:rPr lang="zh-TW" altLang="en-US" dirty="0"/>
              <a:t> 該論文提出的方法。成功「平滑」了模仿過程，在綠色圓圈處保持乾淨，更接近 </a:t>
            </a:r>
            <a:r>
              <a:rPr lang="en-US" altLang="zh-TW" dirty="0"/>
              <a:t>Ground-truth</a:t>
            </a:r>
            <a:r>
              <a:rPr lang="zh-TW" altLang="en-US" dirty="0"/>
              <a:t>，同時又學到了老師對真實目標的特徵提取能力。</a:t>
            </a:r>
            <a:endParaRPr lang="en-US" altLang="zh-TW" dirty="0"/>
          </a:p>
          <a:p>
            <a:pPr lvl="0"/>
            <a:endParaRPr lang="en-US" altLang="zh-TW" dirty="0"/>
          </a:p>
          <a:p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GFL (Generalized Focal Loss)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是一種針對目標檢測改進的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Loss Function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，主要為了解決傳統檢測框架（如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FCOS, ATSS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等）中「分類分數」與「定位質量」不一致的問題。</a:t>
            </a:r>
          </a:p>
          <a:p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GFL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的核心功能：</a:t>
            </a:r>
          </a:p>
          <a:p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打破離散標籤：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傳統分類用的是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或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GFL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允許分類目標是一個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連續的數值 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(0~1)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，通常這個數值與預測框的 </a:t>
            </a:r>
            <a:r>
              <a:rPr lang="en-US" altLang="zh-TW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IoU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交併比</a:t>
            </a:r>
            <a:r>
              <a:rPr lang="en-US" altLang="zh-TW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相關。</a:t>
            </a:r>
          </a:p>
          <a:p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融合質量預測：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它將「這個東西是什麼（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Classification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）」和「這個框準不準（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Localization Quality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）」合二為一。</a:t>
            </a:r>
          </a:p>
          <a:p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處理邊界框的機率分佈：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傳統回歸只給出一個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$x, y, w, h$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的值，但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GFL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會去預測邊界框位置的 </a:t>
            </a:r>
            <a:r>
              <a:rPr lang="zh-TW" alt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機率分佈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。當邊界模糊時（例如被遮擋的物體），分佈會變得很分散；邊界清晰時，分佈會變得很集中（高斯分佈狀）。</a:t>
            </a:r>
          </a:p>
          <a:p>
            <a:pPr lvl="0"/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7CC409-55E0-4AEB-B6B6-A6906FF1919D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23468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模型會輸出多個預測</a:t>
            </a:r>
            <a:endParaRPr lang="en-US" altLang="zh-TW" dirty="0"/>
          </a:p>
          <a:p>
            <a:r>
              <a:rPr lang="en-US" altLang="zh-TW" dirty="0"/>
              <a:t>Top-1 </a:t>
            </a:r>
            <a:r>
              <a:rPr lang="zh-TW" altLang="en-US" dirty="0"/>
              <a:t>是指拿模型最有信心的預測去計算</a:t>
            </a:r>
            <a:r>
              <a:rPr lang="en-US" altLang="zh-TW" dirty="0"/>
              <a:t>accuracy</a:t>
            </a:r>
          </a:p>
          <a:p>
            <a:r>
              <a:rPr lang="en-US" altLang="zh-TW" dirty="0"/>
              <a:t>Top-5 </a:t>
            </a:r>
            <a:r>
              <a:rPr lang="zh-TW" altLang="en-US" dirty="0"/>
              <a:t>是指拿模型前五名的預測去計算</a:t>
            </a:r>
            <a:r>
              <a:rPr lang="en-US" altLang="zh-TW" dirty="0"/>
              <a:t>accuracy</a:t>
            </a:r>
            <a:r>
              <a:rPr lang="zh-TW" altLang="en-US" dirty="0"/>
              <a:t>，只要</a:t>
            </a:r>
            <a:r>
              <a:rPr lang="en-US" altLang="zh-TW" dirty="0"/>
              <a:t>ground truth</a:t>
            </a:r>
            <a:r>
              <a:rPr lang="zh-TW" altLang="en-US" dirty="0"/>
              <a:t>有在前五名就算對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Feature KD</a:t>
            </a:r>
            <a:r>
              <a:rPr lang="zh-TW" altLang="en-US" dirty="0"/>
              <a:t>中，</a:t>
            </a:r>
            <a:r>
              <a:rPr lang="en-US" altLang="zh-TW" dirty="0"/>
              <a:t>MGD</a:t>
            </a:r>
            <a:r>
              <a:rPr lang="zh-TW" altLang="en-US" dirty="0"/>
              <a:t>可以接近</a:t>
            </a:r>
            <a:r>
              <a:rPr lang="en-US" altLang="zh-TW" dirty="0"/>
              <a:t>SOTA</a:t>
            </a:r>
          </a:p>
          <a:p>
            <a:r>
              <a:rPr lang="zh-TW" altLang="en-US" dirty="0"/>
              <a:t>如果結合 </a:t>
            </a:r>
            <a:r>
              <a:rPr lang="en-US" altLang="zh-TW" dirty="0"/>
              <a:t>logit KD</a:t>
            </a:r>
            <a:r>
              <a:rPr lang="zh-TW" altLang="en-US" dirty="0"/>
              <a:t>的</a:t>
            </a:r>
            <a:r>
              <a:rPr lang="en-US" altLang="zh-TW" dirty="0"/>
              <a:t>WSLD</a:t>
            </a:r>
            <a:r>
              <a:rPr lang="zh-TW" altLang="en-US" dirty="0"/>
              <a:t>，則</a:t>
            </a:r>
            <a:r>
              <a:rPr lang="en-US" altLang="zh-TW" dirty="0"/>
              <a:t>performance</a:t>
            </a:r>
            <a:r>
              <a:rPr lang="zh-TW" altLang="en-US" dirty="0"/>
              <a:t>會再進一步提升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7CC409-55E0-4AEB-B6B6-A6906FF1919D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4298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59287-43BD-D8C5-FDC4-19622179B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113C08E-9A25-67C4-8FA3-7AFD7414D7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06C18F9-BA08-14ED-0A50-2F8B147B78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模型會輸出多個預測</a:t>
            </a:r>
            <a:endParaRPr lang="en-US" altLang="zh-TW" dirty="0"/>
          </a:p>
          <a:p>
            <a:r>
              <a:rPr lang="en-US" altLang="zh-TW" dirty="0"/>
              <a:t>Top-1 </a:t>
            </a:r>
            <a:r>
              <a:rPr lang="zh-TW" altLang="en-US" dirty="0"/>
              <a:t>是指拿模型最有信心的預測去計算</a:t>
            </a:r>
            <a:r>
              <a:rPr lang="en-US" altLang="zh-TW" dirty="0"/>
              <a:t>accuracy</a:t>
            </a:r>
          </a:p>
          <a:p>
            <a:r>
              <a:rPr lang="en-US" altLang="zh-TW" dirty="0"/>
              <a:t>Top-5 </a:t>
            </a:r>
            <a:r>
              <a:rPr lang="zh-TW" altLang="en-US" dirty="0"/>
              <a:t>是指拿模型前五名的預測去計算</a:t>
            </a:r>
            <a:r>
              <a:rPr lang="en-US" altLang="zh-TW" dirty="0"/>
              <a:t>accuracy</a:t>
            </a:r>
            <a:r>
              <a:rPr lang="zh-TW" altLang="en-US" dirty="0"/>
              <a:t>，只要</a:t>
            </a:r>
            <a:r>
              <a:rPr lang="en-US" altLang="zh-TW" dirty="0"/>
              <a:t>ground truth</a:t>
            </a:r>
            <a:r>
              <a:rPr lang="zh-TW" altLang="en-US" dirty="0"/>
              <a:t>有在前五名就算對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Feature KD</a:t>
            </a:r>
            <a:r>
              <a:rPr lang="zh-TW" altLang="en-US" dirty="0"/>
              <a:t>中，</a:t>
            </a:r>
            <a:r>
              <a:rPr lang="en-US" altLang="zh-TW" dirty="0"/>
              <a:t>MGD</a:t>
            </a:r>
            <a:r>
              <a:rPr lang="zh-TW" altLang="en-US" dirty="0"/>
              <a:t>可以接近</a:t>
            </a:r>
            <a:r>
              <a:rPr lang="en-US" altLang="zh-TW" dirty="0"/>
              <a:t>SOTA</a:t>
            </a:r>
          </a:p>
          <a:p>
            <a:r>
              <a:rPr lang="zh-TW" altLang="en-US" dirty="0"/>
              <a:t>如果結合 </a:t>
            </a:r>
            <a:r>
              <a:rPr lang="en-US" altLang="zh-TW" dirty="0"/>
              <a:t>logit KD</a:t>
            </a:r>
            <a:r>
              <a:rPr lang="zh-TW" altLang="en-US" dirty="0"/>
              <a:t>的</a:t>
            </a:r>
            <a:r>
              <a:rPr lang="en-US" altLang="zh-TW" dirty="0"/>
              <a:t>WSLD</a:t>
            </a:r>
            <a:r>
              <a:rPr lang="zh-TW" altLang="en-US" dirty="0"/>
              <a:t>，則</a:t>
            </a:r>
            <a:r>
              <a:rPr lang="en-US" altLang="zh-TW" dirty="0"/>
              <a:t>performance</a:t>
            </a:r>
            <a:r>
              <a:rPr lang="zh-TW" altLang="en-US" dirty="0"/>
              <a:t>會再進一步提升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FC2C93C-5DCB-688C-2206-F15DF88630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7CC409-55E0-4AEB-B6B6-A6906FF1919D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62025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8D768-EBEA-1E36-11D7-307757380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FEC5572-70CD-9F36-B184-97D09A3F2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235CFBC-A15A-9868-4E70-FA499BB3BE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模型會輸出多個預測</a:t>
            </a:r>
            <a:endParaRPr lang="en-US" altLang="zh-TW" dirty="0"/>
          </a:p>
          <a:p>
            <a:r>
              <a:rPr lang="en-US" altLang="zh-TW" dirty="0"/>
              <a:t>Top-1 </a:t>
            </a:r>
            <a:r>
              <a:rPr lang="zh-TW" altLang="en-US" dirty="0"/>
              <a:t>是指拿模型最有信心的預測去計算</a:t>
            </a:r>
            <a:r>
              <a:rPr lang="en-US" altLang="zh-TW" dirty="0"/>
              <a:t>accuracy</a:t>
            </a:r>
          </a:p>
          <a:p>
            <a:r>
              <a:rPr lang="en-US" altLang="zh-TW" dirty="0"/>
              <a:t>Top-5 </a:t>
            </a:r>
            <a:r>
              <a:rPr lang="zh-TW" altLang="en-US" dirty="0"/>
              <a:t>是指拿模型前五名的預測去計算</a:t>
            </a:r>
            <a:r>
              <a:rPr lang="en-US" altLang="zh-TW" dirty="0"/>
              <a:t>accuracy</a:t>
            </a:r>
            <a:r>
              <a:rPr lang="zh-TW" altLang="en-US" dirty="0"/>
              <a:t>，只要</a:t>
            </a:r>
            <a:r>
              <a:rPr lang="en-US" altLang="zh-TW" dirty="0"/>
              <a:t>ground truth</a:t>
            </a:r>
            <a:r>
              <a:rPr lang="zh-TW" altLang="en-US" dirty="0"/>
              <a:t>有在前五名就算對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Feature KD</a:t>
            </a:r>
            <a:r>
              <a:rPr lang="zh-TW" altLang="en-US" dirty="0"/>
              <a:t>中，</a:t>
            </a:r>
            <a:r>
              <a:rPr lang="en-US" altLang="zh-TW" dirty="0"/>
              <a:t>MGD</a:t>
            </a:r>
            <a:r>
              <a:rPr lang="zh-TW" altLang="en-US" dirty="0"/>
              <a:t>可以接近</a:t>
            </a:r>
            <a:r>
              <a:rPr lang="en-US" altLang="zh-TW" dirty="0"/>
              <a:t>SOTA</a:t>
            </a:r>
          </a:p>
          <a:p>
            <a:r>
              <a:rPr lang="zh-TW" altLang="en-US" dirty="0"/>
              <a:t>如果結合 </a:t>
            </a:r>
            <a:r>
              <a:rPr lang="en-US" altLang="zh-TW" dirty="0"/>
              <a:t>logit KD</a:t>
            </a:r>
            <a:r>
              <a:rPr lang="zh-TW" altLang="en-US" dirty="0"/>
              <a:t>的</a:t>
            </a:r>
            <a:r>
              <a:rPr lang="en-US" altLang="zh-TW" dirty="0"/>
              <a:t>WSLD</a:t>
            </a:r>
            <a:r>
              <a:rPr lang="zh-TW" altLang="en-US" dirty="0"/>
              <a:t>，則</a:t>
            </a:r>
            <a:r>
              <a:rPr lang="en-US" altLang="zh-TW" dirty="0"/>
              <a:t>performance</a:t>
            </a:r>
            <a:r>
              <a:rPr lang="zh-TW" altLang="en-US" dirty="0"/>
              <a:t>會再進一步提升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67777ED-F8E0-5116-8278-9FC7244D57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7CC409-55E0-4AEB-B6B6-A6906FF1919D}" type="slidenum">
              <a:rPr lang="zh-TW" altLang="en-US" smtClean="0"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55979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46550-5BE4-5975-B2D2-A16A4CC4D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4AFCC1E-DC50-B369-19D5-CCC86E42EA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08253D9-304E-276D-2FCA-1A581288D2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模型會輸出多個預測</a:t>
            </a:r>
            <a:endParaRPr lang="en-US" altLang="zh-TW" dirty="0"/>
          </a:p>
          <a:p>
            <a:r>
              <a:rPr lang="en-US" altLang="zh-TW" dirty="0"/>
              <a:t>Top-1 </a:t>
            </a:r>
            <a:r>
              <a:rPr lang="zh-TW" altLang="en-US" dirty="0"/>
              <a:t>是指拿模型最有信心的預測去計算</a:t>
            </a:r>
            <a:r>
              <a:rPr lang="en-US" altLang="zh-TW" dirty="0"/>
              <a:t>accuracy</a:t>
            </a:r>
          </a:p>
          <a:p>
            <a:r>
              <a:rPr lang="en-US" altLang="zh-TW" dirty="0"/>
              <a:t>Top-5 </a:t>
            </a:r>
            <a:r>
              <a:rPr lang="zh-TW" altLang="en-US" dirty="0"/>
              <a:t>是指拿模型前五名的預測去計算</a:t>
            </a:r>
            <a:r>
              <a:rPr lang="en-US" altLang="zh-TW" dirty="0"/>
              <a:t>accuracy</a:t>
            </a:r>
            <a:r>
              <a:rPr lang="zh-TW" altLang="en-US" dirty="0"/>
              <a:t>，只要</a:t>
            </a:r>
            <a:r>
              <a:rPr lang="en-US" altLang="zh-TW" dirty="0"/>
              <a:t>ground truth</a:t>
            </a:r>
            <a:r>
              <a:rPr lang="zh-TW" altLang="en-US" dirty="0"/>
              <a:t>有在前五名就算對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Feature KD</a:t>
            </a:r>
            <a:r>
              <a:rPr lang="zh-TW" altLang="en-US" dirty="0"/>
              <a:t>中，</a:t>
            </a:r>
            <a:r>
              <a:rPr lang="en-US" altLang="zh-TW" dirty="0"/>
              <a:t>MGD</a:t>
            </a:r>
            <a:r>
              <a:rPr lang="zh-TW" altLang="en-US" dirty="0"/>
              <a:t>可以接近</a:t>
            </a:r>
            <a:r>
              <a:rPr lang="en-US" altLang="zh-TW" dirty="0"/>
              <a:t>SOTA</a:t>
            </a:r>
          </a:p>
          <a:p>
            <a:r>
              <a:rPr lang="zh-TW" altLang="en-US" dirty="0"/>
              <a:t>如果結合 </a:t>
            </a:r>
            <a:r>
              <a:rPr lang="en-US" altLang="zh-TW" dirty="0"/>
              <a:t>logit KD</a:t>
            </a:r>
            <a:r>
              <a:rPr lang="zh-TW" altLang="en-US" dirty="0"/>
              <a:t>的</a:t>
            </a:r>
            <a:r>
              <a:rPr lang="en-US" altLang="zh-TW" dirty="0"/>
              <a:t>WSLD</a:t>
            </a:r>
            <a:r>
              <a:rPr lang="zh-TW" altLang="en-US" dirty="0"/>
              <a:t>，則</a:t>
            </a:r>
            <a:r>
              <a:rPr lang="en-US" altLang="zh-TW" dirty="0"/>
              <a:t>performance</a:t>
            </a:r>
            <a:r>
              <a:rPr lang="zh-TW" altLang="en-US" dirty="0"/>
              <a:t>會再進一步提升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03BD955-BE50-2490-E628-8652168A0C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7CC409-55E0-4AEB-B6B6-A6906FF1919D}" type="slidenum">
              <a:rPr lang="zh-TW" altLang="en-US" smtClean="0"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98228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68399-CEF8-5D3B-F5A3-464AB6CA9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FDC2F3F-2C16-618F-4548-27643E049B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2D94C35-B226-55B5-280A-6AF61A6A9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模型會輸出多個預測</a:t>
            </a:r>
            <a:endParaRPr lang="en-US" altLang="zh-TW" dirty="0"/>
          </a:p>
          <a:p>
            <a:r>
              <a:rPr lang="en-US" altLang="zh-TW" dirty="0"/>
              <a:t>Top-1 </a:t>
            </a:r>
            <a:r>
              <a:rPr lang="zh-TW" altLang="en-US" dirty="0"/>
              <a:t>是指拿模型最有信心的預測去計算</a:t>
            </a:r>
            <a:r>
              <a:rPr lang="en-US" altLang="zh-TW" dirty="0"/>
              <a:t>accuracy</a:t>
            </a:r>
          </a:p>
          <a:p>
            <a:r>
              <a:rPr lang="en-US" altLang="zh-TW" dirty="0"/>
              <a:t>Top-5 </a:t>
            </a:r>
            <a:r>
              <a:rPr lang="zh-TW" altLang="en-US" dirty="0"/>
              <a:t>是指拿模型前五名的預測去計算</a:t>
            </a:r>
            <a:r>
              <a:rPr lang="en-US" altLang="zh-TW" dirty="0"/>
              <a:t>accuracy</a:t>
            </a:r>
            <a:r>
              <a:rPr lang="zh-TW" altLang="en-US" dirty="0"/>
              <a:t>，只要</a:t>
            </a:r>
            <a:r>
              <a:rPr lang="en-US" altLang="zh-TW" dirty="0"/>
              <a:t>ground truth</a:t>
            </a:r>
            <a:r>
              <a:rPr lang="zh-TW" altLang="en-US" dirty="0"/>
              <a:t>有在前五名就算對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Feature KD</a:t>
            </a:r>
            <a:r>
              <a:rPr lang="zh-TW" altLang="en-US" dirty="0"/>
              <a:t>中，</a:t>
            </a:r>
            <a:r>
              <a:rPr lang="en-US" altLang="zh-TW" dirty="0"/>
              <a:t>MGD</a:t>
            </a:r>
            <a:r>
              <a:rPr lang="zh-TW" altLang="en-US" dirty="0"/>
              <a:t>可以接近</a:t>
            </a:r>
            <a:r>
              <a:rPr lang="en-US" altLang="zh-TW" dirty="0"/>
              <a:t>SOTA</a:t>
            </a:r>
          </a:p>
          <a:p>
            <a:r>
              <a:rPr lang="zh-TW" altLang="en-US" dirty="0"/>
              <a:t>如果結合 </a:t>
            </a:r>
            <a:r>
              <a:rPr lang="en-US" altLang="zh-TW" dirty="0"/>
              <a:t>logit KD</a:t>
            </a:r>
            <a:r>
              <a:rPr lang="zh-TW" altLang="en-US" dirty="0"/>
              <a:t>的</a:t>
            </a:r>
            <a:r>
              <a:rPr lang="en-US" altLang="zh-TW" dirty="0"/>
              <a:t>WSLD</a:t>
            </a:r>
            <a:r>
              <a:rPr lang="zh-TW" altLang="en-US" dirty="0"/>
              <a:t>，則</a:t>
            </a:r>
            <a:r>
              <a:rPr lang="en-US" altLang="zh-TW" dirty="0"/>
              <a:t>performance</a:t>
            </a:r>
            <a:r>
              <a:rPr lang="zh-TW" altLang="en-US" dirty="0"/>
              <a:t>會再進一步提升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C659F5D-560B-6EE2-B826-94530B8D08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7CC409-55E0-4AEB-B6B6-A6906FF1919D}" type="slidenum">
              <a:rPr lang="zh-TW" altLang="en-US" smtClean="0"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42879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2AB18-0F90-EBFC-7D09-5A9950BD4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EB45F74-DF1B-4138-69A1-5C49B67A8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5176E2E-091A-7AFB-6CE0-908B937D55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模型會輸出多個預測</a:t>
            </a:r>
            <a:endParaRPr lang="en-US" altLang="zh-TW" dirty="0"/>
          </a:p>
          <a:p>
            <a:r>
              <a:rPr lang="en-US" altLang="zh-TW" dirty="0"/>
              <a:t>Top-1 </a:t>
            </a:r>
            <a:r>
              <a:rPr lang="zh-TW" altLang="en-US" dirty="0"/>
              <a:t>是指拿模型最有信心的預測去計算</a:t>
            </a:r>
            <a:r>
              <a:rPr lang="en-US" altLang="zh-TW" dirty="0"/>
              <a:t>accuracy</a:t>
            </a:r>
          </a:p>
          <a:p>
            <a:r>
              <a:rPr lang="en-US" altLang="zh-TW" dirty="0"/>
              <a:t>Top-5 </a:t>
            </a:r>
            <a:r>
              <a:rPr lang="zh-TW" altLang="en-US" dirty="0"/>
              <a:t>是指拿模型前五名的預測去計算</a:t>
            </a:r>
            <a:r>
              <a:rPr lang="en-US" altLang="zh-TW" dirty="0"/>
              <a:t>accuracy</a:t>
            </a:r>
            <a:r>
              <a:rPr lang="zh-TW" altLang="en-US" dirty="0"/>
              <a:t>，只要</a:t>
            </a:r>
            <a:r>
              <a:rPr lang="en-US" altLang="zh-TW" dirty="0"/>
              <a:t>ground truth</a:t>
            </a:r>
            <a:r>
              <a:rPr lang="zh-TW" altLang="en-US" dirty="0"/>
              <a:t>有在前五名就算對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Feature KD</a:t>
            </a:r>
            <a:r>
              <a:rPr lang="zh-TW" altLang="en-US" dirty="0"/>
              <a:t>中，</a:t>
            </a:r>
            <a:r>
              <a:rPr lang="en-US" altLang="zh-TW" dirty="0"/>
              <a:t>MGD</a:t>
            </a:r>
            <a:r>
              <a:rPr lang="zh-TW" altLang="en-US" dirty="0"/>
              <a:t>可以接近</a:t>
            </a:r>
            <a:r>
              <a:rPr lang="en-US" altLang="zh-TW" dirty="0"/>
              <a:t>SOTA</a:t>
            </a:r>
          </a:p>
          <a:p>
            <a:r>
              <a:rPr lang="zh-TW" altLang="en-US" dirty="0"/>
              <a:t>如果結合 </a:t>
            </a:r>
            <a:r>
              <a:rPr lang="en-US" altLang="zh-TW" dirty="0"/>
              <a:t>logit KD</a:t>
            </a:r>
            <a:r>
              <a:rPr lang="zh-TW" altLang="en-US" dirty="0"/>
              <a:t>的</a:t>
            </a:r>
            <a:r>
              <a:rPr lang="en-US" altLang="zh-TW" dirty="0"/>
              <a:t>WSLD</a:t>
            </a:r>
            <a:r>
              <a:rPr lang="zh-TW" altLang="en-US" dirty="0"/>
              <a:t>，則</a:t>
            </a:r>
            <a:r>
              <a:rPr lang="en-US" altLang="zh-TW" dirty="0"/>
              <a:t>performance</a:t>
            </a:r>
            <a:r>
              <a:rPr lang="zh-TW" altLang="en-US" dirty="0"/>
              <a:t>會再進一步提升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82962C6-752B-63AE-472B-152C6785B3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7CC409-55E0-4AEB-B6B6-A6906FF1919D}" type="slidenum">
              <a:rPr lang="zh-TW" altLang="en-US" smtClean="0"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43939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75E87-EF98-4A7D-505F-EECF8C2C7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D2D0CF0-BAD9-54B8-AA8A-E28279AE52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D497C15-B61A-EA08-B7FF-69676FAF22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模型會輸出多個預測</a:t>
            </a:r>
            <a:endParaRPr lang="en-US" altLang="zh-TW" dirty="0"/>
          </a:p>
          <a:p>
            <a:r>
              <a:rPr lang="en-US" altLang="zh-TW" dirty="0"/>
              <a:t>Top-1 </a:t>
            </a:r>
            <a:r>
              <a:rPr lang="zh-TW" altLang="en-US" dirty="0"/>
              <a:t>是指拿模型最有信心的預測去計算</a:t>
            </a:r>
            <a:r>
              <a:rPr lang="en-US" altLang="zh-TW" dirty="0"/>
              <a:t>accuracy</a:t>
            </a:r>
          </a:p>
          <a:p>
            <a:r>
              <a:rPr lang="en-US" altLang="zh-TW" dirty="0"/>
              <a:t>Top-5 </a:t>
            </a:r>
            <a:r>
              <a:rPr lang="zh-TW" altLang="en-US" dirty="0"/>
              <a:t>是指拿模型前五名的預測去計算</a:t>
            </a:r>
            <a:r>
              <a:rPr lang="en-US" altLang="zh-TW" dirty="0"/>
              <a:t>accuracy</a:t>
            </a:r>
            <a:r>
              <a:rPr lang="zh-TW" altLang="en-US" dirty="0"/>
              <a:t>，只要</a:t>
            </a:r>
            <a:r>
              <a:rPr lang="en-US" altLang="zh-TW" dirty="0"/>
              <a:t>ground truth</a:t>
            </a:r>
            <a:r>
              <a:rPr lang="zh-TW" altLang="en-US" dirty="0"/>
              <a:t>有在前五名就算對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Feature KD</a:t>
            </a:r>
            <a:r>
              <a:rPr lang="zh-TW" altLang="en-US" dirty="0"/>
              <a:t>中，</a:t>
            </a:r>
            <a:r>
              <a:rPr lang="en-US" altLang="zh-TW" dirty="0"/>
              <a:t>MGD</a:t>
            </a:r>
            <a:r>
              <a:rPr lang="zh-TW" altLang="en-US" dirty="0"/>
              <a:t>可以接近</a:t>
            </a:r>
            <a:r>
              <a:rPr lang="en-US" altLang="zh-TW" dirty="0"/>
              <a:t>SOTA</a:t>
            </a:r>
          </a:p>
          <a:p>
            <a:r>
              <a:rPr lang="zh-TW" altLang="en-US" dirty="0"/>
              <a:t>如果結合 </a:t>
            </a:r>
            <a:r>
              <a:rPr lang="en-US" altLang="zh-TW" dirty="0"/>
              <a:t>logit KD</a:t>
            </a:r>
            <a:r>
              <a:rPr lang="zh-TW" altLang="en-US" dirty="0"/>
              <a:t>的</a:t>
            </a:r>
            <a:r>
              <a:rPr lang="en-US" altLang="zh-TW" dirty="0"/>
              <a:t>WSLD</a:t>
            </a:r>
            <a:r>
              <a:rPr lang="zh-TW" altLang="en-US" dirty="0"/>
              <a:t>，則</a:t>
            </a:r>
            <a:r>
              <a:rPr lang="en-US" altLang="zh-TW" dirty="0"/>
              <a:t>performance</a:t>
            </a:r>
            <a:r>
              <a:rPr lang="zh-TW" altLang="en-US" dirty="0"/>
              <a:t>會再進一步提升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1B5E3DC-C3C6-3957-2CE3-A94BCA345F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7CC409-55E0-4AEB-B6B6-A6906FF1919D}" type="slidenum">
              <a:rPr lang="zh-TW" altLang="en-US" smtClean="0"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4007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83ABA8-286C-1296-8EEC-76DFE276DE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825664A-A284-C819-94F9-4DC595AAA6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FA5A231-48A1-FC7F-7E6C-D93781F16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4252F-BFBB-4051-B474-D2B4F540FCFE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A84A69E-99DC-61D9-4777-AB6FF6331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C4F0B51-CA11-6333-4116-AEEF3DF59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2E8AB-28D7-4038-9DEE-C399A269BB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824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B77E96-ACA6-9D88-DBBD-1F9D02AB5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836814E-70CD-D527-09D2-888F582F9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DA74E56-F58A-4905-BBCB-243299E22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4252F-BFBB-4051-B474-D2B4F540FCFE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CB02CCD-3E90-CE5F-5ED7-3834ACBC3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FDEB13D-C00E-9E23-10C7-50602ABD3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2E8AB-28D7-4038-9DEE-C399A269BB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2732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8F6F42-D874-4AEC-B74D-409CB680E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CFA6286-6321-F585-8207-04E6514CF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FB4C4D8-0189-2C3F-3DDC-DCB6A02C2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4252F-BFBB-4051-B474-D2B4F540FCFE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336E9A6-F49A-5EB5-D7B8-FF49F9566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834A99-1BA4-A956-6879-CF60B0DF4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2E8AB-28D7-4038-9DEE-C399A269BB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4976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FBD053-CFDB-2BE5-0F7D-F20493D21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121B31D-09A3-35C2-B6E6-AEF4A37981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5809880-3744-686E-6F26-114C434928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949D6C3-D553-8EF3-4630-8288777D2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4252F-BFBB-4051-B474-D2B4F540FCFE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CFAE429-2BFC-5595-F8CB-586133B7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9B4452F-CB3F-4B95-2D01-A4B6B7BF4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2E8AB-28D7-4038-9DEE-C399A269BB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313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C55DCF-88C8-83EB-A8C7-639A194A4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A62BED0-1D7D-A2E5-9D58-4001FA76D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13CEF4D-DE46-9118-8D22-92046DC46B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4FD59BD-75A7-7150-1996-ED0461A6A0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AAFB0CD-8C51-868F-C2B4-80089E36B7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6B1EA6B-571D-6998-EBDE-595A4CC09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4252F-BFBB-4051-B474-D2B4F540FCFE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EF2593E-E583-38BB-909D-F9BF8ADEC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1F97202-DE62-29DE-9CF7-69BC005DC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2E8AB-28D7-4038-9DEE-C399A269BB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312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E30917-3DD9-44A4-0E3A-9011FF820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93216D8-4AEB-983A-B5DC-3D8565B14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4252F-BFBB-4051-B474-D2B4F540FCFE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3FE5724-9445-C09E-5FC7-EFDF91A10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E36E0B4-20FF-6890-B594-411E99DDF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2E8AB-28D7-4038-9DEE-C399A269BB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9603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B69E218-8A7C-3239-4204-D0ADA63A3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4252F-BFBB-4051-B474-D2B4F540FCFE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EBA5E4F-6600-5B3B-0996-4C847AEC9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F57F8E7-2372-1E73-EE22-71FB6ECB8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2E8AB-28D7-4038-9DEE-C399A269BB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6705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E57811-4995-7C0A-355A-F212428D0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90E2FF-5218-5A62-CBB3-7FDB5B878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230C772-0F12-8889-FDA5-C8367A98EA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84E5D1F-ECCC-2DA7-D07A-C46916D72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4252F-BFBB-4051-B474-D2B4F540FCFE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7EFB13E-9DBC-4285-C05A-24014C206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59BB241-A9EB-7865-EC7C-F2FDA64A7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2E8AB-28D7-4038-9DEE-C399A269BB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5959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C8D149A-4354-FA50-8F4F-394FE902A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B6EFFC5-5B35-326E-D446-8FA6347EBB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13720EA-3B3C-9ADE-AB86-196D709DEB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88D8C0E-4C13-AEB5-B50F-EB3896A18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4252F-BFBB-4051-B474-D2B4F540FCFE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61DCB46-1673-5D62-CBE4-6A250870F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F7EB780-FCDF-2E8C-C2BE-E00E37CE8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2E8AB-28D7-4038-9DEE-C399A269BB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7473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E8BDE1-EB1D-90C8-0828-0E3AE965A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212421E-2352-AE4B-A395-366D9087E0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470F6E-5368-9663-A8CD-50B817B9C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4252F-BFBB-4051-B474-D2B4F540FCFE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CA5C77-751A-B9AD-680A-2C4FD866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4FD309B-3786-0B74-2787-CF790079D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2E8AB-28D7-4038-9DEE-C399A269BB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7353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4C1983EA-A454-4B17-3319-95035F57FE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D54589A-9598-D969-7475-EE4D7641E8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EF8DF4-D739-14FB-873F-6CAA919A4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D4252F-BFBB-4051-B474-D2B4F540FCFE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836E994-5CA6-94D7-2B37-99DF0A030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E71BC9B-6C42-4F66-6329-D119FC3CE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2E8AB-28D7-4038-9DEE-C399A269BB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1756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AD758B7-48FA-FEFE-942A-377712D16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7FC830C-9E5C-13C1-1A2A-447C7EDA5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C4AFC5D-8D20-4603-4118-5CE32D38A6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D4252F-BFBB-4051-B474-D2B4F540FCFE}" type="datetimeFigureOut">
              <a:rPr lang="zh-TW" altLang="en-US" smtClean="0"/>
              <a:t>2026/3/24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9A4F64C-366F-E806-9F8B-BEB57BCE00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B15B1E3-59BA-2C25-8213-461E143504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A2E8AB-28D7-4038-9DEE-C399A269BBC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464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E718C-0417-3EF3-A019-EEE0579E7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980147"/>
            <a:ext cx="12192000" cy="2638413"/>
          </a:xfrm>
        </p:spPr>
        <p:txBody>
          <a:bodyPr>
            <a:noAutofit/>
          </a:bodyPr>
          <a:lstStyle/>
          <a:p>
            <a:r>
              <a:rPr lang="en-US" altLang="zh-TW" sz="4800" dirty="0" err="1"/>
              <a:t>CrossKD</a:t>
            </a:r>
            <a:r>
              <a:rPr lang="en-US" altLang="zh-TW" sz="4800" dirty="0"/>
              <a:t>: Cross-Head Knowledge Distillation </a:t>
            </a:r>
            <a:br>
              <a:rPr lang="en-US" altLang="zh-TW" sz="4800" dirty="0"/>
            </a:br>
            <a:r>
              <a:rPr lang="en-US" altLang="zh-TW" sz="4800" dirty="0"/>
              <a:t>for Object Detection</a:t>
            </a:r>
            <a:br>
              <a:rPr lang="en-US" altLang="zh-TW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zh-TW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CVPR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</a:t>
            </a:r>
            <a:endParaRPr lang="zh-TW" altLang="en-US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EC6EBF5-3EC0-CE96-1EDC-3B173C13B3CF}"/>
              </a:ext>
            </a:extLst>
          </p:cNvPr>
          <p:cNvSpPr txBox="1"/>
          <p:nvPr/>
        </p:nvSpPr>
        <p:spPr>
          <a:xfrm>
            <a:off x="4040245" y="4877853"/>
            <a:ext cx="4111501" cy="1015663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algn="ctr"/>
            <a:r>
              <a:rPr lang="en-US" altLang="zh-TW" sz="2000" dirty="0"/>
              <a:t>Jiabao Wang</a:t>
            </a:r>
          </a:p>
          <a:p>
            <a:pPr algn="ctr"/>
            <a:r>
              <a:rPr lang="en-US" altLang="zh-TW" sz="2000" dirty="0"/>
              <a:t>Yuming Chen</a:t>
            </a:r>
          </a:p>
          <a:p>
            <a:pPr algn="ctr"/>
            <a:r>
              <a:rPr lang="en-US" altLang="zh-TW" sz="2000" dirty="0"/>
              <a:t>Zhaohui Zheng</a:t>
            </a:r>
          </a:p>
          <a:p>
            <a:pPr algn="ctr"/>
            <a:r>
              <a:rPr lang="en-US" altLang="zh-TW" sz="2000" dirty="0"/>
              <a:t>Xiang Li</a:t>
            </a:r>
          </a:p>
          <a:p>
            <a:pPr algn="ctr"/>
            <a:r>
              <a:rPr lang="en-US" altLang="zh-TW" sz="2000" dirty="0"/>
              <a:t>Ming-Ming Cheng</a:t>
            </a:r>
          </a:p>
          <a:p>
            <a:pPr algn="ctr"/>
            <a:r>
              <a:rPr lang="en-US" altLang="zh-TW" sz="2000" dirty="0" err="1"/>
              <a:t>Qibin</a:t>
            </a:r>
            <a:r>
              <a:rPr lang="en-US" altLang="zh-TW" sz="2000" dirty="0"/>
              <a:t> Hou</a:t>
            </a:r>
            <a:endParaRPr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68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4A0B5D-9626-CC34-C8DF-2A28E1DE4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4E947E7-ADD9-4CF3-1105-6CEE4CA2A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2209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AF5D3-3449-A545-75D8-ECE3FD71A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695EF3-32F1-9AA9-EECB-C9B34ABC7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4FBA1F1-9E77-C541-E325-82C208DA9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KD methods can be roughly classified into two categories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mimicking</a:t>
            </a:r>
          </a:p>
          <a:p>
            <a:pPr lvl="1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imitation</a:t>
            </a:r>
          </a:p>
          <a:p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E430C66-A6E9-130B-2EF9-95F0945BEF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1833" y="3267456"/>
            <a:ext cx="7387962" cy="290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476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81256-6777-E42E-C0DA-187ED83F9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FE5CF7-226F-AE4C-6F29-D5ECCBD5A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Mimicking &amp; Target Conflict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25BF34-701F-7A72-4C88-784BC02B9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83112" cy="4351338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Forcing the student to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resemble the prediction distribution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teacher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suffer from a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conflict between ground-truth and distillation target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EE71B62-5727-4DE7-2FC4-1E152B88E2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43070"/>
            <a:ext cx="12192000" cy="391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931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40ED4-E3C5-D602-CEFD-76B244794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E51F17-21CE-C26F-7D9F-2CBBF9B41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 of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CrossKD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9A1F4C7-E953-CAD3-AF6B-089B71D51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83112" cy="4351338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[13, 19, 74] tend to conduct the distillation within regions containing mediate teacher-student discrepancies</a:t>
            </a:r>
          </a:p>
          <a:p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CrossKD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argues that the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heavily uncertain regions generally  accommodate more information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benefits the student</a:t>
            </a: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882FEE9-01F2-2F0A-EECA-E6A99E510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88" y="4120896"/>
            <a:ext cx="4820687" cy="2737104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E6A9FE6C-7CA3-8DDB-1825-CE4086A6B1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2"/>
          <a:stretch>
            <a:fillRect/>
          </a:stretch>
        </p:blipFill>
        <p:spPr>
          <a:xfrm>
            <a:off x="5193792" y="3477348"/>
            <a:ext cx="6996760" cy="338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601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F51FD-C634-191C-0E7B-FE306CEEB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6CDCBC-AEAA-8A49-34DE-A26D4FC65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60E211-D823-BF26-B46A-203BBE78E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83112" cy="4351338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cross-head prediction are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relatively consistent with the teacher’s predictions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since both are produced by teacher’s detection head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mimicking is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theoretically optimal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offer more task-oriented information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compared with feature imitation</a:t>
            </a:r>
          </a:p>
        </p:txBody>
      </p:sp>
    </p:spTree>
    <p:extLst>
      <p:ext uri="{BB962C8B-B14F-4D97-AF65-F5344CB8AC3E}">
        <p14:creationId xmlns:p14="http://schemas.microsoft.com/office/powerpoint/2010/main" val="3789237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E61BC-E1CA-EF63-53B9-E7A3725AD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18D474-5F2A-7138-2A8A-3736AC336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C960F8D-2129-D4E2-C9AD-1B2B39EE0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Related Work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344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2B2D4-26BC-F64C-6E41-B6A0693FA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B46FD3-698E-49CA-BEE1-24D86E580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Detection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FD89DE-5CE8-FC4B-2448-C0D3B4844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463528" cy="5032375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YOLOv1[48] let dense object detectors received great attention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 series detectors [2, 16, 43, 48-50] attempt to balance the model size and accuracy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Anchor-free detectors [27, 56, 75] attempt to discard the design of anchor boxes to avoid</a:t>
            </a:r>
            <a:b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box operations and cumbersome hyper-parameter tuning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label assignment methods [15, 46, 69] are proposed to better define the positive and negative samples for learning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GFL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[34, 35] introduces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Quality Focal Loss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(QFL) and a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Distribution-Guided Quality Predictor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increase the consistency between the classification score and the localization quality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Recently, due to the strong ability of the transformer block to encode expressive features,</a:t>
            </a:r>
            <a:b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DERT family [4, 6, 30, 41, 44, 67, 76] has become a new trend in the object detection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5576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177A6-F2B2-A9EC-F105-7E42B9777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098B62-C4A0-08D7-E43A-A2CBF11E3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KD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Object Detection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8922A8-97F6-0A9C-A2B0-E89FAD420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268456" cy="5032375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proposed the first distillation framework for object detection by simply combining feature imitation and prediction mimicking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[13, 25, 33, 60] focus on selecting effective distillation regions for better feature imitation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[19, 31, 74] focus on weighting the imitation loss better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[5, 64, 65, 68] attempting to design new teacher-student consistency functions, aiming to explore more consistency information or release the strict limit of the MSE loss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Mimicking [31] regards the score rank of the teacher as a kind of knowledge and aims to force the student to rank instances as the teacher</a:t>
            </a:r>
          </a:p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LD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[73] proposes to distill the localization distribution of bounding box to transfer localization knowledge</a:t>
            </a:r>
          </a:p>
        </p:txBody>
      </p:sp>
    </p:spTree>
    <p:extLst>
      <p:ext uri="{BB962C8B-B14F-4D97-AF65-F5344CB8AC3E}">
        <p14:creationId xmlns:p14="http://schemas.microsoft.com/office/powerpoint/2010/main" val="1138149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1AD07-94D9-0D4F-9664-FF0B30B81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E0CB04-60BF-DE6B-8726-5665845C3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EC082F3-9D51-D846-1B13-EA659DBF9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</a:t>
            </a:r>
          </a:p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256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8842D-7690-5FAE-E7FF-7E18E914B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9B0AAB-A236-9715-7279-B17224C79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Illustration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81F961-BDCE-5699-6318-C57CACBA9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89" y="1690688"/>
            <a:ext cx="6235779" cy="248853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4F2EB154-6AAB-8891-7979-CD5FFC5CD8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541" y="4074277"/>
            <a:ext cx="6029761" cy="2664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344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9EF5C-2115-2DE0-3032-A2E9C03D8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3CAF8D-8B7E-2344-2808-29CCC3AA5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Prediction Mimicking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7938C74-4E71-05FD-4A71-4339B7E39D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175609" cy="4351338"/>
              </a:xfrm>
            </p:spPr>
            <p:txBody>
              <a:bodyPr>
                <a:normAutofit/>
              </a:bodyPr>
              <a:lstStyle/>
              <a:p>
                <a:pPr>
                  <a:buClr>
                    <a:schemeClr val="tx1"/>
                  </a:buClr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Directly minimize the difference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between the predictions of teacher and student</a:t>
                </a:r>
                <a:b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US" altLang="zh-TW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ℒ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𝐾𝐷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ℛ</m:t>
                        </m:r>
                      </m:sub>
                      <m:sup/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</m:d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𝒟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𝑝𝑟𝑒𝑑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𝓅</m:t>
                            </m:r>
                          </m:e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sup>
                        </m:sSup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</m:d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𝓅</m:t>
                            </m:r>
                          </m:e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p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</m:d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nary>
                  </m:oMath>
                </a14:m>
                <a:b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US" altLang="zh-TW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𝓅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p>
                    </m:sSup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𝓅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the prediction vectors of teacher’s and student’s detection head</a:t>
                </a:r>
                <a:b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𝒟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𝑝𝑟𝑒𝑑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is the loss function calculating the difference between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𝓅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𝓅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p>
                    </m:sSup>
                  </m:oMath>
                </a14:m>
                <a:b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    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is the region selection principle which produces a weight at position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b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ℛ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is the entire image region</a:t>
                </a: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7938C74-4E71-05FD-4A71-4339B7E39D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175609" cy="4351338"/>
              </a:xfrm>
              <a:blipFill>
                <a:blip r:embed="rId2"/>
                <a:stretch>
                  <a:fillRect l="-709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344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0EC6F-8E10-102E-CFD2-CE197443E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642163-FF39-65B8-A309-560A35231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Cross-Head Knowledge Distillation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0D8B4C5-60D7-BC26-71EF-13FA0A7F7B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1353801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∈{1, 2, …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represents the sequence of convolutional layers in dense detector</a:t>
                </a: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∈{1, 2, …,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−1}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represents the feature maps produced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represents the input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featuremaps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𝓅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represents the predictions generated by the last convolutional layers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CrossKD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additionally delivers the student’s intermediate feature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p>
                    </m:sSubSup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∈{1, 2, …,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−1}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resulting in the cross-head predictions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𝓅</m:t>
                            </m:r>
                          </m:e>
                        </m:acc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p>
                    </m:sSup>
                  </m:oMath>
                </a14:m>
                <a:b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US" altLang="zh-TW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ℒ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𝐶𝑟𝑜𝑠𝑠𝐾𝐷</m:t>
                        </m:r>
                      </m:sub>
                    </m:sSub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ℛ</m:t>
                        </m:r>
                      </m:sub>
                      <m:sup/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</m:d>
                        <m:sSub>
                          <m:sSub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𝒟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𝑝𝑟𝑒𝑑</m:t>
                            </m:r>
                          </m:sub>
                        </m:s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𝓅</m:t>
                                </m:r>
                              </m:e>
                            </m:acc>
                          </m:e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sup>
                        </m:sSup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</m:d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𝓅</m:t>
                            </m:r>
                          </m:e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p>
                        <m:d>
                          <m:d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0D8B4C5-60D7-BC26-71EF-13FA0A7F7B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1353801" cy="4351338"/>
              </a:xfrm>
              <a:blipFill>
                <a:blip r:embed="rId2"/>
                <a:stretch>
                  <a:fillRect l="-698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888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AA133-CA78-7BD7-C6D3-FC52C9FA1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7C4BE4-617E-8386-9B15-769903CB5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Cross-Head Knowledge Distillation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E0E16B0-A4DC-DF59-A017-FCD1A69679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353800" cy="5032375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Instead of designing complicated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CrossKD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conduct distillation between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𝓅</m:t>
                            </m:r>
                          </m:e>
                        </m:acc>
                      </m:e>
                      <m:sup>
                        <m:r>
                          <a:rPr lang="en-US" altLang="zh-TW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𝓅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p>
                    </m:sSup>
                  </m:oMath>
                </a14:m>
                <a:br>
                  <a:rPr lang="en-US" altLang="zh-TW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400" b="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over entire prediction map, and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constant function with the value of 1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CrossKD</a:t>
                </a: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type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𝒟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𝑝𝑟𝑒𝑑</m:t>
                        </m:r>
                      </m:sub>
                    </m:sSub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different in the different tasks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effectively deliver task-specific knowledge to the student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classification,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CrossKD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regard the classification scores predicted by the teacher as the soft labels and directly use Quality Focal Loss (QFL) proposed in GFL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𝒟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𝑝𝑟𝑒𝑑</m:t>
                        </m:r>
                      </m:sub>
                    </m:sSub>
                  </m:oMath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regression,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CrossKD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directly use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GIoU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𝒟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𝑝𝑟𝑒𝑑</m:t>
                        </m:r>
                      </m:sub>
                    </m:sSub>
                  </m:oMath>
                </a14:m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E0E16B0-A4DC-DF59-A017-FCD1A69679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353800" cy="5032375"/>
              </a:xfrm>
              <a:blipFill>
                <a:blip r:embed="rId2"/>
                <a:stretch>
                  <a:fillRect l="-752" t="-16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7260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0D0D6-2B21-426A-0C6D-84D9F448E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1C28F3-C5D1-ECCA-D340-738D50AEC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Cross-Head Knowledge Distillation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EE05B8D-F0B9-E7EE-47FA-4979512FBE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353800" cy="5032375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overall loss for training can be formulated as follow</a:t>
                </a:r>
                <a:b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US" altLang="zh-TW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ℒ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ℒ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𝑐𝑙𝑠</m:t>
                        </m:r>
                      </m:sub>
                    </m:sSub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𝓅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𝑐𝑙𝑠</m:t>
                            </m:r>
                          </m:sub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sup>
                        </m:sSub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𝓅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𝑐𝑙𝑠</m:t>
                            </m:r>
                          </m:sub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𝑔𝑡</m:t>
                            </m:r>
                          </m:sup>
                        </m:sSubSup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ℒ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𝑟𝑒𝑔</m:t>
                        </m:r>
                      </m:sub>
                    </m:sSub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𝓅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𝑟𝑒𝑔</m:t>
                            </m:r>
                          </m:sub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sup>
                        </m:sSub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𝓅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𝑟𝑒𝑔</m:t>
                            </m:r>
                          </m:sub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𝑔𝑡</m:t>
                            </m:r>
                          </m:sup>
                        </m:sSubSup>
                      </m:e>
                    </m:d>
                  </m:oMath>
                </a14:m>
                <a:br>
                  <a:rPr lang="en-US" altLang="zh-TW" sz="2400" b="0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lit/>
                      </m:rP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ℒ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𝐶𝑟𝑜𝑠𝑠𝐾𝐷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𝑐𝑙𝑠</m:t>
                        </m:r>
                      </m:sup>
                    </m:sSubSup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𝓅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𝑐𝑙𝑠</m:t>
                            </m:r>
                          </m:sub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sup>
                        </m:sSub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𝓅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𝑐𝑙𝑠</m:t>
                            </m:r>
                          </m:sub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bSup>
                      </m:e>
                    </m:d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ℒ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𝐶𝑟𝑜𝑠𝑠𝐾𝐷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𝑟𝑒𝑔</m:t>
                        </m:r>
                      </m:sup>
                    </m:sSubSup>
                    <m:d>
                      <m:d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̂"/>
                                <m:ctrlPr>
                                  <a:rPr lang="en-US" altLang="zh-TW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sz="24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𝓅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𝑟𝑒𝑔</m:t>
                            </m:r>
                          </m:sub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sup>
                        </m:sSub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𝓅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𝑟𝑒𝑔</m:t>
                            </m:r>
                          </m:sub>
                          <m:sup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bSup>
                      </m:e>
                    </m:d>
                  </m:oMath>
                </a14:m>
                <a:b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br>
                  <a:rPr lang="en-US" altLang="zh-TW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ℒ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𝑐𝑙𝑠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ℒ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𝑟𝑒𝑔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the detection losses</a:t>
                </a:r>
                <a:b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𝓅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𝑐𝑙𝑠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p>
                    </m:sSub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𝓅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𝑟𝑒𝑔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p>
                    </m:sSub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the prediction of the student</a:t>
                </a:r>
                <a:b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𝓅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𝑐𝑙𝑠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𝑔𝑡</m:t>
                        </m:r>
                      </m:sup>
                    </m:sSub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𝓅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𝑟𝑒𝑔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𝑔𝑡</m:t>
                        </m:r>
                      </m:sup>
                    </m:sSub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the ground truth</a:t>
                </a:r>
                <a:b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𝓅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𝑐𝑙𝑠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𝓅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𝑟𝑒𝑔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p>
                    </m:sSubSup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the prediction of the teacher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EE05B8D-F0B9-E7EE-47FA-4979512FBE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353800" cy="5032375"/>
              </a:xfrm>
              <a:blipFill>
                <a:blip r:embed="rId2"/>
                <a:stretch>
                  <a:fillRect l="-752" t="-16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7364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6ABB6E-D033-49EA-D50D-3E8FEFCAB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E57CB9-C795-BADA-20EC-D4DEE71FC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46C24D4-6688-4918-5B82-84C0344F2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</a:p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14177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4C3A5-5EBA-FE8F-DAA1-8D6CF33CF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ABADAF-6968-0947-3D59-FAF0CACDA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Settings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0432DE2-2BE5-A3F5-F275-CBCEB67726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914888" cy="5574920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COCO trainval135k dataset (115k images) for training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COCO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minival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 (5k images) for validating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Precision (AP) for small, medium and large objects, as well as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IoU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threshold of 0.5 and 0.75 as metrics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experiment are developed using 8 V100 GPUs 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92275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DBE67-6447-9C95-A5A8-68B236ACC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ADDA55-D2F9-0D75-5319-C33162F62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 of detection head to apply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CrossKD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D29B44A-BF32-8B0F-FEB5-3A6B677940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914888" cy="5574920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Conduct on both classification and box regression branches</a:t>
                </a:r>
              </a:p>
              <a:p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CrossKD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can improve the performance with any layer of detection head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Since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=3 has best performance, it’s the default setting in all subsequent experiments</a:t>
                </a:r>
              </a:p>
              <a:p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DD29B44A-BF32-8B0F-FEB5-3A6B677940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914888" cy="5574920"/>
              </a:xfrm>
              <a:blipFill>
                <a:blip r:embed="rId3"/>
                <a:stretch>
                  <a:fillRect l="-782" t="-15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>
            <a:extLst>
              <a:ext uri="{FF2B5EF4-FFF2-40B4-BE49-F238E27FC236}">
                <a16:creationId xmlns:a16="http://schemas.microsoft.com/office/drawing/2014/main" id="{87340690-09C8-BBBE-E110-9C5E9CC730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5983" y="3282177"/>
            <a:ext cx="4460034" cy="347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853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20A43-4AF8-F22F-8219-FCC1A8941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D58D64-A9C4-5CF7-C222-A419AC76B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CrossKD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Feature Imitation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17CA0DB-3C57-0C27-C4C7-6EEE1EB47C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914888" cy="4819016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with PKD [5] on the same position (3</a:t>
            </a:r>
            <a:r>
              <a:rPr lang="en-US" altLang="zh-TW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 of detection head)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0B60B6C-B64D-1BCE-66D6-582158D72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757" y="2552635"/>
            <a:ext cx="4477561" cy="3364992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B542522-D8D1-5817-F113-7A58FE1766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2945022"/>
            <a:ext cx="6891770" cy="258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2883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DDE7F-5131-2047-2C72-9259E8A35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B02B93-6C5A-0CDB-E812-0356B7652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CrossKD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Prediction Mimicking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4B38E3B-C893-600D-0C18-75C74533F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6980" y="1690688"/>
            <a:ext cx="3165331" cy="1580814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9F412FE8-B231-D4AD-714B-8A765B660B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91" y="1690688"/>
            <a:ext cx="3424428" cy="1580814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56B512C9-C7C0-18D6-D300-A316A961D5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5350" y="3570773"/>
            <a:ext cx="7761300" cy="3193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8593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38DAD-08F7-7627-73CD-11EA7EAF1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43AA91-5A71-C070-C76D-F06D97252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CrossKD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v.s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SOTA KD Methods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20B7869-C7ED-6D88-25ED-F6ABA3F38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0424" y="1690688"/>
            <a:ext cx="4971152" cy="501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9772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B5F82-2A0A-B362-0BBB-3320026FC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E684D6-E460-1137-7ACC-E9EB4248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CrossKD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Different Detectors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646805D1-A94A-AC60-B986-5944A68BB9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919" y="1690688"/>
            <a:ext cx="6760161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6996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999D2-BE9D-25C7-88C0-5A0279C14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238F96-0DAF-1DB3-D56A-03CF5F1D0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CrossKD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 Severe Target Conflict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9E42D25-4F9D-101B-BC05-8AA145F31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9101" y="1690688"/>
            <a:ext cx="5953797" cy="3828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8231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11D30-D41F-F866-7404-D10EA77F7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E11493-9E6A-AEDB-D411-C968E4E91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CrossKD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between Heterogeneous Backbones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2A7EF33-9FAB-7C4F-03F0-CBC051747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843" y="1690688"/>
            <a:ext cx="7002314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6099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79CB9-63EF-3FB9-6026-B2C056239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C9AC84-4803-5CCB-F01A-A94E6174D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99F12BB-7EEC-3A5A-D941-9A4AD4083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</a:t>
            </a:r>
          </a:p>
          <a:p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9781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EA5C0-ED39-F405-B3DB-446C5CF85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197949-63E2-8206-43E9-F9A9186FD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4D91374-A5FA-2F3A-1FD4-C1D8E1B9E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CrossKD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novel KD method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to enhance the performance of dense object </a:t>
            </a:r>
            <a:r>
              <a:rPr lang="en-US" altLang="zh-TW" sz="24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deteectors</a:t>
            </a:r>
            <a:endParaRPr lang="en-US" altLang="zh-TW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an efficient way to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alleviate the conflict between the supervised and distillation targets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 SOTA</a:t>
            </a:r>
          </a:p>
        </p:txBody>
      </p:sp>
    </p:spTree>
    <p:extLst>
      <p:ext uri="{BB962C8B-B14F-4D97-AF65-F5344CB8AC3E}">
        <p14:creationId xmlns:p14="http://schemas.microsoft.com/office/powerpoint/2010/main" val="29888622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69E1D-3D36-563F-1DCB-45502A48C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397FC7-DFF4-B37D-E57C-E0F2FAC03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433A9840-66AE-E5B1-8156-C9EAEBAF49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1333" y="0"/>
            <a:ext cx="55156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053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4DD23-B226-AE21-283A-C35D26A40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8C1BE5-2EC1-3586-771F-17439A4E7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6AB2392-84A8-6F08-4C3C-F4749E0A2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075" y="0"/>
            <a:ext cx="54048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5991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F6B99-B63A-9E9F-99D6-A7AF56AD4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F013BB-D696-F36D-654B-8F664279E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332E6D4-F46B-4F94-1791-53A2049E6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2076" y="0"/>
            <a:ext cx="54810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07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</TotalTime>
  <Words>1832</Words>
  <Application>Microsoft Office PowerPoint</Application>
  <PresentationFormat>寬螢幕</PresentationFormat>
  <Paragraphs>168</Paragraphs>
  <Slides>29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35" baseType="lpstr">
      <vt:lpstr>Aptos</vt:lpstr>
      <vt:lpstr>Aptos Display</vt:lpstr>
      <vt:lpstr>Arial</vt:lpstr>
      <vt:lpstr>Cambria Math</vt:lpstr>
      <vt:lpstr>Times New Roman</vt:lpstr>
      <vt:lpstr>Office 佈景主題</vt:lpstr>
      <vt:lpstr>CrossKD: Cross-Head Knowledge Distillation  for Object Detection  CVPR 2024</vt:lpstr>
      <vt:lpstr>Outline</vt:lpstr>
      <vt:lpstr>Background</vt:lpstr>
      <vt:lpstr>Prediction Mimicking &amp; Target Conflict</vt:lpstr>
      <vt:lpstr>Idea of CrossKD</vt:lpstr>
      <vt:lpstr>Advantages</vt:lpstr>
      <vt:lpstr>Outline</vt:lpstr>
      <vt:lpstr>Object Detection</vt:lpstr>
      <vt:lpstr>KD for Object Detection</vt:lpstr>
      <vt:lpstr>Outline</vt:lpstr>
      <vt:lpstr>Structure Illustration</vt:lpstr>
      <vt:lpstr>Conventional Prediction Mimicking</vt:lpstr>
      <vt:lpstr>Cross-Head Knowledge Distillation</vt:lpstr>
      <vt:lpstr>Cross-Head Knowledge Distillation</vt:lpstr>
      <vt:lpstr>Cross-Head Knowledge Distillation</vt:lpstr>
      <vt:lpstr>Outline</vt:lpstr>
      <vt:lpstr>Settings</vt:lpstr>
      <vt:lpstr>Layer of detection head to apply CrossKD</vt:lpstr>
      <vt:lpstr>CrossKD v.s. Feature Imitation</vt:lpstr>
      <vt:lpstr>CrossKD v.s. Prediction Mimicking</vt:lpstr>
      <vt:lpstr>CrossKD v.s. SOTA KD Methods</vt:lpstr>
      <vt:lpstr>CrossKD on Different Detectors</vt:lpstr>
      <vt:lpstr>CrossKD under Severe Target Conflict</vt:lpstr>
      <vt:lpstr>CrossKD between Heterogeneous Backbones</vt:lpstr>
      <vt:lpstr>Outline</vt:lpstr>
      <vt:lpstr>Conclusion</vt:lpstr>
      <vt:lpstr>Reference</vt:lpstr>
      <vt:lpstr>Reference</vt:lpstr>
      <vt:lpstr>Reference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林家逸</dc:creator>
  <cp:lastModifiedBy>林家逸</cp:lastModifiedBy>
  <cp:revision>25</cp:revision>
  <dcterms:created xsi:type="dcterms:W3CDTF">2025-12-16T15:31:54Z</dcterms:created>
  <dcterms:modified xsi:type="dcterms:W3CDTF">2026-03-24T15:49:44Z</dcterms:modified>
</cp:coreProperties>
</file>
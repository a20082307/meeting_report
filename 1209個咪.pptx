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9" r:id="rId3"/>
    <p:sldId id="291" r:id="rId4"/>
    <p:sldId id="303" r:id="rId5"/>
    <p:sldId id="284" r:id="rId6"/>
    <p:sldId id="293" r:id="rId7"/>
    <p:sldId id="302" r:id="rId8"/>
    <p:sldId id="304" r:id="rId9"/>
    <p:sldId id="30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EEA4-EF2C-12B1-B4B6-5F59F377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AA1F26-6133-392D-D614-8F9E57C5C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BC2F93-0E42-7372-9EC5-7103A78B3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B6290C-DE46-AC15-6C2D-ACA06AF97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846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069C-BCDD-C060-1FF9-16079637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76AA7B3-931E-6674-FEA2-3728E5641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96FE9DA-F9F7-0E8D-B9D8-4F940B685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300051-14AE-E15E-8C5E-31C574C54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657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BCA0-3CCF-D446-A150-6C6D3D40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58AC8-E073-9D05-2FD8-6E52543BD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2813607-E868-B5BC-36F5-51745DA4E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0E4FD7-DE13-7C30-0DE2-5E9E9F4A9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8429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AA33-87C5-26B5-830A-9608F07E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2C0AAF-CCFB-C619-2FE5-CE0C131D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C961B9-B612-6535-A0F8-383C83766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071AA4-296D-FAD5-0C29-4F834A387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799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B9DC1-7F7E-3303-CE7A-9B27B266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848899D-4EB5-AABD-EE98-CFF06CE3D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A09DCB7-C6EB-F555-2524-616413F2E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4EEE6-C636-DAF1-7720-9CF767700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3282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C2B73-6382-03CC-7CEF-103A53F1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FC6EAB9-B81C-ADCA-2FEB-359529473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96B2B1-668D-453D-A801-34EBD51E4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9037F3-DB9A-C715-B968-51787EE6A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8343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CE3A-07B3-925B-3F06-D2786EC3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0315BD5-1006-53B3-454C-E04E1AEA6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0CD0B8-98AB-9361-2A12-9082A719F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3FAEEE-E48C-4074-9283-394917E8B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83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12/09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Feature KD 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AFCA-BE2E-CABC-C2A8-4C4EA6A5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19F89-52AD-B445-76D8-1F10CB3D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5116446-8AE7-F2BA-0735-2F507E6A2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728" y="365125"/>
            <a:ext cx="5110543" cy="612540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4A54AF9-20D1-F14A-BC7E-47D504A4716E}"/>
              </a:ext>
            </a:extLst>
          </p:cNvPr>
          <p:cNvSpPr/>
          <p:nvPr/>
        </p:nvSpPr>
        <p:spPr>
          <a:xfrm>
            <a:off x="4099456" y="2503861"/>
            <a:ext cx="1644694" cy="282298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684923-69A0-564A-2945-70E716137304}"/>
              </a:ext>
            </a:extLst>
          </p:cNvPr>
          <p:cNvSpPr/>
          <p:nvPr/>
        </p:nvSpPr>
        <p:spPr>
          <a:xfrm>
            <a:off x="4099458" y="2786158"/>
            <a:ext cx="1996542" cy="57073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5B2ACE-3057-D882-AD6D-8BF015C4D9A5}"/>
              </a:ext>
            </a:extLst>
          </p:cNvPr>
          <p:cNvSpPr/>
          <p:nvPr/>
        </p:nvSpPr>
        <p:spPr>
          <a:xfrm>
            <a:off x="4099456" y="3356891"/>
            <a:ext cx="2595915" cy="877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0C8E7A-3300-E18D-5F37-1760F580475D}"/>
              </a:ext>
            </a:extLst>
          </p:cNvPr>
          <p:cNvSpPr/>
          <p:nvPr/>
        </p:nvSpPr>
        <p:spPr>
          <a:xfrm>
            <a:off x="4099456" y="4234470"/>
            <a:ext cx="2055867" cy="146058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26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F1EAD6-CC49-E9B3-CB4A-353D09E55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90688"/>
            <a:ext cx="10058400" cy="453497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E832B97F-6757-AFBD-C755-589E95F8219F}"/>
              </a:ext>
            </a:extLst>
          </p:cNvPr>
          <p:cNvSpPr txBox="1"/>
          <p:nvPr/>
        </p:nvSpPr>
        <p:spPr>
          <a:xfrm>
            <a:off x="3056182" y="1506022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Teacher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038315-C041-66C5-C5F2-7BC25F84C3BC}"/>
              </a:ext>
            </a:extLst>
          </p:cNvPr>
          <p:cNvSpPr txBox="1"/>
          <p:nvPr/>
        </p:nvSpPr>
        <p:spPr>
          <a:xfrm>
            <a:off x="8222439" y="1506022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Student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49190-AEFE-1E4C-48E0-33CBD27B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52B2EC-B8E2-9A1B-E600-4E0F7F6E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Selected Layers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EF5A586-02B6-5DF3-BF96-C1B71F7F9316}"/>
              </a:ext>
            </a:extLst>
          </p:cNvPr>
          <p:cNvSpPr txBox="1"/>
          <p:nvPr/>
        </p:nvSpPr>
        <p:spPr>
          <a:xfrm>
            <a:off x="3056182" y="1506022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Teacher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BDDAC19-8CED-5B83-F296-E12A42D066E5}"/>
              </a:ext>
            </a:extLst>
          </p:cNvPr>
          <p:cNvSpPr txBox="1"/>
          <p:nvPr/>
        </p:nvSpPr>
        <p:spPr>
          <a:xfrm>
            <a:off x="8222439" y="1506022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Student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B403F7B-A8A7-53A0-525E-7AB4BB11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392" y="1801569"/>
            <a:ext cx="4931851" cy="374298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7855DC5-E4FF-2810-679B-8E335E4FD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57" y="1801569"/>
            <a:ext cx="4708463" cy="437303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B57A7BB-0138-9BC3-0540-F145F4E66D6F}"/>
              </a:ext>
            </a:extLst>
          </p:cNvPr>
          <p:cNvSpPr/>
          <p:nvPr/>
        </p:nvSpPr>
        <p:spPr>
          <a:xfrm>
            <a:off x="1243008" y="4732757"/>
            <a:ext cx="4476596" cy="196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024D8D3-5B29-21DB-FDE9-8115DE9AF3A9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719604" y="4109450"/>
            <a:ext cx="579197" cy="72149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32DDD84-119A-1FA2-B47F-BD4CDFD03DE0}"/>
              </a:ext>
            </a:extLst>
          </p:cNvPr>
          <p:cNvSpPr/>
          <p:nvPr/>
        </p:nvSpPr>
        <p:spPr>
          <a:xfrm>
            <a:off x="6298801" y="4032126"/>
            <a:ext cx="4692410" cy="196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54DDE4-BD72-9E43-534A-29E26572BFC8}"/>
              </a:ext>
            </a:extLst>
          </p:cNvPr>
          <p:cNvSpPr/>
          <p:nvPr/>
        </p:nvSpPr>
        <p:spPr>
          <a:xfrm>
            <a:off x="6246664" y="2409373"/>
            <a:ext cx="4744543" cy="196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C45805-622B-3184-80D9-88FA7DEF938E}"/>
              </a:ext>
            </a:extLst>
          </p:cNvPr>
          <p:cNvSpPr/>
          <p:nvPr/>
        </p:nvSpPr>
        <p:spPr>
          <a:xfrm>
            <a:off x="6246665" y="2619912"/>
            <a:ext cx="4744543" cy="196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8AF90CA-B874-1D36-5848-0A70F9744BC9}"/>
              </a:ext>
            </a:extLst>
          </p:cNvPr>
          <p:cNvSpPr/>
          <p:nvPr/>
        </p:nvSpPr>
        <p:spPr>
          <a:xfrm>
            <a:off x="6246666" y="3022481"/>
            <a:ext cx="4744543" cy="196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C3516F-FCEA-526F-AA2E-239F0E088EBD}"/>
              </a:ext>
            </a:extLst>
          </p:cNvPr>
          <p:cNvSpPr/>
          <p:nvPr/>
        </p:nvSpPr>
        <p:spPr>
          <a:xfrm>
            <a:off x="1256690" y="2612637"/>
            <a:ext cx="4476596" cy="196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B311FA3-D597-8A60-4F74-FA9287A796AF}"/>
              </a:ext>
            </a:extLst>
          </p:cNvPr>
          <p:cNvSpPr/>
          <p:nvPr/>
        </p:nvSpPr>
        <p:spPr>
          <a:xfrm>
            <a:off x="1256690" y="2797304"/>
            <a:ext cx="4476596" cy="196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C79195-C184-1427-FC1B-A615C82CFDBC}"/>
              </a:ext>
            </a:extLst>
          </p:cNvPr>
          <p:cNvSpPr/>
          <p:nvPr/>
        </p:nvSpPr>
        <p:spPr>
          <a:xfrm>
            <a:off x="1237931" y="3568605"/>
            <a:ext cx="4476596" cy="196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119D9F81-F53C-5A02-7B4E-0C1DACB04F54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5714527" y="3120671"/>
            <a:ext cx="529583" cy="54612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F20BD110-C864-BADF-38F9-61C0AFFA0589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5733286" y="2694707"/>
            <a:ext cx="513378" cy="20078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78F50E02-BB25-980E-3992-60BCDB32BC0D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>
          <a:xfrm flipV="1">
            <a:off x="5733286" y="2507564"/>
            <a:ext cx="513378" cy="20326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6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E5C7-FE58-08CD-2036-B5D6A29D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5660A-F695-8372-C46E-366B5551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8CDE5A-DBF3-6E85-B764-68566994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BCELoss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MobileNet_V3_Large as teacher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MobileNet_V3_Small as student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is trained with 200 epochs</a:t>
            </a:r>
          </a:p>
        </p:txBody>
      </p:sp>
    </p:spTree>
    <p:extLst>
      <p:ext uri="{BB962C8B-B14F-4D97-AF65-F5344CB8AC3E}">
        <p14:creationId xmlns:p14="http://schemas.microsoft.com/office/powerpoint/2010/main" val="2678518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CD5E-48F8-CF79-9AC0-99CFF0BD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繪圖, 字型 的圖片&#10;&#10;AI 產生的內容可能不正確。">
            <a:extLst>
              <a:ext uri="{FF2B5EF4-FFF2-40B4-BE49-F238E27FC236}">
                <a16:creationId xmlns:a16="http://schemas.microsoft.com/office/drawing/2014/main" id="{2299CD5E-438C-57C7-D187-DE32353CA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4" name="圖片 3" descr="一張含有 文字, 螢幕擷取畫面, 繪圖, 字型 的圖片&#10;&#10;AI 產生的內容可能不正確。">
            <a:extLst>
              <a:ext uri="{FF2B5EF4-FFF2-40B4-BE49-F238E27FC236}">
                <a16:creationId xmlns:a16="http://schemas.microsoft.com/office/drawing/2014/main" id="{C820A2ED-2D64-DAE9-928A-82CBB9DEC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5FDAF66-5C5C-7994-E3F6-DD35DB40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(w/ Adaptive factor)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71BFF8-B42E-01F1-7BFE-A86E007912E5}"/>
              </a:ext>
            </a:extLst>
          </p:cNvPr>
          <p:cNvSpPr txBox="1"/>
          <p:nvPr/>
        </p:nvSpPr>
        <p:spPr>
          <a:xfrm>
            <a:off x="2718230" y="2105562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DF6124-0C2C-75AD-9483-D3A2A49A0D6E}"/>
              </a:ext>
            </a:extLst>
          </p:cNvPr>
          <p:cNvSpPr txBox="1"/>
          <p:nvPr/>
        </p:nvSpPr>
        <p:spPr>
          <a:xfrm>
            <a:off x="8648031" y="2105562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5211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0650-8316-9831-95C6-09789284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B7194D-EBBA-B305-1B9F-103F3258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EB56D0-FAA1-0928-5C36-D7D164787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factor[“BCE”] = 0.5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factor[“feature”] = 0.5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 = 4.0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 = 200</a:t>
            </a:r>
          </a:p>
        </p:txBody>
      </p:sp>
    </p:spTree>
    <p:extLst>
      <p:ext uri="{BB962C8B-B14F-4D97-AF65-F5344CB8AC3E}">
        <p14:creationId xmlns:p14="http://schemas.microsoft.com/office/powerpoint/2010/main" val="3708868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B0E7D-BD51-EB1D-ADD0-9F8308C19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一張含有 文字, 螢幕擷取畫面, 陳列, 圖表 的圖片&#10;&#10;AI 產生的內容可能不正確。">
            <a:extLst>
              <a:ext uri="{FF2B5EF4-FFF2-40B4-BE49-F238E27FC236}">
                <a16:creationId xmlns:a16="http://schemas.microsoft.com/office/drawing/2014/main" id="{050D1E93-7ACC-1411-5BCA-BA0C300EA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5" name="圖片 4" descr="一張含有 文字, 螢幕擷取畫面, 陳列, 圖表 的圖片&#10;&#10;AI 產生的內容可能不正確。">
            <a:extLst>
              <a:ext uri="{FF2B5EF4-FFF2-40B4-BE49-F238E27FC236}">
                <a16:creationId xmlns:a16="http://schemas.microsoft.com/office/drawing/2014/main" id="{3A068823-5AE1-1AD7-CA63-E0AEFE063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5A5D701-E42B-4F9C-9CFB-08B73FF5B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(w/o Adaptive factor)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51EC765-05DE-D4CC-AE0C-E3743110ADDD}"/>
              </a:ext>
            </a:extLst>
          </p:cNvPr>
          <p:cNvSpPr txBox="1"/>
          <p:nvPr/>
        </p:nvSpPr>
        <p:spPr>
          <a:xfrm>
            <a:off x="2718230" y="2105562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7096EE6-8167-7CB0-2DF7-11A682E6BC9C}"/>
              </a:ext>
            </a:extLst>
          </p:cNvPr>
          <p:cNvSpPr txBox="1"/>
          <p:nvPr/>
        </p:nvSpPr>
        <p:spPr>
          <a:xfrm>
            <a:off x="8648031" y="2105562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43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DFB3A-76CE-7B99-745D-1D959131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35E48-7C99-5711-E8F0-37150E1BF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1E7291B-063F-840F-952C-DAE9CF9DF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64021"/>
              </p:ext>
            </p:extLst>
          </p:nvPr>
        </p:nvGraphicFramePr>
        <p:xfrm>
          <a:off x="838200" y="1424723"/>
          <a:ext cx="8603504" cy="5451098"/>
        </p:xfrm>
        <a:graphic>
          <a:graphicData uri="http://schemas.openxmlformats.org/drawingml/2006/table">
            <a:tbl>
              <a:tblPr/>
              <a:tblGrid>
                <a:gridCol w="1651706">
                  <a:extLst>
                    <a:ext uri="{9D8B030D-6E8A-4147-A177-3AD203B41FA5}">
                      <a16:colId xmlns:a16="http://schemas.microsoft.com/office/drawing/2014/main" val="2086435897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3198234377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859500640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3689008080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2940452666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573997578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437075309"/>
                    </a:ext>
                  </a:extLst>
                </a:gridCol>
                <a:gridCol w="993114">
                  <a:extLst>
                    <a:ext uri="{9D8B030D-6E8A-4147-A177-3AD203B41FA5}">
                      <a16:colId xmlns:a16="http://schemas.microsoft.com/office/drawing/2014/main" val="1646372051"/>
                    </a:ext>
                  </a:extLst>
                </a:gridCol>
              </a:tblGrid>
              <a:tr h="592324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Epoch</a:t>
                      </a:r>
                      <a:endParaRPr lang="en-US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Model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75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125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175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195774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Teacher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61.09%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65.16%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88.24%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72.85%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85.97%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</a:rPr>
                        <a:t>84.62%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55163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Student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64.71%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47.96%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60.18%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75.11%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69.68%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70.59%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78.28%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905824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 Adaptive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64.71%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57.92%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76.02%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74.66%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76.02%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70.59%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267708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 Adaptive,</a:t>
                      </a:r>
                      <a:endParaRPr lang="en-US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logit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75.57%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69.68%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70.14%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76.47%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77.83%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81.45%</a:t>
                      </a:r>
                      <a:endParaRPr lang="zh-TW" alt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80.09%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655126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 Adaptive,</a:t>
                      </a:r>
                      <a:endParaRPr lang="en-US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71.04%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56.11%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68.78%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66.52%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76.02%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218641"/>
                  </a:ext>
                </a:extLst>
              </a:tr>
              <a:tr h="4292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w/o Adaptive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343634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l-P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w/o Adaptive,</a:t>
                      </a:r>
                      <a:endParaRPr lang="pl-PL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pl-P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logit</a:t>
                      </a:r>
                      <a:endParaRPr lang="pl-PL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12982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KD w/o Adaptive,</a:t>
                      </a:r>
                      <a:endParaRPr lang="en-US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77.38%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84.16%</a:t>
                      </a:r>
                      <a:endParaRPr lang="zh-TW" alt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76.47%</a:t>
                      </a:r>
                      <a:endParaRPr lang="zh-TW" altLang="en-US" sz="90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74.21%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76.92%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81.90%</a:t>
                      </a:r>
                      <a:endParaRPr lang="zh-TW" altLang="en-US" sz="900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912339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</a:rPr>
                        <a:t>(New) KD w/ Adaptive,</a:t>
                      </a:r>
                      <a:endParaRPr lang="en-US" altLang="zh-TW" sz="900" dirty="0">
                        <a:solidFill>
                          <a:srgbClr val="FFFF00"/>
                        </a:solidFill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</a:t>
                      </a:r>
                      <a:endParaRPr lang="en-US" altLang="zh-TW" sz="900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58.82%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72.40%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71.04%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68.33%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76.92%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66.06%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383142"/>
                  </a:ext>
                </a:extLst>
              </a:tr>
              <a:tr h="5236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</a:rPr>
                        <a:t>(New) KD w/o Adaptive,</a:t>
                      </a:r>
                      <a:endParaRPr lang="en-US" altLang="zh-TW" sz="900" dirty="0">
                        <a:solidFill>
                          <a:srgbClr val="FFFF00"/>
                        </a:solidFill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900" b="1" i="0" u="none" strike="noStrike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</a:rPr>
                        <a:t>Feature</a:t>
                      </a:r>
                      <a:endParaRPr lang="en-US" altLang="zh-TW" sz="900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82.81%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81.00%</a:t>
                      </a:r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76.47%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80.54%</a:t>
                      </a:r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66.97%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19.00%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10582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75281992-FD6F-0A44-1D49-FD68E7EAF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3" y="20462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D8DACB-7ACF-6729-1420-ABAC714EB47B}"/>
              </a:ext>
            </a:extLst>
          </p:cNvPr>
          <p:cNvSpPr txBox="1"/>
          <p:nvPr/>
        </p:nvSpPr>
        <p:spPr>
          <a:xfrm>
            <a:off x="9514115" y="1629996"/>
            <a:ext cx="26032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Red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</a:t>
            </a:r>
            <a:b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Early Stopping / Potential Overfitting point.</a:t>
            </a:r>
            <a:endParaRPr lang="en-US" altLang="zh-TW" b="0" dirty="0">
              <a:effectLst/>
            </a:endParaRPr>
          </a:p>
          <a:p>
            <a:pPr>
              <a:buNone/>
            </a:pPr>
            <a:br>
              <a:rPr lang="en-US" altLang="zh-TW" b="0" dirty="0">
                <a:effectLst/>
              </a:rPr>
            </a:br>
            <a:endParaRPr lang="en-US" altLang="zh-TW" b="0" dirty="0">
              <a:effectLst/>
            </a:endParaRPr>
          </a:p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Blue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Performance of the Teacher checkpoint used for KD.</a:t>
            </a:r>
            <a:endParaRPr lang="en-US" altLang="zh-TW" b="0" dirty="0">
              <a:effectLst/>
            </a:endParaRPr>
          </a:p>
          <a:p>
            <a:pPr>
              <a:buNone/>
            </a:pPr>
            <a:br>
              <a:rPr lang="en-US" altLang="zh-TW" b="0" dirty="0">
                <a:effectLst/>
              </a:rPr>
            </a:br>
            <a:endParaRPr lang="en-US" altLang="zh-TW" b="0" dirty="0">
              <a:effectLst/>
            </a:endParaRPr>
          </a:p>
          <a:p>
            <a:pPr rtl="0">
              <a:buNone/>
            </a:pPr>
            <a:r>
              <a:rPr lang="en-US" altLang="zh-TW" sz="2400" b="1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Bold/Large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 </a:t>
            </a:r>
            <a:endParaRPr lang="en-US" altLang="zh-TW" b="0" dirty="0">
              <a:effectLst/>
            </a:endParaRPr>
          </a:p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Best performance for the specific model.</a:t>
            </a:r>
            <a:endParaRPr lang="en-US" altLang="zh-TW" b="0" dirty="0">
              <a:effectLst/>
            </a:endParaRPr>
          </a:p>
          <a:p>
            <a:pPr>
              <a:buNone/>
            </a:pPr>
            <a:br>
              <a:rPr lang="en-US" altLang="zh-TW" dirty="0"/>
            </a:br>
            <a:endParaRPr lang="zh-TW" altLang="en-US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6498F6CE-1BE6-6F26-19CA-24D765F0D63C}"/>
              </a:ext>
            </a:extLst>
          </p:cNvPr>
          <p:cNvCxnSpPr/>
          <p:nvPr/>
        </p:nvCxnSpPr>
        <p:spPr>
          <a:xfrm>
            <a:off x="838200" y="1424723"/>
            <a:ext cx="1651000" cy="5850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778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3431</TotalTime>
  <Words>373</Words>
  <Application>Microsoft Office PowerPoint</Application>
  <PresentationFormat>寬螢幕</PresentationFormat>
  <Paragraphs>139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標楷體</vt:lpstr>
      <vt:lpstr>Aptos</vt:lpstr>
      <vt:lpstr>Aptos Display</vt:lpstr>
      <vt:lpstr>Arial</vt:lpstr>
      <vt:lpstr>Times New Roman</vt:lpstr>
      <vt:lpstr>Office 佈景主題</vt:lpstr>
      <vt:lpstr>12/09 個人咪挺 Feature KD </vt:lpstr>
      <vt:lpstr>Recall</vt:lpstr>
      <vt:lpstr>Recall</vt:lpstr>
      <vt:lpstr>New Selected Layers</vt:lpstr>
      <vt:lpstr>Train Setting</vt:lpstr>
      <vt:lpstr>Loss Curve (w/ Adaptive factor)</vt:lpstr>
      <vt:lpstr>Train Setting</vt:lpstr>
      <vt:lpstr>Loss Curve (w/o Adaptive factor)</vt:lpstr>
      <vt:lpstr>Result Metric (TDR@FDR=1%)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55</cp:revision>
  <dcterms:created xsi:type="dcterms:W3CDTF">2025-09-01T15:41:03Z</dcterms:created>
  <dcterms:modified xsi:type="dcterms:W3CDTF">2025-12-09T00:21:40Z</dcterms:modified>
</cp:coreProperties>
</file>
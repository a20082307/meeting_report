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8" r:id="rId3"/>
    <p:sldId id="272" r:id="rId4"/>
    <p:sldId id="306" r:id="rId5"/>
    <p:sldId id="259" r:id="rId6"/>
    <p:sldId id="270" r:id="rId7"/>
    <p:sldId id="307" r:id="rId8"/>
    <p:sldId id="308" r:id="rId9"/>
    <p:sldId id="260" r:id="rId10"/>
    <p:sldId id="309" r:id="rId11"/>
    <p:sldId id="312" r:id="rId12"/>
    <p:sldId id="311" r:id="rId13"/>
    <p:sldId id="261" r:id="rId14"/>
    <p:sldId id="313" r:id="rId15"/>
    <p:sldId id="319" r:id="rId16"/>
    <p:sldId id="314" r:id="rId17"/>
    <p:sldId id="315" r:id="rId18"/>
    <p:sldId id="316" r:id="rId19"/>
    <p:sldId id="317" r:id="rId20"/>
    <p:sldId id="318" r:id="rId21"/>
    <p:sldId id="320" r:id="rId22"/>
    <p:sldId id="262" r:id="rId23"/>
    <p:sldId id="321" r:id="rId24"/>
    <p:sldId id="323" r:id="rId25"/>
    <p:sldId id="324" r:id="rId26"/>
    <p:sldId id="325" r:id="rId27"/>
    <p:sldId id="326" r:id="rId28"/>
    <p:sldId id="327" r:id="rId29"/>
    <p:sldId id="329" r:id="rId30"/>
    <p:sldId id="328" r:id="rId31"/>
    <p:sldId id="322" r:id="rId32"/>
    <p:sldId id="291" r:id="rId33"/>
    <p:sldId id="294" r:id="rId34"/>
    <p:sldId id="295" r:id="rId35"/>
    <p:sldId id="305" r:id="rId3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3933" autoAdjust="0"/>
  </p:normalViewPr>
  <p:slideViewPr>
    <p:cSldViewPr snapToGrid="0">
      <p:cViewPr varScale="1">
        <p:scale>
          <a:sx n="79" d="100"/>
          <a:sy n="79" d="100"/>
        </p:scale>
        <p:origin x="120" y="20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EB9F0-3F82-4D38-9C6D-B02272BDCC8F}" type="datetimeFigureOut">
              <a:rPr lang="zh-TW" altLang="en-US" smtClean="0"/>
              <a:t>2026/6/2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7CC409-55E0-4AEB-B6B6-A6906FF1919D}" type="slidenum">
              <a:rPr lang="zh-TW" altLang="en-US" smtClean="0"/>
              <a:t>‹#›</a:t>
            </a:fld>
            <a:endParaRPr lang="zh-TW" altLang="en-US"/>
          </a:p>
        </p:txBody>
      </p:sp>
    </p:spTree>
    <p:extLst>
      <p:ext uri="{BB962C8B-B14F-4D97-AF65-F5344CB8AC3E}">
        <p14:creationId xmlns:p14="http://schemas.microsoft.com/office/powerpoint/2010/main" val="673460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636AB37-21CE-43C9-98D2-EEC12DC16FEF}" type="slidenum">
              <a:rPr lang="zh-TW" altLang="en-US" smtClean="0"/>
              <a:t>1</a:t>
            </a:fld>
            <a:endParaRPr lang="zh-TW" altLang="en-US"/>
          </a:p>
        </p:txBody>
      </p:sp>
    </p:spTree>
    <p:extLst>
      <p:ext uri="{BB962C8B-B14F-4D97-AF65-F5344CB8AC3E}">
        <p14:creationId xmlns:p14="http://schemas.microsoft.com/office/powerpoint/2010/main" val="1949300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37CC409-55E0-4AEB-B6B6-A6906FF1919D}" type="slidenum">
              <a:rPr lang="zh-TW" altLang="en-US" smtClean="0"/>
              <a:t>3</a:t>
            </a:fld>
            <a:endParaRPr lang="zh-TW" altLang="en-US"/>
          </a:p>
        </p:txBody>
      </p:sp>
    </p:spTree>
    <p:extLst>
      <p:ext uri="{BB962C8B-B14F-4D97-AF65-F5344CB8AC3E}">
        <p14:creationId xmlns:p14="http://schemas.microsoft.com/office/powerpoint/2010/main" val="1612457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2CE3-6F20-8588-E0EB-D4C4336C211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D4F74FD-9CD5-DDF3-E724-9E8ECFD7A1F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BF89551-1B6D-0154-2542-2536C7655DB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E19C365-789B-A702-AB98-A36A37C114F2}"/>
              </a:ext>
            </a:extLst>
          </p:cNvPr>
          <p:cNvSpPr>
            <a:spLocks noGrp="1"/>
          </p:cNvSpPr>
          <p:nvPr>
            <p:ph type="sldNum" sz="quarter" idx="5"/>
          </p:nvPr>
        </p:nvSpPr>
        <p:spPr/>
        <p:txBody>
          <a:bodyPr/>
          <a:lstStyle/>
          <a:p>
            <a:fld id="{937CC409-55E0-4AEB-B6B6-A6906FF1919D}" type="slidenum">
              <a:rPr lang="zh-TW" altLang="en-US" smtClean="0"/>
              <a:t>4</a:t>
            </a:fld>
            <a:endParaRPr lang="zh-TW" altLang="en-US"/>
          </a:p>
        </p:txBody>
      </p:sp>
    </p:spTree>
    <p:extLst>
      <p:ext uri="{BB962C8B-B14F-4D97-AF65-F5344CB8AC3E}">
        <p14:creationId xmlns:p14="http://schemas.microsoft.com/office/powerpoint/2010/main" val="1867141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83ABA8-286C-1296-8EEC-76DFE276DE3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825664A-A284-C819-94F9-4DC595AAA6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FA5A231-48A1-FC7F-7E6C-D93781F16F8F}"/>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5" name="頁尾版面配置區 4">
            <a:extLst>
              <a:ext uri="{FF2B5EF4-FFF2-40B4-BE49-F238E27FC236}">
                <a16:creationId xmlns:a16="http://schemas.microsoft.com/office/drawing/2014/main" id="{AA84A69E-99DC-61D9-4777-AB6FF6331ED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C4F0B51-CA11-6333-4116-AEEF3DF59F50}"/>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377824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B77E96-ACA6-9D88-DBBD-1F9D02AB57C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836814E-70CD-D527-09D2-888F582F9368}"/>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DA74E56-F58A-4905-BBCB-243299E22963}"/>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5" name="頁尾版面配置區 4">
            <a:extLst>
              <a:ext uri="{FF2B5EF4-FFF2-40B4-BE49-F238E27FC236}">
                <a16:creationId xmlns:a16="http://schemas.microsoft.com/office/drawing/2014/main" id="{BCB02CCD-3E90-CE5F-5ED7-3834ACBC3EE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DEB13D-C00E-9E23-10C7-50602ABD37F1}"/>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406273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8F6F42-D874-4AEC-B74D-409CB680E0D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CFA6286-6321-F585-8207-04E6514CFC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FB4C4D8-0189-2C3F-3DDC-DCB6A02C23C7}"/>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5" name="頁尾版面配置區 4">
            <a:extLst>
              <a:ext uri="{FF2B5EF4-FFF2-40B4-BE49-F238E27FC236}">
                <a16:creationId xmlns:a16="http://schemas.microsoft.com/office/drawing/2014/main" id="{0336E9A6-F49A-5EB5-D7B8-FF49F95669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E834A99-1BA4-A956-6879-CF60B0DF4B43}"/>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141497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FBD053-CFDB-2BE5-0F7D-F20493D219D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121B31D-09A3-35C2-B6E6-AEF4A379810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5809880-3744-686E-6F26-114C4349286D}"/>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949D6C3-D553-8EF3-4630-8288777D2DAC}"/>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6" name="頁尾版面配置區 5">
            <a:extLst>
              <a:ext uri="{FF2B5EF4-FFF2-40B4-BE49-F238E27FC236}">
                <a16:creationId xmlns:a16="http://schemas.microsoft.com/office/drawing/2014/main" id="{8CFAE429-2BFC-5595-F8CB-586133B74FE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9B4452F-CB3F-4B95-2D01-A4B6B7BF43DF}"/>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202313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C55DCF-88C8-83EB-A8C7-639A194A434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A62BED0-1D7D-A2E5-9D58-4001FA76D4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13CEF4D-DE46-9118-8D22-92046DC46B4D}"/>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4FD59BD-75A7-7150-1996-ED0461A6A0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AAFB0CD-8C51-868F-C2B4-80089E36B7F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6B1EA6B-571D-6998-EBDE-595A4CC094B9}"/>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8" name="頁尾版面配置區 7">
            <a:extLst>
              <a:ext uri="{FF2B5EF4-FFF2-40B4-BE49-F238E27FC236}">
                <a16:creationId xmlns:a16="http://schemas.microsoft.com/office/drawing/2014/main" id="{1EF2593E-E583-38BB-909D-F9BF8ADEC96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1F97202-DE62-29DE-9CF7-69BC005DC6B4}"/>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234312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E30917-3DD9-44A4-0E3A-9011FF82088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93216D8-4AEB-983A-B5DC-3D8565B14941}"/>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4" name="頁尾版面配置區 3">
            <a:extLst>
              <a:ext uri="{FF2B5EF4-FFF2-40B4-BE49-F238E27FC236}">
                <a16:creationId xmlns:a16="http://schemas.microsoft.com/office/drawing/2014/main" id="{13FE5724-9445-C09E-5FC7-EFDF91A10705}"/>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E36E0B4-20FF-6890-B594-411E99DDF3A9}"/>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3119603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B69E218-8A7C-3239-4204-D0ADA63A33BC}"/>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3" name="頁尾版面配置區 2">
            <a:extLst>
              <a:ext uri="{FF2B5EF4-FFF2-40B4-BE49-F238E27FC236}">
                <a16:creationId xmlns:a16="http://schemas.microsoft.com/office/drawing/2014/main" id="{FEBA5E4F-6600-5B3B-0996-4C847AEC9B6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F57F8E7-2372-1E73-EE22-71FB6ECB8FC8}"/>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616705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E57811-4995-7C0A-355A-F212428D055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5890E2FF-5218-5A62-CBB3-7FDB5B8788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30C772-0F12-8889-FDA5-C8367A98E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84E5D1F-ECCC-2DA7-D07A-C46916D72159}"/>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6" name="頁尾版面配置區 5">
            <a:extLst>
              <a:ext uri="{FF2B5EF4-FFF2-40B4-BE49-F238E27FC236}">
                <a16:creationId xmlns:a16="http://schemas.microsoft.com/office/drawing/2014/main" id="{E7EFB13E-9DBC-4285-C05A-24014C206BF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59BB241-A9EB-7865-EC7C-F2FDA64A709E}"/>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1495959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8D149A-4354-FA50-8F4F-394FE902A45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B6EFFC5-5B35-326E-D446-8FA6347EBB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913720EA-3B3C-9ADE-AB86-196D709DEB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88D8C0E-4C13-AEB5-B50F-EB3896A1842D}"/>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6" name="頁尾版面配置區 5">
            <a:extLst>
              <a:ext uri="{FF2B5EF4-FFF2-40B4-BE49-F238E27FC236}">
                <a16:creationId xmlns:a16="http://schemas.microsoft.com/office/drawing/2014/main" id="{D61DCB46-1673-5D62-CBE4-6A250870F56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F7EB780-FCDF-2E8C-C2BE-E00E37CE88A5}"/>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3467473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E8BDE1-EB1D-90C8-0828-0E3AE965AA3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C212421E-2352-AE4B-A395-366D9087E04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8470F6E-5368-9663-A8CD-50B817B9CD51}"/>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5" name="頁尾版面配置區 4">
            <a:extLst>
              <a:ext uri="{FF2B5EF4-FFF2-40B4-BE49-F238E27FC236}">
                <a16:creationId xmlns:a16="http://schemas.microsoft.com/office/drawing/2014/main" id="{98CA5C77-751A-B9AD-680A-2C4FD866459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4FD309B-3786-0B74-2787-CF790079D90F}"/>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3657353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C1983EA-A454-4B17-3319-95035F57FEB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D54589A-9598-D969-7475-EE4D7641E8D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EF8DF4-D739-14FB-873F-6CAA919A4814}"/>
              </a:ext>
            </a:extLst>
          </p:cNvPr>
          <p:cNvSpPr>
            <a:spLocks noGrp="1"/>
          </p:cNvSpPr>
          <p:nvPr>
            <p:ph type="dt" sz="half" idx="10"/>
          </p:nvPr>
        </p:nvSpPr>
        <p:spPr/>
        <p:txBody>
          <a:bodyPr/>
          <a:lstStyle/>
          <a:p>
            <a:fld id="{92D4252F-BFBB-4051-B474-D2B4F540FCFE}" type="datetimeFigureOut">
              <a:rPr lang="zh-TW" altLang="en-US" smtClean="0"/>
              <a:t>2026/6/2</a:t>
            </a:fld>
            <a:endParaRPr lang="zh-TW" altLang="en-US"/>
          </a:p>
        </p:txBody>
      </p:sp>
      <p:sp>
        <p:nvSpPr>
          <p:cNvPr id="5" name="頁尾版面配置區 4">
            <a:extLst>
              <a:ext uri="{FF2B5EF4-FFF2-40B4-BE49-F238E27FC236}">
                <a16:creationId xmlns:a16="http://schemas.microsoft.com/office/drawing/2014/main" id="{7836E994-5CA6-94D7-2B37-99DF0A03036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71BC9B-6C42-4F66-6329-D119FC3CEB8E}"/>
              </a:ext>
            </a:extLst>
          </p:cNvPr>
          <p:cNvSpPr>
            <a:spLocks noGrp="1"/>
          </p:cNvSpPr>
          <p:nvPr>
            <p:ph type="sldNum" sz="quarter" idx="12"/>
          </p:nvPr>
        </p:nvSpPr>
        <p:spPr/>
        <p:txBody>
          <a:body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2371756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AD758B7-48FA-FEFE-942A-377712D16D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7FC830C-9E5C-13C1-1A2A-447C7EDA52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C4AFC5D-8D20-4603-4118-5CE32D38A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D4252F-BFBB-4051-B474-D2B4F540FCFE}" type="datetimeFigureOut">
              <a:rPr lang="zh-TW" altLang="en-US" smtClean="0"/>
              <a:t>2026/6/2</a:t>
            </a:fld>
            <a:endParaRPr lang="zh-TW" altLang="en-US"/>
          </a:p>
        </p:txBody>
      </p:sp>
      <p:sp>
        <p:nvSpPr>
          <p:cNvPr id="5" name="頁尾版面配置區 4">
            <a:extLst>
              <a:ext uri="{FF2B5EF4-FFF2-40B4-BE49-F238E27FC236}">
                <a16:creationId xmlns:a16="http://schemas.microsoft.com/office/drawing/2014/main" id="{89A4F64C-366F-E806-9F8B-BEB57BCE00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B15B1E3-59BA-2C25-8213-461E143504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A2E8AB-28D7-4038-9DEE-C399A269BBC5}" type="slidenum">
              <a:rPr lang="zh-TW" altLang="en-US" smtClean="0"/>
              <a:t>‹#›</a:t>
            </a:fld>
            <a:endParaRPr lang="zh-TW" altLang="en-US"/>
          </a:p>
        </p:txBody>
      </p:sp>
    </p:spTree>
    <p:extLst>
      <p:ext uri="{BB962C8B-B14F-4D97-AF65-F5344CB8AC3E}">
        <p14:creationId xmlns:p14="http://schemas.microsoft.com/office/powerpoint/2010/main" val="53464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6E718C-0417-3EF3-A019-EEE0579E7A51}"/>
              </a:ext>
            </a:extLst>
          </p:cNvPr>
          <p:cNvSpPr>
            <a:spLocks noGrp="1"/>
          </p:cNvSpPr>
          <p:nvPr>
            <p:ph type="ctrTitle"/>
          </p:nvPr>
        </p:nvSpPr>
        <p:spPr>
          <a:xfrm>
            <a:off x="0" y="1980147"/>
            <a:ext cx="12192000" cy="2638413"/>
          </a:xfrm>
        </p:spPr>
        <p:txBody>
          <a:bodyPr>
            <a:noAutofit/>
          </a:bodyPr>
          <a:lstStyle/>
          <a:p>
            <a:r>
              <a:rPr lang="en-US" altLang="zh-TW" sz="4800" dirty="0"/>
              <a:t>Efficient Memory Management for Large Language Model Serving with </a:t>
            </a:r>
            <a:r>
              <a:rPr lang="en-US" altLang="zh-TW" sz="4800" dirty="0" err="1"/>
              <a:t>PagedAttention</a:t>
            </a:r>
            <a:br>
              <a:rPr lang="en-US" altLang="zh-TW" sz="5400" dirty="0">
                <a:latin typeface="Times New Roman" panose="02020603050405020304" pitchFamily="18" charset="0"/>
                <a:cs typeface="Times New Roman" panose="02020603050405020304" pitchFamily="18" charset="0"/>
              </a:rPr>
            </a:br>
            <a:br>
              <a:rPr lang="en-US" altLang="zh-TW" sz="5400" dirty="0">
                <a:latin typeface="Times New Roman" panose="02020603050405020304" pitchFamily="18" charset="0"/>
                <a:cs typeface="Times New Roman" panose="02020603050405020304" pitchFamily="18" charset="0"/>
              </a:rPr>
            </a:br>
            <a:r>
              <a:rPr lang="en-US" altLang="zh-TW" sz="3200" dirty="0">
                <a:latin typeface="Times New Roman" panose="02020603050405020304" pitchFamily="18" charset="0"/>
                <a:cs typeface="Times New Roman" panose="02020603050405020304" pitchFamily="18" charset="0"/>
              </a:rPr>
              <a:t>SOSP</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2023</a:t>
            </a:r>
            <a:endParaRPr lang="zh-TW" altLang="en-US" sz="3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5EC6EBF5-3EC0-CE96-1EDC-3B173C13B3CF}"/>
              </a:ext>
            </a:extLst>
          </p:cNvPr>
          <p:cNvSpPr txBox="1"/>
          <p:nvPr/>
        </p:nvSpPr>
        <p:spPr>
          <a:xfrm>
            <a:off x="3817255" y="4832316"/>
            <a:ext cx="4557490" cy="1631216"/>
          </a:xfrm>
          <a:prstGeom prst="rect">
            <a:avLst/>
          </a:prstGeom>
          <a:noFill/>
        </p:spPr>
        <p:txBody>
          <a:bodyPr wrap="square" numCol="2" rtlCol="0">
            <a:spAutoFit/>
          </a:bodyPr>
          <a:lstStyle/>
          <a:p>
            <a:pPr algn="ctr"/>
            <a:r>
              <a:rPr lang="en-US" altLang="zh-TW" sz="2000" dirty="0" err="1"/>
              <a:t>Woosuk</a:t>
            </a:r>
            <a:r>
              <a:rPr lang="en-US" altLang="zh-TW" sz="2000" dirty="0"/>
              <a:t> Kwon</a:t>
            </a:r>
          </a:p>
          <a:p>
            <a:pPr algn="ctr"/>
            <a:r>
              <a:rPr lang="en-US" altLang="zh-TW" sz="2000" dirty="0" err="1"/>
              <a:t>Zhuohan</a:t>
            </a:r>
            <a:r>
              <a:rPr lang="en-US" altLang="zh-TW" sz="2000" dirty="0"/>
              <a:t> Li</a:t>
            </a:r>
          </a:p>
          <a:p>
            <a:pPr algn="ctr"/>
            <a:r>
              <a:rPr lang="en-US" altLang="zh-TW" sz="2000" dirty="0"/>
              <a:t>Siyuan Zhuang</a:t>
            </a:r>
          </a:p>
          <a:p>
            <a:pPr algn="ctr"/>
            <a:r>
              <a:rPr lang="en-US" altLang="zh-TW" sz="2000" dirty="0"/>
              <a:t>Ying Sheng</a:t>
            </a:r>
          </a:p>
          <a:p>
            <a:pPr algn="ctr"/>
            <a:r>
              <a:rPr lang="en-US" altLang="zh-TW" sz="2000" dirty="0" err="1"/>
              <a:t>Lianmin</a:t>
            </a:r>
            <a:r>
              <a:rPr lang="en-US" altLang="zh-TW" sz="2000" dirty="0"/>
              <a:t> Zheng</a:t>
            </a:r>
          </a:p>
          <a:p>
            <a:pPr algn="ctr"/>
            <a:r>
              <a:rPr lang="en-US" altLang="zh-TW" sz="2000" dirty="0"/>
              <a:t>Cody Hao Yu</a:t>
            </a:r>
          </a:p>
          <a:p>
            <a:pPr algn="ctr"/>
            <a:r>
              <a:rPr lang="en-US" altLang="zh-TW" sz="2000" dirty="0"/>
              <a:t>Joseph E. Gonzalez</a:t>
            </a:r>
          </a:p>
          <a:p>
            <a:pPr algn="ctr"/>
            <a:r>
              <a:rPr lang="en-US" altLang="zh-TW" sz="2000" dirty="0"/>
              <a:t>Hao Zhang</a:t>
            </a:r>
          </a:p>
          <a:p>
            <a:pPr algn="ctr"/>
            <a:r>
              <a:rPr lang="en-US" altLang="zh-TW" sz="2000" dirty="0"/>
              <a:t>Ion Stoica</a:t>
            </a:r>
            <a:endParaRPr lang="en-US"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5684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4A0B5D-9626-CC34-C8DF-2A28E1DE4A2C}"/>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Outline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C4E947E7-ADD9-4CF3-1105-6CEE4CA2A83A}"/>
              </a:ext>
            </a:extLst>
          </p:cNvPr>
          <p:cNvSpPr>
            <a:spLocks noGrp="1"/>
          </p:cNvSpPr>
          <p:nvPr>
            <p:ph idx="1"/>
          </p:nvPr>
        </p:nvSpPr>
        <p:spPr/>
        <p:txBody>
          <a:bodyPr>
            <a:normAutofit/>
          </a:bodyPr>
          <a:lstStyle/>
          <a:p>
            <a:r>
              <a:rPr lang="en-US" altLang="zh-TW" sz="2400" dirty="0">
                <a:solidFill>
                  <a:srgbClr val="FF0000"/>
                </a:solidFill>
                <a:latin typeface="Times New Roman" panose="02020603050405020304" pitchFamily="18" charset="0"/>
                <a:cs typeface="Times New Roman" panose="02020603050405020304" pitchFamily="18" charset="0"/>
              </a:rPr>
              <a:t>Introduction</a:t>
            </a:r>
          </a:p>
          <a:p>
            <a:r>
              <a:rPr lang="en-US" altLang="zh-TW" sz="2400" dirty="0">
                <a:latin typeface="Times New Roman" panose="02020603050405020304" pitchFamily="18" charset="0"/>
                <a:cs typeface="Times New Roman" panose="02020603050405020304" pitchFamily="18" charset="0"/>
              </a:rPr>
              <a:t>Background</a:t>
            </a:r>
          </a:p>
          <a:p>
            <a:r>
              <a:rPr lang="en-US" altLang="zh-TW" sz="2400" dirty="0">
                <a:latin typeface="Times New Roman" panose="02020603050405020304" pitchFamily="18" charset="0"/>
                <a:cs typeface="Times New Roman" panose="02020603050405020304" pitchFamily="18" charset="0"/>
              </a:rPr>
              <a:t>Challenges</a:t>
            </a:r>
          </a:p>
          <a:p>
            <a:r>
              <a:rPr lang="en-US" altLang="zh-TW" sz="2400" dirty="0">
                <a:latin typeface="Times New Roman" panose="02020603050405020304" pitchFamily="18" charset="0"/>
                <a:cs typeface="Times New Roman" panose="02020603050405020304" pitchFamily="18" charset="0"/>
              </a:rPr>
              <a:t>Method</a:t>
            </a:r>
          </a:p>
          <a:p>
            <a:r>
              <a:rPr lang="en-US" altLang="zh-TW" sz="2400" dirty="0">
                <a:latin typeface="Times New Roman" panose="02020603050405020304" pitchFamily="18" charset="0"/>
                <a:cs typeface="Times New Roman" panose="02020603050405020304" pitchFamily="18" charset="0"/>
              </a:rPr>
              <a:t>Experiment</a:t>
            </a:r>
          </a:p>
          <a:p>
            <a:r>
              <a:rPr lang="en-US" altLang="zh-TW" sz="2400" dirty="0">
                <a:latin typeface="Times New Roman" panose="02020603050405020304" pitchFamily="18" charset="0"/>
                <a:cs typeface="Times New Roman" panose="02020603050405020304" pitchFamily="18" charset="0"/>
              </a:rPr>
              <a:t>Conclusion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220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F5D3-3449-A545-75D8-ECE3FD71A94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695EF3-32F1-9AA9-EECB-C9B34ABC7EBD}"/>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Brief Background &amp; Challenges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4FBA1F1-9E77-C541-E325-82C208DA99BF}"/>
              </a:ext>
            </a:extLst>
          </p:cNvPr>
          <p:cNvSpPr>
            <a:spLocks noGrp="1"/>
          </p:cNvSpPr>
          <p:nvPr>
            <p:ph idx="1"/>
          </p:nvPr>
        </p:nvSpPr>
        <p:spPr>
          <a:xfrm>
            <a:off x="838200" y="1825625"/>
            <a:ext cx="6393873" cy="4351338"/>
          </a:xfrm>
        </p:spPr>
        <p:txBody>
          <a:bodyPr>
            <a:normAutofit/>
          </a:bodyPr>
          <a:lstStyle/>
          <a:p>
            <a:r>
              <a:rPr lang="en-US" altLang="zh-TW" sz="2000" dirty="0">
                <a:cs typeface="Times New Roman" panose="02020603050405020304" pitchFamily="18" charset="0"/>
              </a:rPr>
              <a:t>More and more companies are racing to provide LLM applications like programming assistant or universal chatbot</a:t>
            </a:r>
          </a:p>
          <a:p>
            <a:r>
              <a:rPr lang="en-US" altLang="zh-TW" sz="2000" dirty="0"/>
              <a:t>Processing an LLM request can be 10× more expensive than a traditional keyword query</a:t>
            </a:r>
          </a:p>
          <a:p>
            <a:r>
              <a:rPr lang="en-US" altLang="zh-TW" sz="2000" dirty="0"/>
              <a:t>The </a:t>
            </a:r>
            <a:r>
              <a:rPr lang="en-US" altLang="zh-TW" sz="2000" dirty="0">
                <a:solidFill>
                  <a:srgbClr val="FF0000"/>
                </a:solidFill>
              </a:rPr>
              <a:t>sequential generation process </a:t>
            </a:r>
            <a:r>
              <a:rPr lang="en-US" altLang="zh-TW" sz="2000" dirty="0"/>
              <a:t>of LLM makes the workload </a:t>
            </a:r>
            <a:r>
              <a:rPr lang="en-US" altLang="zh-TW" sz="2000" dirty="0">
                <a:solidFill>
                  <a:srgbClr val="FF0000"/>
                </a:solidFill>
              </a:rPr>
              <a:t>memory-bound</a:t>
            </a:r>
            <a:r>
              <a:rPr lang="en-US" altLang="zh-TW" sz="2000" dirty="0"/>
              <a:t>, underutilizing the computation power of GPUs and limiting the serving throughput</a:t>
            </a:r>
          </a:p>
          <a:p>
            <a:r>
              <a:rPr lang="en-US" altLang="zh-TW" sz="2000" dirty="0"/>
              <a:t>To process many requests in a batch, the </a:t>
            </a:r>
            <a:r>
              <a:rPr lang="en-US" altLang="zh-TW" sz="2000" dirty="0">
                <a:solidFill>
                  <a:srgbClr val="FF0000"/>
                </a:solidFill>
              </a:rPr>
              <a:t>memory space for each request should be efficiently managed</a:t>
            </a:r>
            <a:endParaRPr lang="zh-TW" altLang="en-US" sz="2000" dirty="0">
              <a:solidFill>
                <a:srgbClr val="FF0000"/>
              </a:solidFill>
              <a:cs typeface="Times New Roman" panose="02020603050405020304" pitchFamily="18" charset="0"/>
            </a:endParaRPr>
          </a:p>
        </p:txBody>
      </p:sp>
      <p:pic>
        <p:nvPicPr>
          <p:cNvPr id="5" name="圖片 4">
            <a:extLst>
              <a:ext uri="{FF2B5EF4-FFF2-40B4-BE49-F238E27FC236}">
                <a16:creationId xmlns:a16="http://schemas.microsoft.com/office/drawing/2014/main" id="{DD24E527-E562-85B8-DEA4-49E6BAEA9375}"/>
              </a:ext>
            </a:extLst>
          </p:cNvPr>
          <p:cNvPicPr>
            <a:picLocks noChangeAspect="1"/>
          </p:cNvPicPr>
          <p:nvPr/>
        </p:nvPicPr>
        <p:blipFill>
          <a:blip r:embed="rId3"/>
          <a:stretch>
            <a:fillRect/>
          </a:stretch>
        </p:blipFill>
        <p:spPr>
          <a:xfrm>
            <a:off x="8452261" y="1518496"/>
            <a:ext cx="2901539" cy="2658995"/>
          </a:xfrm>
          <a:prstGeom prst="rect">
            <a:avLst/>
          </a:prstGeom>
        </p:spPr>
      </p:pic>
      <p:pic>
        <p:nvPicPr>
          <p:cNvPr id="8" name="圖片 7">
            <a:extLst>
              <a:ext uri="{FF2B5EF4-FFF2-40B4-BE49-F238E27FC236}">
                <a16:creationId xmlns:a16="http://schemas.microsoft.com/office/drawing/2014/main" id="{26F53CCB-E705-A81A-6982-F42471778785}"/>
              </a:ext>
            </a:extLst>
          </p:cNvPr>
          <p:cNvPicPr>
            <a:picLocks noChangeAspect="1"/>
          </p:cNvPicPr>
          <p:nvPr/>
        </p:nvPicPr>
        <p:blipFill>
          <a:blip r:embed="rId4"/>
          <a:stretch>
            <a:fillRect/>
          </a:stretch>
        </p:blipFill>
        <p:spPr>
          <a:xfrm>
            <a:off x="8247413" y="4485724"/>
            <a:ext cx="3188371" cy="2114029"/>
          </a:xfrm>
          <a:prstGeom prst="rect">
            <a:avLst/>
          </a:prstGeom>
        </p:spPr>
      </p:pic>
    </p:spTree>
    <p:extLst>
      <p:ext uri="{BB962C8B-B14F-4D97-AF65-F5344CB8AC3E}">
        <p14:creationId xmlns:p14="http://schemas.microsoft.com/office/powerpoint/2010/main" val="244147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90557-C581-C505-0338-15815FF3D7D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8039E21-920E-AD83-2001-7BC3FD73EFAE}"/>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Solution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B5F559E-D4A0-2A1D-BBE3-1C35748D8E82}"/>
              </a:ext>
            </a:extLst>
          </p:cNvPr>
          <p:cNvSpPr>
            <a:spLocks noGrp="1"/>
          </p:cNvSpPr>
          <p:nvPr>
            <p:ph idx="1"/>
          </p:nvPr>
        </p:nvSpPr>
        <p:spPr>
          <a:xfrm>
            <a:off x="838200" y="1825625"/>
            <a:ext cx="10467109" cy="4351338"/>
          </a:xfrm>
        </p:spPr>
        <p:txBody>
          <a:bodyPr>
            <a:normAutofit/>
          </a:bodyPr>
          <a:lstStyle/>
          <a:p>
            <a:r>
              <a:rPr lang="en-US" altLang="zh-TW" sz="2000" dirty="0"/>
              <a:t>Propose </a:t>
            </a:r>
            <a:r>
              <a:rPr lang="en-US" altLang="zh-TW" sz="2000" i="1" dirty="0" err="1"/>
              <a:t>PagedAttention</a:t>
            </a:r>
            <a:r>
              <a:rPr lang="en-US" altLang="zh-TW" sz="2000" dirty="0"/>
              <a:t>, an </a:t>
            </a:r>
            <a:r>
              <a:rPr lang="en-US" altLang="zh-TW" sz="2000" dirty="0">
                <a:solidFill>
                  <a:srgbClr val="FF0000"/>
                </a:solidFill>
              </a:rPr>
              <a:t>attention algorithm inspired by the operating system’s (OS) </a:t>
            </a:r>
            <a:r>
              <a:rPr lang="en-US" altLang="zh-TW" sz="2000" dirty="0"/>
              <a:t>solution to memory fragmentation and sharing: </a:t>
            </a:r>
            <a:r>
              <a:rPr lang="en-US" altLang="zh-TW" sz="2000" dirty="0">
                <a:solidFill>
                  <a:srgbClr val="FF0000"/>
                </a:solidFill>
              </a:rPr>
              <a:t>virtual memory with paging</a:t>
            </a:r>
          </a:p>
          <a:p>
            <a:r>
              <a:rPr lang="en-US" altLang="zh-TW" sz="2000" dirty="0">
                <a:solidFill>
                  <a:srgbClr val="FF0000"/>
                </a:solidFill>
              </a:rPr>
              <a:t>Divides the request’s KV cache into blocks</a:t>
            </a:r>
            <a:r>
              <a:rPr lang="en-US" altLang="zh-TW" sz="2000" dirty="0"/>
              <a:t>, each of which can contain the attention keys and values of a fixed number of tokens.</a:t>
            </a:r>
          </a:p>
          <a:p>
            <a:r>
              <a:rPr lang="en-US" altLang="zh-TW" sz="2000" dirty="0"/>
              <a:t>The blocks for the KV cache are not necessarily stored in contiguous space</a:t>
            </a:r>
          </a:p>
          <a:p>
            <a:r>
              <a:rPr lang="en-US" altLang="zh-TW" sz="2000" dirty="0"/>
              <a:t>Build </a:t>
            </a:r>
            <a:r>
              <a:rPr lang="en-US" altLang="zh-TW" sz="2000" dirty="0" err="1"/>
              <a:t>vLLM</a:t>
            </a:r>
            <a:r>
              <a:rPr lang="en-US" altLang="zh-TW" sz="2000" dirty="0"/>
              <a:t>, a high-throughput </a:t>
            </a:r>
            <a:r>
              <a:rPr lang="en-US" altLang="zh-TW" sz="2000" dirty="0">
                <a:solidFill>
                  <a:srgbClr val="FF0000"/>
                </a:solidFill>
              </a:rPr>
              <a:t>distributed LLM serving engine on top of </a:t>
            </a:r>
            <a:r>
              <a:rPr lang="en-US" altLang="zh-TW" sz="2000" dirty="0" err="1">
                <a:solidFill>
                  <a:srgbClr val="FF0000"/>
                </a:solidFill>
              </a:rPr>
              <a:t>PagedAttention</a:t>
            </a:r>
            <a:r>
              <a:rPr lang="en-US" altLang="zh-TW" sz="2000" dirty="0">
                <a:solidFill>
                  <a:srgbClr val="FF0000"/>
                </a:solidFill>
              </a:rPr>
              <a:t> that achieves near-zero waste in KV cache memory</a:t>
            </a:r>
          </a:p>
          <a:p>
            <a:r>
              <a:rPr lang="en-US" altLang="zh-TW" sz="2000" dirty="0"/>
              <a:t>Evaluate </a:t>
            </a:r>
            <a:r>
              <a:rPr lang="en-US" altLang="zh-TW" sz="2000" dirty="0" err="1"/>
              <a:t>vLLM</a:t>
            </a:r>
            <a:r>
              <a:rPr lang="en-US" altLang="zh-TW" sz="2000" dirty="0"/>
              <a:t> on various scenarios and demonstrate that it substantially outperforms the previous state-of-the-art solutions such as </a:t>
            </a:r>
            <a:r>
              <a:rPr lang="en-US" altLang="zh-TW" sz="2000" dirty="0" err="1"/>
              <a:t>FasterTransformer</a:t>
            </a:r>
            <a:r>
              <a:rPr lang="en-US" altLang="zh-TW" sz="2000" dirty="0"/>
              <a:t> [31] and Orca [60].</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41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E61BC-E1CA-EF63-53B9-E7A3725AD5D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18D474-5F2A-7138-2A8A-3736AC3360ED}"/>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Outline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C960F8D-2129-D4E2-C9AD-1B2B39EE0820}"/>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Introduction</a:t>
            </a:r>
          </a:p>
          <a:p>
            <a:r>
              <a:rPr lang="en-US" altLang="zh-TW" sz="2400" dirty="0">
                <a:solidFill>
                  <a:srgbClr val="FF0000"/>
                </a:solidFill>
                <a:latin typeface="Times New Roman" panose="02020603050405020304" pitchFamily="18" charset="0"/>
                <a:cs typeface="Times New Roman" panose="02020603050405020304" pitchFamily="18" charset="0"/>
              </a:rPr>
              <a:t>Background</a:t>
            </a:r>
          </a:p>
          <a:p>
            <a:r>
              <a:rPr lang="en-US" altLang="zh-TW" sz="2400" dirty="0">
                <a:latin typeface="Times New Roman" panose="02020603050405020304" pitchFamily="18" charset="0"/>
                <a:cs typeface="Times New Roman" panose="02020603050405020304" pitchFamily="18" charset="0"/>
              </a:rPr>
              <a:t>Challenges</a:t>
            </a:r>
          </a:p>
          <a:p>
            <a:r>
              <a:rPr lang="en-US" altLang="zh-TW" sz="2400" dirty="0">
                <a:latin typeface="Times New Roman" panose="02020603050405020304" pitchFamily="18" charset="0"/>
                <a:cs typeface="Times New Roman" panose="02020603050405020304" pitchFamily="18" charset="0"/>
              </a:rPr>
              <a:t>Method</a:t>
            </a:r>
          </a:p>
          <a:p>
            <a:r>
              <a:rPr lang="en-US" altLang="zh-TW" sz="2400" dirty="0">
                <a:latin typeface="Times New Roman" panose="02020603050405020304" pitchFamily="18" charset="0"/>
                <a:cs typeface="Times New Roman" panose="02020603050405020304" pitchFamily="18" charset="0"/>
              </a:rPr>
              <a:t>Experiment</a:t>
            </a:r>
          </a:p>
          <a:p>
            <a:r>
              <a:rPr lang="en-US" altLang="zh-TW" sz="2400" dirty="0">
                <a:latin typeface="Times New Roman" panose="02020603050405020304" pitchFamily="18" charset="0"/>
                <a:cs typeface="Times New Roman" panose="02020603050405020304" pitchFamily="18" charset="0"/>
              </a:rPr>
              <a:t>Conclusion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34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2B2D4-26BC-F64C-6E41-B6A0693FA7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4B46FD3-698E-49CA-BEE1-24D86E580163}"/>
              </a:ext>
            </a:extLst>
          </p:cNvPr>
          <p:cNvSpPr>
            <a:spLocks noGrp="1"/>
          </p:cNvSpPr>
          <p:nvPr>
            <p:ph type="title"/>
          </p:nvPr>
        </p:nvSpPr>
        <p:spPr/>
        <p:txBody>
          <a:bodyPr/>
          <a:lstStyle/>
          <a:p>
            <a:pPr algn="ctr"/>
            <a:r>
              <a:rPr lang="en-US" altLang="zh-TW" dirty="0"/>
              <a:t>Transformer-Based LLMs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內容版面配置區 2">
                <a:extLst>
                  <a:ext uri="{FF2B5EF4-FFF2-40B4-BE49-F238E27FC236}">
                    <a16:creationId xmlns:a16="http://schemas.microsoft.com/office/drawing/2014/main" id="{2B8E0778-0CDD-D3AF-7503-D36AD6A87CCE}"/>
                  </a:ext>
                </a:extLst>
              </p:cNvPr>
              <p:cNvSpPr>
                <a:spLocks noGrp="1"/>
              </p:cNvSpPr>
              <p:nvPr>
                <p:ph idx="1"/>
              </p:nvPr>
            </p:nvSpPr>
            <p:spPr>
              <a:xfrm>
                <a:off x="838200" y="1825625"/>
                <a:ext cx="10467109" cy="4351338"/>
              </a:xfrm>
            </p:spPr>
            <p:txBody>
              <a:bodyPr>
                <a:normAutofit/>
              </a:bodyPr>
              <a:lstStyle/>
              <a:p>
                <a:r>
                  <a:rPr lang="en-US" altLang="zh-TW" sz="2000" dirty="0">
                    <a:cs typeface="Times New Roman" panose="02020603050405020304" pitchFamily="18" charset="0"/>
                  </a:rPr>
                  <a:t>The task of language modeling is to model the probability of a list of token </a:t>
                </a:r>
                <a14:m>
                  <m:oMath xmlns:m="http://schemas.openxmlformats.org/officeDocument/2006/math">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 …,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sub>
                        </m:sSub>
                      </m:e>
                    </m:d>
                  </m:oMath>
                </a14:m>
                <a:endParaRPr lang="en-US" altLang="zh-TW" sz="2000" dirty="0">
                  <a:cs typeface="Times New Roman" panose="02020603050405020304" pitchFamily="18" charset="0"/>
                </a:endParaRPr>
              </a:p>
              <a:p>
                <a:pPr marL="0" indent="0">
                  <a:buNone/>
                </a:pPr>
                <a:br>
                  <a:rPr lang="en-US" altLang="zh-TW" sz="200" dirty="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𝑃</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𝑥</m:t>
                          </m:r>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𝑃</m:t>
                      </m:r>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𝑃</m:t>
                      </m:r>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e>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𝑃</m:t>
                      </m:r>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3</m:t>
                              </m:r>
                            </m:sub>
                          </m:sSub>
                        </m:e>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𝑃</m:t>
                      </m:r>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 …,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oMath>
                  </m:oMathPara>
                </a14:m>
                <a:endParaRPr lang="en-US" altLang="zh-TW" sz="2000" dirty="0">
                  <a:cs typeface="Times New Roman" panose="02020603050405020304" pitchFamily="18" charset="0"/>
                </a:endParaRPr>
              </a:p>
              <a:p>
                <a:pPr marL="0" indent="0">
                  <a:buNone/>
                </a:pPr>
                <a:endParaRPr lang="en-US" altLang="zh-TW" sz="200" dirty="0">
                  <a:cs typeface="Times New Roman" panose="02020603050405020304" pitchFamily="18" charset="0"/>
                </a:endParaRPr>
              </a:p>
              <a:p>
                <a:r>
                  <a:rPr lang="en-US" altLang="zh-TW" sz="2000" dirty="0">
                    <a:cs typeface="Times New Roman" panose="02020603050405020304" pitchFamily="18" charset="0"/>
                  </a:rPr>
                  <a:t>The most important part of a Transformer-based language modeling is its </a:t>
                </a:r>
                <a:r>
                  <a:rPr lang="en-US" altLang="zh-TW" sz="2000" dirty="0">
                    <a:solidFill>
                      <a:srgbClr val="FF0000"/>
                    </a:solidFill>
                    <a:cs typeface="Times New Roman" panose="02020603050405020304" pitchFamily="18" charset="0"/>
                  </a:rPr>
                  <a:t>self-attention</a:t>
                </a:r>
                <a:r>
                  <a:rPr lang="en-US" altLang="zh-TW" sz="2000" dirty="0">
                    <a:cs typeface="Times New Roman" panose="02020603050405020304" pitchFamily="18" charset="0"/>
                  </a:rPr>
                  <a:t> layers</a:t>
                </a:r>
                <a:br>
                  <a:rPr lang="en-US" altLang="zh-TW" sz="2000" dirty="0">
                    <a:cs typeface="Times New Roman" panose="02020603050405020304" pitchFamily="18" charset="0"/>
                  </a:rPr>
                </a:br>
                <a:r>
                  <a:rPr lang="en-US" altLang="zh-TW" sz="2000" dirty="0">
                    <a:cs typeface="Times New Roman" panose="02020603050405020304" pitchFamily="18" charset="0"/>
                  </a:rPr>
                  <a:t>Assume </a:t>
                </a:r>
                <a14:m>
                  <m:oMath xmlns:m="http://schemas.openxmlformats.org/officeDocument/2006/math">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 …,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sub>
                        </m:sSub>
                      </m:e>
                    </m:d>
                    <m:r>
                      <a:rPr lang="en-US" altLang="zh-TW" sz="2000" b="0" i="1" smtClean="0">
                        <a:latin typeface="Cambria Math" panose="02040503050406030204" pitchFamily="18" charset="0"/>
                        <a:cs typeface="Times New Roman" panose="02020603050405020304" pitchFamily="18" charset="0"/>
                      </a:rPr>
                      <m:t>∈</m:t>
                    </m:r>
                    <m:sSup>
                      <m:sSupPr>
                        <m:ctrlPr>
                          <a:rPr lang="en-US" altLang="zh-TW" sz="2000" b="0" i="1" smtClean="0">
                            <a:latin typeface="Cambria Math" panose="02040503050406030204" pitchFamily="18" charset="0"/>
                            <a:cs typeface="Times New Roman" panose="02020603050405020304" pitchFamily="18" charset="0"/>
                          </a:rPr>
                        </m:ctrlPr>
                      </m:sSupPr>
                      <m:e>
                        <m:r>
                          <a:rPr lang="en-US" altLang="zh-TW" sz="2000" b="0" i="1" smtClean="0">
                            <a:latin typeface="Cambria Math" panose="02040503050406030204" pitchFamily="18" charset="0"/>
                            <a:cs typeface="Times New Roman" panose="02020603050405020304" pitchFamily="18" charset="0"/>
                          </a:rPr>
                          <m:t>ℝ</m:t>
                        </m:r>
                      </m:e>
                      <m:sup>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𝑑</m:t>
                        </m:r>
                      </m:sup>
                    </m:sSup>
                  </m:oMath>
                </a14:m>
                <a:r>
                  <a:rPr lang="en-US" altLang="zh-TW" sz="2000" dirty="0">
                    <a:cs typeface="Times New Roman" panose="02020603050405020304" pitchFamily="18" charset="0"/>
                  </a:rPr>
                  <a:t> is the input hidden state sequence</a:t>
                </a:r>
              </a:p>
              <a:p>
                <a:pPr marL="0" indent="0">
                  <a:buNone/>
                </a:pPr>
                <a:endParaRPr lang="en-US" altLang="zh-TW" sz="2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𝑞</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𝑊</m:t>
                          </m:r>
                        </m:e>
                        <m:sub>
                          <m:r>
                            <a:rPr lang="en-US" altLang="zh-TW" sz="2000" b="0" i="1" smtClean="0">
                              <a:latin typeface="Cambria Math" panose="02040503050406030204" pitchFamily="18" charset="0"/>
                              <a:cs typeface="Times New Roman" panose="02020603050405020304" pitchFamily="18" charset="0"/>
                            </a:rPr>
                            <m:t>𝑞</m:t>
                          </m:r>
                        </m:sub>
                      </m:sSub>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 </m:t>
                      </m:r>
                      <m:r>
                        <m:rPr>
                          <m:lit/>
                        </m:rP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𝑘</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𝑊</m:t>
                          </m:r>
                        </m:e>
                        <m:sub>
                          <m:r>
                            <a:rPr lang="en-US" altLang="zh-TW" sz="2000" b="0" i="1" smtClean="0">
                              <a:latin typeface="Cambria Math" panose="02040503050406030204" pitchFamily="18" charset="0"/>
                              <a:cs typeface="Times New Roman" panose="02020603050405020304" pitchFamily="18" charset="0"/>
                            </a:rPr>
                            <m:t>𝑘</m:t>
                          </m:r>
                        </m:sub>
                      </m:sSub>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 </m:t>
                      </m:r>
                      <m:r>
                        <m:rPr>
                          <m:lit/>
                        </m:rP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𝑊</m:t>
                          </m:r>
                        </m:e>
                        <m:sub>
                          <m:r>
                            <a:rPr lang="en-US" altLang="zh-TW" sz="2000" b="0" i="1" smtClean="0">
                              <a:latin typeface="Cambria Math" panose="02040503050406030204" pitchFamily="18" charset="0"/>
                              <a:cs typeface="Times New Roman" panose="02020603050405020304" pitchFamily="18" charset="0"/>
                            </a:rPr>
                            <m:t>𝑣</m:t>
                          </m:r>
                        </m:sub>
                      </m:sSub>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𝑖</m:t>
                          </m:r>
                        </m:sub>
                      </m:sSub>
                    </m:oMath>
                  </m:oMathPara>
                </a14:m>
                <a:endParaRPr lang="en-US" altLang="zh-TW" sz="2000" dirty="0">
                  <a:cs typeface="Times New Roman" panose="02020603050405020304" pitchFamily="18" charset="0"/>
                </a:endParaRPr>
              </a:p>
              <a:p>
                <a:pPr marL="0" indent="0">
                  <a:buNone/>
                </a:pPr>
                <a:endParaRPr lang="en-US" altLang="zh-TW" sz="2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𝑎</m:t>
                          </m:r>
                        </m:e>
                        <m:sub>
                          <m:r>
                            <a:rPr lang="en-US" altLang="zh-TW" sz="2000" b="0" i="1" smtClean="0">
                              <a:latin typeface="Cambria Math" panose="02040503050406030204" pitchFamily="18" charset="0"/>
                              <a:cs typeface="Times New Roman" panose="02020603050405020304" pitchFamily="18" charset="0"/>
                            </a:rPr>
                            <m:t>𝑖𝑗</m:t>
                          </m:r>
                        </m:sub>
                      </m:sSub>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func>
                            <m:funcPr>
                              <m:ctrlPr>
                                <a:rPr lang="en-US" altLang="zh-TW" sz="2000" b="0" i="1" smtClean="0">
                                  <a:latin typeface="Cambria Math" panose="02040503050406030204" pitchFamily="18" charset="0"/>
                                  <a:cs typeface="Times New Roman" panose="02020603050405020304" pitchFamily="18" charset="0"/>
                                </a:rPr>
                              </m:ctrlPr>
                            </m:funcPr>
                            <m:fName>
                              <m:r>
                                <m:rPr>
                                  <m:sty m:val="p"/>
                                </m:rPr>
                                <a:rPr lang="en-US" altLang="zh-TW" sz="2000" b="0" i="0" smtClean="0">
                                  <a:latin typeface="Cambria Math" panose="02040503050406030204" pitchFamily="18" charset="0"/>
                                  <a:cs typeface="Times New Roman" panose="02020603050405020304" pitchFamily="18" charset="0"/>
                                </a:rPr>
                                <m:t>exp</m:t>
                              </m:r>
                            </m:fName>
                            <m:e>
                              <m:d>
                                <m:dPr>
                                  <m:ctrlPr>
                                    <a:rPr lang="en-US" altLang="zh-TW" sz="2000" b="0" i="1" smtClean="0">
                                      <a:latin typeface="Cambria Math" panose="02040503050406030204" pitchFamily="18" charset="0"/>
                                      <a:cs typeface="Times New Roman" panose="02020603050405020304" pitchFamily="18" charset="0"/>
                                    </a:rPr>
                                  </m:ctrlPr>
                                </m:dPr>
                                <m:e>
                                  <m:sSubSup>
                                    <m:sSubSupPr>
                                      <m:ctrlPr>
                                        <a:rPr lang="en-US" altLang="zh-TW" sz="2000" b="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𝑞</m:t>
                                      </m:r>
                                    </m:e>
                                    <m:sub>
                                      <m:r>
                                        <a:rPr lang="en-US" altLang="zh-TW" sz="2000" b="0" i="1" smtClean="0">
                                          <a:latin typeface="Cambria Math" panose="02040503050406030204" pitchFamily="18" charset="0"/>
                                          <a:cs typeface="Times New Roman" panose="02020603050405020304" pitchFamily="18" charset="0"/>
                                        </a:rPr>
                                        <m:t>𝑖</m:t>
                                      </m:r>
                                    </m:sub>
                                    <m:sup>
                                      <m:r>
                                        <a:rPr lang="en-US" altLang="zh-TW" sz="2000" b="0" i="1" smtClean="0">
                                          <a:latin typeface="Cambria Math" panose="02040503050406030204" pitchFamily="18" charset="0"/>
                                          <a:cs typeface="Times New Roman" panose="02020603050405020304" pitchFamily="18" charset="0"/>
                                        </a:rPr>
                                        <m:t>𝑇</m:t>
                                      </m:r>
                                    </m:sup>
                                  </m:sSubSup>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𝑘</m:t>
                                      </m:r>
                                    </m:e>
                                    <m:sub>
                                      <m:r>
                                        <a:rPr lang="en-US" altLang="zh-TW" sz="2000" b="0" i="1" smtClean="0">
                                          <a:latin typeface="Cambria Math" panose="02040503050406030204" pitchFamily="18" charset="0"/>
                                          <a:cs typeface="Times New Roman" panose="02020603050405020304" pitchFamily="18" charset="0"/>
                                        </a:rPr>
                                        <m:t>𝑗</m:t>
                                      </m:r>
                                    </m:sub>
                                  </m:sSub>
                                  <m:r>
                                    <m:rPr>
                                      <m:lit/>
                                    </m:rPr>
                                    <a:rPr lang="en-US" altLang="zh-TW" sz="2000" b="0" i="1" smtClean="0">
                                      <a:latin typeface="Cambria Math" panose="02040503050406030204" pitchFamily="18" charset="0"/>
                                      <a:cs typeface="Times New Roman" panose="02020603050405020304" pitchFamily="18" charset="0"/>
                                    </a:rPr>
                                    <m:t>/</m:t>
                                  </m:r>
                                  <m:rad>
                                    <m:radPr>
                                      <m:degHide m:val="on"/>
                                      <m:ctrlPr>
                                        <a:rPr lang="en-US" altLang="zh-TW" sz="2000" b="0" i="1" smtClean="0">
                                          <a:latin typeface="Cambria Math" panose="02040503050406030204" pitchFamily="18" charset="0"/>
                                          <a:cs typeface="Times New Roman" panose="02020603050405020304" pitchFamily="18" charset="0"/>
                                        </a:rPr>
                                      </m:ctrlPr>
                                    </m:radPr>
                                    <m:deg/>
                                    <m:e>
                                      <m:r>
                                        <a:rPr lang="en-US" altLang="zh-TW" sz="2000" b="0" i="1" smtClean="0">
                                          <a:latin typeface="Cambria Math" panose="02040503050406030204" pitchFamily="18" charset="0"/>
                                          <a:cs typeface="Times New Roman" panose="02020603050405020304" pitchFamily="18" charset="0"/>
                                        </a:rPr>
                                        <m:t>𝑑</m:t>
                                      </m:r>
                                    </m:e>
                                  </m:rad>
                                </m:e>
                              </m:d>
                            </m:e>
                          </m:func>
                        </m:num>
                        <m:den>
                          <m:nary>
                            <m:naryPr>
                              <m:chr m:val="∑"/>
                              <m:ctrlPr>
                                <a:rPr lang="en-US" altLang="zh-TW" sz="2000" b="0" i="1" smtClean="0">
                                  <a:latin typeface="Cambria Math" panose="02040503050406030204" pitchFamily="18" charset="0"/>
                                  <a:cs typeface="Times New Roman" panose="02020603050405020304" pitchFamily="18" charset="0"/>
                                </a:rPr>
                              </m:ctrlPr>
                            </m:naryPr>
                            <m:sub>
                              <m:r>
                                <a:rPr lang="en-US" altLang="zh-TW" sz="2000" b="0" i="1" smtClean="0">
                                  <a:latin typeface="Cambria Math" panose="02040503050406030204" pitchFamily="18" charset="0"/>
                                  <a:cs typeface="Times New Roman" panose="02020603050405020304" pitchFamily="18" charset="0"/>
                                </a:rPr>
                                <m:t>𝑡</m:t>
                              </m:r>
                              <m:r>
                                <a:rPr lang="en-US" altLang="zh-TW" sz="2000" b="0" i="1" smtClean="0">
                                  <a:latin typeface="Cambria Math" panose="02040503050406030204" pitchFamily="18" charset="0"/>
                                  <a:cs typeface="Times New Roman" panose="02020603050405020304" pitchFamily="18" charset="0"/>
                                </a:rPr>
                                <m:t>=1</m:t>
                              </m:r>
                            </m:sub>
                            <m:sup>
                              <m:r>
                                <a:rPr lang="en-US" altLang="zh-TW" sz="2000" b="0" i="1" smtClean="0">
                                  <a:latin typeface="Cambria Math" panose="02040503050406030204" pitchFamily="18" charset="0"/>
                                  <a:cs typeface="Times New Roman" panose="02020603050405020304" pitchFamily="18" charset="0"/>
                                </a:rPr>
                                <m:t>𝑖</m:t>
                              </m:r>
                            </m:sup>
                            <m:e>
                              <m:func>
                                <m:funcPr>
                                  <m:ctrlPr>
                                    <a:rPr lang="en-US" altLang="zh-TW" sz="2000" b="0" i="1" smtClean="0">
                                      <a:latin typeface="Cambria Math" panose="02040503050406030204" pitchFamily="18" charset="0"/>
                                      <a:cs typeface="Times New Roman" panose="02020603050405020304" pitchFamily="18" charset="0"/>
                                    </a:rPr>
                                  </m:ctrlPr>
                                </m:funcPr>
                                <m:fName>
                                  <m:r>
                                    <m:rPr>
                                      <m:sty m:val="p"/>
                                    </m:rPr>
                                    <a:rPr lang="en-US" altLang="zh-TW" sz="2000" b="0" i="0" smtClean="0">
                                      <a:latin typeface="Cambria Math" panose="02040503050406030204" pitchFamily="18" charset="0"/>
                                      <a:cs typeface="Times New Roman" panose="02020603050405020304" pitchFamily="18" charset="0"/>
                                    </a:rPr>
                                    <m:t>exp</m:t>
                                  </m:r>
                                </m:fName>
                                <m:e>
                                  <m:d>
                                    <m:dPr>
                                      <m:ctrlPr>
                                        <a:rPr lang="en-US" altLang="zh-TW" sz="2000" b="0" i="1" smtClean="0">
                                          <a:latin typeface="Cambria Math" panose="02040503050406030204" pitchFamily="18" charset="0"/>
                                          <a:cs typeface="Times New Roman" panose="02020603050405020304" pitchFamily="18" charset="0"/>
                                        </a:rPr>
                                      </m:ctrlPr>
                                    </m:dPr>
                                    <m:e>
                                      <m:sSubSup>
                                        <m:sSubSupPr>
                                          <m:ctrlPr>
                                            <a:rPr lang="en-US" altLang="zh-TW" sz="2000" b="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𝑞</m:t>
                                          </m:r>
                                        </m:e>
                                        <m:sub>
                                          <m:r>
                                            <a:rPr lang="en-US" altLang="zh-TW" sz="2000" b="0" i="1" smtClean="0">
                                              <a:latin typeface="Cambria Math" panose="02040503050406030204" pitchFamily="18" charset="0"/>
                                              <a:cs typeface="Times New Roman" panose="02020603050405020304" pitchFamily="18" charset="0"/>
                                            </a:rPr>
                                            <m:t>𝑖</m:t>
                                          </m:r>
                                        </m:sub>
                                        <m:sup>
                                          <m:r>
                                            <a:rPr lang="en-US" altLang="zh-TW" sz="2000" b="0" i="1" smtClean="0">
                                              <a:latin typeface="Cambria Math" panose="02040503050406030204" pitchFamily="18" charset="0"/>
                                              <a:cs typeface="Times New Roman" panose="02020603050405020304" pitchFamily="18" charset="0"/>
                                            </a:rPr>
                                            <m:t>𝑇</m:t>
                                          </m:r>
                                        </m:sup>
                                      </m:sSubSup>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𝑘</m:t>
                                          </m:r>
                                        </m:e>
                                        <m:sub>
                                          <m:r>
                                            <a:rPr lang="en-US" altLang="zh-TW" sz="2000" b="0" i="1" smtClean="0">
                                              <a:latin typeface="Cambria Math" panose="02040503050406030204" pitchFamily="18" charset="0"/>
                                              <a:cs typeface="Times New Roman" panose="02020603050405020304" pitchFamily="18" charset="0"/>
                                            </a:rPr>
                                            <m:t>𝑡</m:t>
                                          </m:r>
                                        </m:sub>
                                      </m:sSub>
                                      <m:r>
                                        <m:rPr>
                                          <m:lit/>
                                        </m:rPr>
                                        <a:rPr lang="en-US" altLang="zh-TW" sz="2000" b="0" i="1" smtClean="0">
                                          <a:latin typeface="Cambria Math" panose="02040503050406030204" pitchFamily="18" charset="0"/>
                                          <a:cs typeface="Times New Roman" panose="02020603050405020304" pitchFamily="18" charset="0"/>
                                        </a:rPr>
                                        <m:t>/</m:t>
                                      </m:r>
                                      <m:rad>
                                        <m:radPr>
                                          <m:degHide m:val="on"/>
                                          <m:ctrlPr>
                                            <a:rPr lang="en-US" altLang="zh-TW" sz="2000" b="0" i="1" smtClean="0">
                                              <a:latin typeface="Cambria Math" panose="02040503050406030204" pitchFamily="18" charset="0"/>
                                              <a:cs typeface="Times New Roman" panose="02020603050405020304" pitchFamily="18" charset="0"/>
                                            </a:rPr>
                                          </m:ctrlPr>
                                        </m:radPr>
                                        <m:deg/>
                                        <m:e>
                                          <m:r>
                                            <a:rPr lang="en-US" altLang="zh-TW" sz="2000" b="0" i="1" smtClean="0">
                                              <a:latin typeface="Cambria Math" panose="02040503050406030204" pitchFamily="18" charset="0"/>
                                              <a:cs typeface="Times New Roman" panose="02020603050405020304" pitchFamily="18" charset="0"/>
                                            </a:rPr>
                                            <m:t>𝑑</m:t>
                                          </m:r>
                                        </m:e>
                                      </m:rad>
                                    </m:e>
                                  </m:d>
                                </m:e>
                              </m:func>
                            </m:e>
                          </m:nary>
                        </m:den>
                      </m:f>
                      <m:r>
                        <a:rPr lang="en-US" altLang="zh-TW" sz="2000" b="0" i="1" smtClean="0">
                          <a:latin typeface="Cambria Math" panose="02040503050406030204" pitchFamily="18" charset="0"/>
                          <a:cs typeface="Times New Roman" panose="02020603050405020304" pitchFamily="18" charset="0"/>
                        </a:rPr>
                        <m:t>,</m:t>
                      </m:r>
                      <m:r>
                        <m:rPr>
                          <m:lit/>
                        </m:rP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𝑜</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m:t>
                      </m:r>
                      <m:nary>
                        <m:naryPr>
                          <m:chr m:val="∑"/>
                          <m:ctrlPr>
                            <a:rPr lang="en-US" altLang="zh-TW" sz="2000" b="0" i="1" smtClean="0">
                              <a:latin typeface="Cambria Math" panose="02040503050406030204" pitchFamily="18" charset="0"/>
                              <a:cs typeface="Times New Roman" panose="02020603050405020304" pitchFamily="18" charset="0"/>
                            </a:rPr>
                          </m:ctrlPr>
                        </m:naryPr>
                        <m:sub>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=1</m:t>
                          </m:r>
                        </m:sub>
                        <m:sup>
                          <m:r>
                            <a:rPr lang="en-US" altLang="zh-TW" sz="2000" b="0" i="1" smtClean="0">
                              <a:latin typeface="Cambria Math" panose="02040503050406030204" pitchFamily="18" charset="0"/>
                              <a:cs typeface="Times New Roman" panose="02020603050405020304" pitchFamily="18" charset="0"/>
                            </a:rPr>
                            <m:t>𝑖</m:t>
                          </m:r>
                        </m:sup>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𝑎</m:t>
                              </m:r>
                            </m:e>
                            <m:sub>
                              <m:r>
                                <a:rPr lang="en-US" altLang="zh-TW" sz="2000" b="0" i="1" smtClean="0">
                                  <a:latin typeface="Cambria Math" panose="02040503050406030204" pitchFamily="18" charset="0"/>
                                  <a:cs typeface="Times New Roman" panose="02020603050405020304" pitchFamily="18" charset="0"/>
                                </a:rPr>
                                <m:t>𝑖𝑗</m:t>
                              </m:r>
                            </m:sub>
                          </m:sSub>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𝑖</m:t>
                              </m:r>
                            </m:sub>
                          </m:sSub>
                        </m:e>
                      </m:nary>
                    </m:oMath>
                  </m:oMathPara>
                </a14:m>
                <a:endParaRPr lang="en-US" altLang="zh-TW" sz="2000" dirty="0">
                  <a:cs typeface="Times New Roman" panose="02020603050405020304" pitchFamily="18" charset="0"/>
                </a:endParaRPr>
              </a:p>
              <a:p>
                <a:pPr marL="0" indent="0">
                  <a:buNone/>
                </a:pPr>
                <a:br>
                  <a:rPr lang="en-US" altLang="zh-TW" sz="200" dirty="0">
                    <a:cs typeface="Times New Roman" panose="02020603050405020304" pitchFamily="18" charset="0"/>
                  </a:rPr>
                </a:br>
                <a:endParaRPr lang="en-US" altLang="zh-TW" sz="200" dirty="0">
                  <a:cs typeface="Times New Roman" panose="02020603050405020304" pitchFamily="18" charset="0"/>
                </a:endParaRPr>
              </a:p>
              <a:p>
                <a:r>
                  <a:rPr lang="en-US" altLang="zh-TW" sz="2000" dirty="0">
                    <a:cs typeface="Times New Roman" panose="02020603050405020304" pitchFamily="18" charset="0"/>
                  </a:rPr>
                  <a:t>Besides the above computation, </a:t>
                </a:r>
                <a:r>
                  <a:rPr lang="en-US" altLang="zh-TW" sz="2000" dirty="0">
                    <a:solidFill>
                      <a:srgbClr val="FF0000"/>
                    </a:solidFill>
                    <a:cs typeface="Times New Roman" panose="02020603050405020304" pitchFamily="18" charset="0"/>
                  </a:rPr>
                  <a:t>other components in the Transformer model are all computed independently</a:t>
                </a:r>
              </a:p>
              <a:p>
                <a:pPr marL="0" indent="0">
                  <a:buNone/>
                </a:pPr>
                <a:endParaRPr lang="zh-TW" altLang="en-US" sz="2000" dirty="0">
                  <a:cs typeface="Times New Roman" panose="02020603050405020304" pitchFamily="18" charset="0"/>
                </a:endParaRPr>
              </a:p>
            </p:txBody>
          </p:sp>
        </mc:Choice>
        <mc:Fallback>
          <p:sp>
            <p:nvSpPr>
              <p:cNvPr id="4" name="內容版面配置區 2">
                <a:extLst>
                  <a:ext uri="{FF2B5EF4-FFF2-40B4-BE49-F238E27FC236}">
                    <a16:creationId xmlns:a16="http://schemas.microsoft.com/office/drawing/2014/main" id="{2B8E0778-0CDD-D3AF-7503-D36AD6A87CCE}"/>
                  </a:ext>
                </a:extLst>
              </p:cNvPr>
              <p:cNvSpPr>
                <a:spLocks noGrp="1" noRot="1" noChangeAspect="1" noMove="1" noResize="1" noEditPoints="1" noAdjustHandles="1" noChangeArrowheads="1" noChangeShapeType="1" noTextEdit="1"/>
              </p:cNvSpPr>
              <p:nvPr>
                <p:ph idx="1"/>
              </p:nvPr>
            </p:nvSpPr>
            <p:spPr>
              <a:xfrm>
                <a:off x="838200" y="1825625"/>
                <a:ext cx="10467109" cy="4351338"/>
              </a:xfrm>
              <a:blipFill>
                <a:blip r:embed="rId2"/>
                <a:stretch>
                  <a:fillRect l="-524" t="-12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75576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A0AE-7B82-8DBF-EA87-6D83D015DFC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10C6E6-BB07-E6FB-63AD-1C1581ADBD5A}"/>
              </a:ext>
            </a:extLst>
          </p:cNvPr>
          <p:cNvSpPr>
            <a:spLocks noGrp="1"/>
          </p:cNvSpPr>
          <p:nvPr>
            <p:ph type="title"/>
          </p:nvPr>
        </p:nvSpPr>
        <p:spPr/>
        <p:txBody>
          <a:bodyPr/>
          <a:lstStyle/>
          <a:p>
            <a:pPr algn="ctr"/>
            <a:r>
              <a:rPr lang="en-US" altLang="zh-TW" dirty="0"/>
              <a:t>LLM Service &amp; Autoregressive Generation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內容版面配置區 2">
                <a:extLst>
                  <a:ext uri="{FF2B5EF4-FFF2-40B4-BE49-F238E27FC236}">
                    <a16:creationId xmlns:a16="http://schemas.microsoft.com/office/drawing/2014/main" id="{7A845389-2108-27CD-6072-C1FADCEBC1E9}"/>
                  </a:ext>
                </a:extLst>
              </p:cNvPr>
              <p:cNvSpPr>
                <a:spLocks noGrp="1"/>
              </p:cNvSpPr>
              <p:nvPr>
                <p:ph idx="1"/>
              </p:nvPr>
            </p:nvSpPr>
            <p:spPr>
              <a:xfrm>
                <a:off x="838200" y="1825625"/>
                <a:ext cx="10467109" cy="5115502"/>
              </a:xfrm>
            </p:spPr>
            <p:txBody>
              <a:bodyPr>
                <a:normAutofit/>
              </a:bodyPr>
              <a:lstStyle/>
              <a:p>
                <a:r>
                  <a:rPr lang="en-US" altLang="zh-TW" sz="2000" dirty="0">
                    <a:cs typeface="Times New Roman" panose="02020603050405020304" pitchFamily="18" charset="0"/>
                  </a:rPr>
                  <a:t>A request to an LLM service provides a list of input prompt tokens </a:t>
                </a:r>
                <a14:m>
                  <m:oMath xmlns:m="http://schemas.openxmlformats.org/officeDocument/2006/math">
                    <m:d>
                      <m:dPr>
                        <m:ctrlPr>
                          <a:rPr lang="en-US" altLang="zh-TW" sz="2000" b="0" i="1"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 …,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𝑛</m:t>
                            </m:r>
                          </m:sub>
                        </m:sSub>
                      </m:e>
                    </m:d>
                  </m:oMath>
                </a14:m>
                <a:r>
                  <a:rPr lang="en-US" altLang="zh-TW" sz="2000" dirty="0">
                    <a:cs typeface="Times New Roman" panose="02020603050405020304" pitchFamily="18" charset="0"/>
                  </a:rPr>
                  <a:t>, and the LLM service generates a list of output tokens </a:t>
                </a:r>
                <a14:m>
                  <m:oMath xmlns:m="http://schemas.openxmlformats.org/officeDocument/2006/math">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𝑛</m:t>
                        </m:r>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𝑛</m:t>
                        </m:r>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 …,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𝑛</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𝑇</m:t>
                        </m:r>
                      </m:sub>
                    </m:sSub>
                    <m:r>
                      <a:rPr lang="en-US" altLang="zh-TW" sz="2000" b="0" i="1" smtClean="0">
                        <a:latin typeface="Cambria Math" panose="02040503050406030204" pitchFamily="18" charset="0"/>
                      </a:rPr>
                      <m:t>)</m:t>
                    </m:r>
                  </m:oMath>
                </a14:m>
                <a:endParaRPr lang="en-US" altLang="zh-TW" sz="2000" dirty="0">
                  <a:cs typeface="Times New Roman" panose="02020603050405020304" pitchFamily="18" charset="0"/>
                </a:endParaRPr>
              </a:p>
              <a:p>
                <a:r>
                  <a:rPr lang="en-US" altLang="zh-TW" sz="2000" dirty="0">
                    <a:cs typeface="Times New Roman" panose="02020603050405020304" pitchFamily="18" charset="0"/>
                  </a:rPr>
                  <a:t>Given a request prompt, the generation computation in the LLM service can be decomposed into 2 phases</a:t>
                </a:r>
                <a:endParaRPr lang="en-US" altLang="zh-TW" sz="2000" b="1" dirty="0">
                  <a:solidFill>
                    <a:srgbClr val="FF0000"/>
                  </a:solidFill>
                  <a:cs typeface="Times New Roman" panose="02020603050405020304" pitchFamily="18" charset="0"/>
                </a:endParaRPr>
              </a:p>
              <a:p>
                <a:pPr marL="800100" lvl="1" indent="-342900">
                  <a:lnSpc>
                    <a:spcPts val="2400"/>
                  </a:lnSpc>
                  <a:buFont typeface="+mj-lt"/>
                  <a:buAutoNum type="arabicPeriod"/>
                </a:pPr>
                <a:r>
                  <a:rPr lang="en-US" altLang="zh-TW" sz="2000" b="1" dirty="0">
                    <a:cs typeface="Times New Roman" panose="02020603050405020304" pitchFamily="18" charset="0"/>
                  </a:rPr>
                  <a:t>The prompt phase (Prefill)</a:t>
                </a:r>
                <a:br>
                  <a:rPr lang="en-US" altLang="zh-TW" sz="2000" b="1" dirty="0">
                    <a:cs typeface="Times New Roman" panose="02020603050405020304" pitchFamily="18" charset="0"/>
                  </a:rPr>
                </a:br>
                <a:r>
                  <a:rPr lang="en-US" altLang="zh-TW" sz="2000" b="1" dirty="0">
                    <a:cs typeface="Times New Roman" panose="02020603050405020304" pitchFamily="18" charset="0"/>
                  </a:rPr>
                  <a:t>       </a:t>
                </a:r>
                <a:r>
                  <a:rPr lang="en-US" altLang="zh-TW" sz="2000" dirty="0">
                    <a:cs typeface="Times New Roman" panose="02020603050405020304" pitchFamily="18" charset="0"/>
                  </a:rPr>
                  <a:t>Using the whole user prompt as input and compute the probability of first new token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𝑃</m:t>
                    </m:r>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+1</m:t>
                            </m:r>
                          </m:sub>
                        </m:sSub>
                      </m:e>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 …,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sub>
                        </m:sSub>
                      </m:e>
                    </m:d>
                  </m:oMath>
                </a14:m>
                <a:br>
                  <a:rPr lang="en-US" altLang="zh-TW" sz="2000" b="0" dirty="0">
                    <a:cs typeface="Times New Roman" panose="02020603050405020304" pitchFamily="18" charset="0"/>
                  </a:rPr>
                </a:br>
                <a:r>
                  <a:rPr lang="en-US" altLang="zh-TW" sz="2000" b="0" dirty="0">
                    <a:cs typeface="Times New Roman" panose="02020603050405020304" pitchFamily="18" charset="0"/>
                  </a:rPr>
                  <a:t>       </a:t>
                </a:r>
                <a:r>
                  <a:rPr lang="en-US" altLang="zh-TW" sz="2000" dirty="0">
                    <a:cs typeface="Times New Roman" panose="02020603050405020304" pitchFamily="18" charset="0"/>
                  </a:rPr>
                  <a:t>Since prompt tokens are all known, </a:t>
                </a:r>
                <a:r>
                  <a:rPr lang="en-US" altLang="zh-TW" sz="2000" dirty="0">
                    <a:solidFill>
                      <a:srgbClr val="FF0000"/>
                    </a:solidFill>
                    <a:cs typeface="Times New Roman" panose="02020603050405020304" pitchFamily="18" charset="0"/>
                  </a:rPr>
                  <a:t>the computation of the prompt phase can be parallelized using matrix-matrix multiplication operations</a:t>
                </a:r>
              </a:p>
              <a:p>
                <a:pPr marL="800100" lvl="1" indent="-342900">
                  <a:lnSpc>
                    <a:spcPts val="2400"/>
                  </a:lnSpc>
                  <a:buFont typeface="+mj-lt"/>
                  <a:buAutoNum type="arabicPeriod"/>
                </a:pPr>
                <a:r>
                  <a:rPr lang="en-US" altLang="zh-TW" sz="2000" b="1" dirty="0">
                    <a:cs typeface="Times New Roman" panose="02020603050405020304" pitchFamily="18" charset="0"/>
                  </a:rPr>
                  <a:t>The autoregressive generation phase (Decode)</a:t>
                </a:r>
                <a:br>
                  <a:rPr lang="en-US" altLang="zh-TW" sz="2000" b="1" dirty="0">
                    <a:cs typeface="Times New Roman" panose="02020603050405020304" pitchFamily="18" charset="0"/>
                  </a:rPr>
                </a:br>
                <a:r>
                  <a:rPr lang="en-US" altLang="zh-TW" sz="2000" b="1" dirty="0">
                    <a:cs typeface="Times New Roman" panose="02020603050405020304" pitchFamily="18" charset="0"/>
                  </a:rPr>
                  <a:t>       </a:t>
                </a:r>
                <a:r>
                  <a:rPr lang="en-US" altLang="zh-TW" sz="2000" dirty="0">
                    <a:cs typeface="Times New Roman" panose="02020603050405020304" pitchFamily="18" charset="0"/>
                  </a:rPr>
                  <a:t>Generating the remaining output token</a:t>
                </a:r>
                <a:br>
                  <a:rPr lang="en-US" altLang="zh-TW" sz="2000" dirty="0">
                    <a:cs typeface="Times New Roman" panose="02020603050405020304" pitchFamily="18" charset="0"/>
                  </a:rPr>
                </a:br>
                <a:r>
                  <a:rPr lang="en-US" altLang="zh-TW" sz="2000" dirty="0">
                    <a:cs typeface="Times New Roman" panose="02020603050405020304" pitchFamily="18" charset="0"/>
                  </a:rPr>
                  <a:t>       At iteration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𝑡</m:t>
                    </m:r>
                  </m:oMath>
                </a14:m>
                <a:r>
                  <a:rPr lang="en-US" altLang="zh-TW" sz="2000" dirty="0">
                    <a:cs typeface="Times New Roman" panose="02020603050405020304" pitchFamily="18" charset="0"/>
                  </a:rPr>
                  <a:t>, the model compute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𝑃</m:t>
                    </m:r>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𝑡</m:t>
                        </m:r>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 …,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𝑥</m:t>
                        </m:r>
                      </m:e>
                      <m:sub>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𝑡</m:t>
                        </m:r>
                      </m:sub>
                    </m:sSub>
                    <m:r>
                      <a:rPr lang="en-US" altLang="zh-TW" sz="2000" b="0" i="1" smtClean="0">
                        <a:latin typeface="Cambria Math" panose="02040503050406030204" pitchFamily="18" charset="0"/>
                        <a:cs typeface="Times New Roman" panose="02020603050405020304" pitchFamily="18" charset="0"/>
                      </a:rPr>
                      <m:t>)</m:t>
                    </m:r>
                  </m:oMath>
                </a14:m>
                <a:r>
                  <a:rPr lang="en-US" altLang="zh-TW" sz="2000" dirty="0">
                    <a:cs typeface="Times New Roman" panose="02020603050405020304" pitchFamily="18" charset="0"/>
                  </a:rPr>
                  <a:t>, and the key and value vectors at positions 1 to </a:t>
                </a:r>
                <a:r>
                  <a:rPr lang="zh-TW" altLang="en-US" sz="2000" dirty="0">
                    <a:cs typeface="Times New Roman" panose="02020603050405020304" pitchFamily="18" charset="0"/>
                  </a:rPr>
                  <a:t>𝑛 </a:t>
                </a:r>
                <a:r>
                  <a:rPr lang="en-US" altLang="zh-TW" sz="2000" dirty="0">
                    <a:cs typeface="Times New Roman" panose="02020603050405020304" pitchFamily="18" charset="0"/>
                  </a:rPr>
                  <a:t>+</a:t>
                </a:r>
                <a:r>
                  <a:rPr lang="zh-TW" altLang="en-US" sz="2000" dirty="0">
                    <a:cs typeface="Times New Roman" panose="02020603050405020304" pitchFamily="18" charset="0"/>
                  </a:rPr>
                  <a:t>𝑡 − </a:t>
                </a:r>
                <a:r>
                  <a:rPr lang="en-US" altLang="zh-TW" sz="2000" dirty="0">
                    <a:cs typeface="Times New Roman" panose="02020603050405020304" pitchFamily="18" charset="0"/>
                  </a:rPr>
                  <a:t>1 are cached at previous iterations</a:t>
                </a:r>
                <a:br>
                  <a:rPr lang="en-US" altLang="zh-TW" sz="2000" dirty="0">
                    <a:cs typeface="Times New Roman" panose="02020603050405020304" pitchFamily="18" charset="0"/>
                  </a:rPr>
                </a:br>
                <a:r>
                  <a:rPr lang="en-US" altLang="zh-TW" sz="2000" dirty="0">
                    <a:cs typeface="Times New Roman" panose="02020603050405020304" pitchFamily="18" charset="0"/>
                  </a:rPr>
                  <a:t>       </a:t>
                </a:r>
                <a:r>
                  <a:rPr lang="en-US" altLang="zh-TW" sz="2000" dirty="0">
                    <a:solidFill>
                      <a:srgbClr val="FF0000"/>
                    </a:solidFill>
                  </a:rPr>
                  <a:t>The computation at different iterations cannot be parallelized</a:t>
                </a:r>
                <a:r>
                  <a:rPr lang="en-US" altLang="zh-TW" sz="2000" dirty="0"/>
                  <a:t>, so this phase severely </a:t>
                </a:r>
                <a:r>
                  <a:rPr lang="en-US" altLang="zh-TW" sz="2000" dirty="0">
                    <a:solidFill>
                      <a:srgbClr val="FF0000"/>
                    </a:solidFill>
                  </a:rPr>
                  <a:t>underutilizes GPU computation and becomes memory-bound</a:t>
                </a:r>
                <a:endParaRPr lang="en-US" altLang="zh-TW" sz="2000" dirty="0">
                  <a:solidFill>
                    <a:srgbClr val="FF0000"/>
                  </a:solidFill>
                  <a:cs typeface="Times New Roman" panose="02020603050405020304" pitchFamily="18" charset="0"/>
                </a:endParaRPr>
              </a:p>
            </p:txBody>
          </p:sp>
        </mc:Choice>
        <mc:Fallback>
          <p:sp>
            <p:nvSpPr>
              <p:cNvPr id="4" name="內容版面配置區 2">
                <a:extLst>
                  <a:ext uri="{FF2B5EF4-FFF2-40B4-BE49-F238E27FC236}">
                    <a16:creationId xmlns:a16="http://schemas.microsoft.com/office/drawing/2014/main" id="{7A845389-2108-27CD-6072-C1FADCEBC1E9}"/>
                  </a:ext>
                </a:extLst>
              </p:cNvPr>
              <p:cNvSpPr>
                <a:spLocks noGrp="1" noRot="1" noChangeAspect="1" noMove="1" noResize="1" noEditPoints="1" noAdjustHandles="1" noChangeArrowheads="1" noChangeShapeType="1" noTextEdit="1"/>
              </p:cNvSpPr>
              <p:nvPr>
                <p:ph idx="1"/>
              </p:nvPr>
            </p:nvSpPr>
            <p:spPr>
              <a:xfrm>
                <a:off x="838200" y="1825625"/>
                <a:ext cx="10467109" cy="5115502"/>
              </a:xfrm>
              <a:blipFill>
                <a:blip r:embed="rId2"/>
                <a:stretch>
                  <a:fillRect l="-524" t="-1071" r="-69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7551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278A-BB0E-0623-8FCF-8E2B7363516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150D3B1-D8C7-1054-EDA6-B17F59AD5458}"/>
              </a:ext>
            </a:extLst>
          </p:cNvPr>
          <p:cNvSpPr>
            <a:spLocks noGrp="1"/>
          </p:cNvSpPr>
          <p:nvPr>
            <p:ph type="title"/>
          </p:nvPr>
        </p:nvSpPr>
        <p:spPr/>
        <p:txBody>
          <a:bodyPr/>
          <a:lstStyle/>
          <a:p>
            <a:pPr algn="ctr"/>
            <a:r>
              <a:rPr lang="en-US" altLang="zh-TW" dirty="0"/>
              <a:t>Batching Techniques for LLMs</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2">
            <a:extLst>
              <a:ext uri="{FF2B5EF4-FFF2-40B4-BE49-F238E27FC236}">
                <a16:creationId xmlns:a16="http://schemas.microsoft.com/office/drawing/2014/main" id="{02E8BE57-D2B9-E95A-2B7F-C348BDBF787F}"/>
              </a:ext>
            </a:extLst>
          </p:cNvPr>
          <p:cNvSpPr>
            <a:spLocks noGrp="1"/>
          </p:cNvSpPr>
          <p:nvPr>
            <p:ph idx="1"/>
          </p:nvPr>
        </p:nvSpPr>
        <p:spPr>
          <a:xfrm>
            <a:off x="838200" y="1825625"/>
            <a:ext cx="10515600" cy="4866120"/>
          </a:xfrm>
        </p:spPr>
        <p:txBody>
          <a:bodyPr>
            <a:normAutofit/>
          </a:bodyPr>
          <a:lstStyle/>
          <a:p>
            <a:r>
              <a:rPr lang="en-US" altLang="zh-TW" sz="2000" dirty="0"/>
              <a:t>The compute utilization in serving LLMs can be improved by </a:t>
            </a:r>
            <a:r>
              <a:rPr lang="en-US" altLang="zh-TW" sz="2000" dirty="0">
                <a:solidFill>
                  <a:srgbClr val="FF0000"/>
                </a:solidFill>
              </a:rPr>
              <a:t>batching multiple requests</a:t>
            </a:r>
            <a:r>
              <a:rPr lang="en-US" altLang="zh-TW" sz="2000" dirty="0"/>
              <a:t>, but it is non-trivial for two reasons</a:t>
            </a:r>
          </a:p>
          <a:p>
            <a:pPr marL="914400" lvl="1" indent="-457200">
              <a:lnSpc>
                <a:spcPts val="2400"/>
              </a:lnSpc>
              <a:buFont typeface="+mj-lt"/>
              <a:buAutoNum type="arabicPeriod"/>
            </a:pPr>
            <a:r>
              <a:rPr lang="en-US" altLang="zh-TW" sz="2000" b="1" dirty="0"/>
              <a:t>The requests may arrive at different times</a:t>
            </a:r>
            <a:br>
              <a:rPr lang="en-US" altLang="zh-TW" sz="2000" dirty="0"/>
            </a:br>
            <a:r>
              <a:rPr lang="en-US" altLang="zh-TW" sz="2000" dirty="0"/>
              <a:t>       A naive batching strategy would either make earlier requests wait for later ones or delay the incoming requests until earlier ones finish, leading to significant queueing delays</a:t>
            </a:r>
          </a:p>
          <a:p>
            <a:pPr marL="914400" lvl="1" indent="-457200">
              <a:lnSpc>
                <a:spcPts val="2400"/>
              </a:lnSpc>
              <a:buFont typeface="+mj-lt"/>
              <a:buAutoNum type="arabicPeriod"/>
            </a:pPr>
            <a:r>
              <a:rPr lang="en-US" altLang="zh-TW" sz="2000" b="1" dirty="0"/>
              <a:t>The requests may have vastly different input and output lengths</a:t>
            </a:r>
            <a:br>
              <a:rPr lang="en-US" altLang="zh-TW" sz="2000" dirty="0"/>
            </a:br>
            <a:r>
              <a:rPr lang="en-US" altLang="zh-TW" sz="2000" dirty="0"/>
              <a:t>       A straightforward batching technique would pad the inputs and outputs of the requests to equalize their lengths, wasting GPU computation and memory</a:t>
            </a:r>
          </a:p>
          <a:p>
            <a:r>
              <a:rPr lang="en-US" altLang="zh-TW" sz="2000" dirty="0"/>
              <a:t>To address this problem, fine-grained batching mechanisms, such as cellular batching</a:t>
            </a:r>
            <a:r>
              <a:rPr lang="zh-TW" altLang="en-US" sz="2000" dirty="0"/>
              <a:t> </a:t>
            </a:r>
            <a:r>
              <a:rPr lang="en-US" altLang="zh-TW" sz="2000" dirty="0"/>
              <a:t>[16] and iteration-level scheduling [60], have been proposed. These techniques operate at the iteration level. After each iteration, completed requests are removed from the batch, and new ones are added.</a:t>
            </a:r>
          </a:p>
          <a:p>
            <a:endParaRPr lang="en-US"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325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AD07-94D9-0D4F-9664-FF0B30B8177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0E0CB04-60BF-DE6B-8726-5665845C33EB}"/>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Outline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EC082F3-9D51-D846-1B13-EA659DBF9F7E}"/>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Introduction</a:t>
            </a:r>
          </a:p>
          <a:p>
            <a:r>
              <a:rPr lang="en-US" altLang="zh-TW" sz="2400" dirty="0">
                <a:latin typeface="Times New Roman" panose="02020603050405020304" pitchFamily="18" charset="0"/>
                <a:cs typeface="Times New Roman" panose="02020603050405020304" pitchFamily="18" charset="0"/>
              </a:rPr>
              <a:t>Background</a:t>
            </a:r>
          </a:p>
          <a:p>
            <a:r>
              <a:rPr lang="en-US" altLang="zh-TW" sz="2400" dirty="0">
                <a:solidFill>
                  <a:srgbClr val="FF0000"/>
                </a:solidFill>
                <a:latin typeface="Times New Roman" panose="02020603050405020304" pitchFamily="18" charset="0"/>
                <a:cs typeface="Times New Roman" panose="02020603050405020304" pitchFamily="18" charset="0"/>
              </a:rPr>
              <a:t>Challenges</a:t>
            </a:r>
          </a:p>
          <a:p>
            <a:r>
              <a:rPr lang="en-US" altLang="zh-TW" sz="2400" dirty="0">
                <a:latin typeface="Times New Roman" panose="02020603050405020304" pitchFamily="18" charset="0"/>
                <a:cs typeface="Times New Roman" panose="02020603050405020304" pitchFamily="18" charset="0"/>
              </a:rPr>
              <a:t>Method</a:t>
            </a:r>
          </a:p>
          <a:p>
            <a:r>
              <a:rPr lang="en-US" altLang="zh-TW" sz="2400" dirty="0">
                <a:latin typeface="Times New Roman" panose="02020603050405020304" pitchFamily="18" charset="0"/>
                <a:cs typeface="Times New Roman" panose="02020603050405020304" pitchFamily="18" charset="0"/>
              </a:rPr>
              <a:t>Experiment</a:t>
            </a:r>
          </a:p>
          <a:p>
            <a:r>
              <a:rPr lang="en-US" altLang="zh-TW" sz="2400" dirty="0">
                <a:latin typeface="Times New Roman" panose="02020603050405020304" pitchFamily="18" charset="0"/>
                <a:cs typeface="Times New Roman" panose="02020603050405020304" pitchFamily="18" charset="0"/>
              </a:rPr>
              <a:t>Conclusion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256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8F09-3B2B-BB71-A498-3489959C3F5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89158AE-F389-842B-EE39-7716411D1F25}"/>
              </a:ext>
            </a:extLst>
          </p:cNvPr>
          <p:cNvSpPr>
            <a:spLocks noGrp="1"/>
          </p:cNvSpPr>
          <p:nvPr>
            <p:ph type="title"/>
          </p:nvPr>
        </p:nvSpPr>
        <p:spPr/>
        <p:txBody>
          <a:bodyPr/>
          <a:lstStyle/>
          <a:p>
            <a:pPr algn="ctr"/>
            <a:r>
              <a:rPr lang="en-US" altLang="zh-TW" dirty="0"/>
              <a:t>Memory</a:t>
            </a:r>
            <a:r>
              <a:rPr lang="zh-TW" altLang="en-US" dirty="0"/>
              <a:t> </a:t>
            </a:r>
            <a:r>
              <a:rPr lang="en-US" altLang="zh-TW" dirty="0"/>
              <a:t>Challenges</a:t>
            </a:r>
            <a:r>
              <a:rPr lang="zh-TW" altLang="en-US" dirty="0"/>
              <a:t> </a:t>
            </a:r>
            <a:r>
              <a:rPr lang="en-US" altLang="zh-TW" dirty="0"/>
              <a:t>in LLM</a:t>
            </a:r>
            <a:r>
              <a:rPr lang="zh-TW" altLang="en-US" dirty="0"/>
              <a:t> </a:t>
            </a:r>
            <a:r>
              <a:rPr lang="en-US" altLang="zh-TW" dirty="0"/>
              <a:t>Serving</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2">
            <a:extLst>
              <a:ext uri="{FF2B5EF4-FFF2-40B4-BE49-F238E27FC236}">
                <a16:creationId xmlns:a16="http://schemas.microsoft.com/office/drawing/2014/main" id="{8D64454E-8C8D-D45C-8254-712092A716F2}"/>
              </a:ext>
            </a:extLst>
          </p:cNvPr>
          <p:cNvSpPr>
            <a:spLocks noGrp="1"/>
          </p:cNvSpPr>
          <p:nvPr>
            <p:ph idx="1"/>
          </p:nvPr>
        </p:nvSpPr>
        <p:spPr>
          <a:xfrm>
            <a:off x="838200" y="1520824"/>
            <a:ext cx="10515600" cy="5440807"/>
          </a:xfrm>
        </p:spPr>
        <p:txBody>
          <a:bodyPr>
            <a:normAutofit/>
          </a:bodyPr>
          <a:lstStyle/>
          <a:p>
            <a:pPr marL="457200" indent="-457200">
              <a:lnSpc>
                <a:spcPts val="2400"/>
              </a:lnSpc>
              <a:buFont typeface="+mj-lt"/>
              <a:buAutoNum type="arabicPeriod"/>
            </a:pPr>
            <a:r>
              <a:rPr lang="en-US" altLang="zh-TW" sz="2000" b="1" dirty="0"/>
              <a:t>Large KV</a:t>
            </a:r>
            <a:r>
              <a:rPr lang="zh-TW" altLang="en-US" sz="2000" b="1" dirty="0"/>
              <a:t> </a:t>
            </a:r>
            <a:r>
              <a:rPr lang="en-US" altLang="zh-TW" sz="2000" b="1" dirty="0"/>
              <a:t>cache</a:t>
            </a:r>
            <a:br>
              <a:rPr lang="en-US" altLang="zh-TW" sz="2000" b="1" dirty="0"/>
            </a:br>
            <a:r>
              <a:rPr lang="en-US" altLang="zh-TW" sz="2000" b="1" dirty="0"/>
              <a:t>	</a:t>
            </a:r>
            <a:r>
              <a:rPr lang="en-US" altLang="zh-TW" sz="2000" dirty="0"/>
              <a:t>The</a:t>
            </a:r>
            <a:r>
              <a:rPr lang="zh-TW" altLang="en-US" sz="2000" dirty="0"/>
              <a:t> </a:t>
            </a:r>
            <a:r>
              <a:rPr lang="en-US" altLang="zh-TW" sz="2000" dirty="0">
                <a:solidFill>
                  <a:srgbClr val="FF0000"/>
                </a:solidFill>
              </a:rPr>
              <a:t>KV</a:t>
            </a:r>
            <a:r>
              <a:rPr lang="zh-TW" altLang="en-US" sz="2000" dirty="0">
                <a:solidFill>
                  <a:srgbClr val="FF0000"/>
                </a:solidFill>
              </a:rPr>
              <a:t> </a:t>
            </a:r>
            <a:r>
              <a:rPr lang="en-US" altLang="zh-TW" sz="2000" dirty="0">
                <a:solidFill>
                  <a:srgbClr val="FF0000"/>
                </a:solidFill>
              </a:rPr>
              <a:t>Cache</a:t>
            </a:r>
            <a:r>
              <a:rPr lang="zh-TW" altLang="en-US" sz="2000" dirty="0">
                <a:solidFill>
                  <a:srgbClr val="FF0000"/>
                </a:solidFill>
              </a:rPr>
              <a:t> </a:t>
            </a:r>
            <a:r>
              <a:rPr lang="en-US" altLang="zh-TW" sz="2000" dirty="0">
                <a:solidFill>
                  <a:srgbClr val="FF0000"/>
                </a:solidFill>
              </a:rPr>
              <a:t>size</a:t>
            </a:r>
            <a:r>
              <a:rPr lang="zh-TW" altLang="en-US" sz="2000" dirty="0">
                <a:solidFill>
                  <a:srgbClr val="FF0000"/>
                </a:solidFill>
              </a:rPr>
              <a:t> </a:t>
            </a:r>
            <a:r>
              <a:rPr lang="en-US" altLang="zh-TW" sz="2000" dirty="0">
                <a:solidFill>
                  <a:srgbClr val="FF0000"/>
                </a:solidFill>
              </a:rPr>
              <a:t>grows</a:t>
            </a:r>
            <a:r>
              <a:rPr lang="zh-TW" altLang="en-US" sz="2000" dirty="0">
                <a:solidFill>
                  <a:srgbClr val="FF0000"/>
                </a:solidFill>
              </a:rPr>
              <a:t> </a:t>
            </a:r>
            <a:r>
              <a:rPr lang="en-US" altLang="zh-TW" sz="2000" dirty="0">
                <a:solidFill>
                  <a:srgbClr val="FF0000"/>
                </a:solidFill>
              </a:rPr>
              <a:t>quickly with the number of requests</a:t>
            </a:r>
            <a:br>
              <a:rPr lang="en-US" altLang="zh-TW" sz="2000" dirty="0"/>
            </a:br>
            <a:r>
              <a:rPr lang="en-US" altLang="zh-TW" sz="2000" dirty="0"/>
              <a:t>	</a:t>
            </a:r>
            <a:r>
              <a:rPr lang="en-US" altLang="zh-TW" sz="2000" dirty="0">
                <a:latin typeface="Times New Roman" panose="02020603050405020304" pitchFamily="18" charset="0"/>
                <a:cs typeface="Times New Roman" panose="02020603050405020304" pitchFamily="18" charset="0"/>
              </a:rPr>
              <a:t>For example, a </a:t>
            </a:r>
            <a:r>
              <a:rPr lang="en-US" altLang="zh-TW" sz="2000" dirty="0"/>
              <a:t>13B parameter OPT model[62], the KV cache of a single token demands 800 KB of space, calculated as 2 (key and value vectors) × 5120 (hidden state size) × 40 (number of layers) × 2 (bytes per FP16)</a:t>
            </a:r>
            <a:br>
              <a:rPr lang="en-US" altLang="zh-TW" sz="2000" dirty="0"/>
            </a:br>
            <a:r>
              <a:rPr lang="en-US" altLang="zh-TW" sz="2000" dirty="0"/>
              <a:t>	Since OPT can generate sequences up to 2048 tokens, </a:t>
            </a:r>
            <a:r>
              <a:rPr lang="en-US" altLang="zh-TW" sz="2000" dirty="0">
                <a:solidFill>
                  <a:srgbClr val="FF0000"/>
                </a:solidFill>
              </a:rPr>
              <a:t>the memory required to store the KV cache of one request can be as much as 1.6GB</a:t>
            </a:r>
            <a:endParaRPr lang="en-US" altLang="zh-TW" sz="2000" b="1" dirty="0">
              <a:solidFill>
                <a:srgbClr val="FF0000"/>
              </a:solidFill>
            </a:endParaRPr>
          </a:p>
          <a:p>
            <a:pPr marL="457200" indent="-457200">
              <a:lnSpc>
                <a:spcPts val="2400"/>
              </a:lnSpc>
              <a:buFont typeface="+mj-lt"/>
              <a:buAutoNum type="arabicPeriod"/>
            </a:pPr>
            <a:r>
              <a:rPr lang="en-US" altLang="zh-TW" sz="2000" b="1" dirty="0"/>
              <a:t>Complex decoding algorithms</a:t>
            </a:r>
            <a:br>
              <a:rPr lang="en-US" altLang="zh-TW" sz="2000" dirty="0"/>
            </a:br>
            <a:r>
              <a:rPr lang="en-US" altLang="zh-TW" sz="2000" dirty="0"/>
              <a:t>	LLM services offer a range of decoding algorithms for users to select from, each with varying implications for memory management complexity</a:t>
            </a:r>
            <a:br>
              <a:rPr lang="en-US" altLang="zh-TW" sz="20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	For example, the </a:t>
            </a:r>
            <a:r>
              <a:rPr lang="en-US" altLang="zh-TW" sz="2000" dirty="0">
                <a:solidFill>
                  <a:srgbClr val="FF0000"/>
                </a:solidFill>
                <a:latin typeface="Times New Roman" panose="02020603050405020304" pitchFamily="18" charset="0"/>
                <a:cs typeface="Times New Roman" panose="02020603050405020304" pitchFamily="18" charset="0"/>
              </a:rPr>
              <a:t>KV cache for the prompt can be shared when multiple outputs are sampled from the same prompt</a:t>
            </a:r>
            <a:r>
              <a:rPr lang="en-US" altLang="zh-TW" sz="2000" dirty="0">
                <a:latin typeface="Times New Roman" panose="02020603050405020304" pitchFamily="18" charset="0"/>
                <a:cs typeface="Times New Roman" panose="02020603050405020304" pitchFamily="18" charset="0"/>
              </a:rPr>
              <a:t>. However, once </a:t>
            </a:r>
            <a:r>
              <a:rPr lang="en-US" altLang="zh-TW" sz="2000" dirty="0">
                <a:solidFill>
                  <a:srgbClr val="FF0000"/>
                </a:solidFill>
                <a:latin typeface="Times New Roman" panose="02020603050405020304" pitchFamily="18" charset="0"/>
                <a:cs typeface="Times New Roman" panose="02020603050405020304" pitchFamily="18" charset="0"/>
              </a:rPr>
              <a:t>autoregressive generation begins, each sample may produce different tokens, so their generated KV cache usually cannot be shared</a:t>
            </a:r>
            <a:br>
              <a:rPr lang="en-US" altLang="zh-TW" sz="20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	</a:t>
            </a:r>
            <a:r>
              <a:rPr lang="en-US" altLang="zh-TW" sz="2000" dirty="0"/>
              <a:t>More advanced decoding methods, such as beam search, allow more KV cache sharing because different beams may share common prefixes. This can save more memory, but the sharing pattern changes dynamically as decoding progresses.</a:t>
            </a:r>
          </a:p>
        </p:txBody>
      </p:sp>
    </p:spTree>
    <p:extLst>
      <p:ext uri="{BB962C8B-B14F-4D97-AF65-F5344CB8AC3E}">
        <p14:creationId xmlns:p14="http://schemas.microsoft.com/office/powerpoint/2010/main" val="1681308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79CAB-1F28-F791-7E0E-D255436EE33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3158948-3845-D997-EE04-0E911B6DDDD8}"/>
              </a:ext>
            </a:extLst>
          </p:cNvPr>
          <p:cNvSpPr>
            <a:spLocks noGrp="1"/>
          </p:cNvSpPr>
          <p:nvPr>
            <p:ph type="title"/>
          </p:nvPr>
        </p:nvSpPr>
        <p:spPr/>
        <p:txBody>
          <a:bodyPr/>
          <a:lstStyle/>
          <a:p>
            <a:pPr algn="ctr"/>
            <a:r>
              <a:rPr lang="en-US" altLang="zh-TW" dirty="0"/>
              <a:t>Memory</a:t>
            </a:r>
            <a:r>
              <a:rPr lang="zh-TW" altLang="en-US" dirty="0"/>
              <a:t> </a:t>
            </a:r>
            <a:r>
              <a:rPr lang="en-US" altLang="zh-TW" dirty="0"/>
              <a:t>Challenges</a:t>
            </a:r>
            <a:r>
              <a:rPr lang="zh-TW" altLang="en-US" dirty="0"/>
              <a:t> </a:t>
            </a:r>
            <a:r>
              <a:rPr lang="en-US" altLang="zh-TW" dirty="0"/>
              <a:t>in LLM</a:t>
            </a:r>
            <a:r>
              <a:rPr lang="zh-TW" altLang="en-US" dirty="0"/>
              <a:t> </a:t>
            </a:r>
            <a:r>
              <a:rPr lang="en-US" altLang="zh-TW" dirty="0"/>
              <a:t>Serving</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2">
            <a:extLst>
              <a:ext uri="{FF2B5EF4-FFF2-40B4-BE49-F238E27FC236}">
                <a16:creationId xmlns:a16="http://schemas.microsoft.com/office/drawing/2014/main" id="{4FCF9055-EB17-F5C1-C44B-170F6F0A522F}"/>
              </a:ext>
            </a:extLst>
          </p:cNvPr>
          <p:cNvSpPr>
            <a:spLocks noGrp="1"/>
          </p:cNvSpPr>
          <p:nvPr>
            <p:ph idx="1"/>
          </p:nvPr>
        </p:nvSpPr>
        <p:spPr>
          <a:xfrm>
            <a:off x="838200" y="1520824"/>
            <a:ext cx="10515600" cy="5440807"/>
          </a:xfrm>
        </p:spPr>
        <p:txBody>
          <a:bodyPr>
            <a:normAutofit/>
          </a:bodyPr>
          <a:lstStyle/>
          <a:p>
            <a:pPr marL="457200" indent="-457200">
              <a:lnSpc>
                <a:spcPts val="2400"/>
              </a:lnSpc>
              <a:buFont typeface="+mj-lt"/>
              <a:buAutoNum type="arabicPeriod" startAt="3"/>
            </a:pPr>
            <a:r>
              <a:rPr lang="en-US" altLang="zh-TW" sz="2000" b="1" dirty="0"/>
              <a:t>Scheduling for unknown input &amp; output lengths</a:t>
            </a:r>
            <a:br>
              <a:rPr lang="en-US" altLang="zh-TW" sz="2000" dirty="0"/>
            </a:br>
            <a:r>
              <a:rPr lang="en-US" altLang="zh-TW" sz="2000" dirty="0"/>
              <a:t>	The requests to an LLM service exhibit variability in their input and output lengths.</a:t>
            </a:r>
            <a:br>
              <a:rPr lang="en-US" altLang="zh-TW" sz="2000" dirty="0"/>
            </a:br>
            <a:r>
              <a:rPr lang="en-US" altLang="zh-TW" sz="2000" dirty="0"/>
              <a:t>	This requires the memory management system to accommodate a wide range of prompt lengths. </a:t>
            </a:r>
            <a:br>
              <a:rPr lang="en-US" altLang="zh-TW" sz="2000" dirty="0"/>
            </a:br>
            <a:r>
              <a:rPr lang="en-US" altLang="zh-TW" sz="2000" dirty="0"/>
              <a:t>	Besides, as the output length of a request grows at decoding, the memory required for its KV cache also expands and may exhaust available memory for incoming requests or ongoing generation for existing prompts</a:t>
            </a:r>
            <a:br>
              <a:rPr lang="en-US" altLang="zh-TW" sz="2000" dirty="0"/>
            </a:br>
            <a:r>
              <a:rPr lang="en-US" altLang="zh-TW" sz="2000" dirty="0"/>
              <a:t>	</a:t>
            </a:r>
          </a:p>
        </p:txBody>
      </p:sp>
    </p:spTree>
    <p:extLst>
      <p:ext uri="{BB962C8B-B14F-4D97-AF65-F5344CB8AC3E}">
        <p14:creationId xmlns:p14="http://schemas.microsoft.com/office/powerpoint/2010/main" val="1058530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06232-0CE4-4E89-B286-B6B9AECE9F1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BD953F4-4704-BE90-E035-DA567EFCDE9F}"/>
              </a:ext>
            </a:extLst>
          </p:cNvPr>
          <p:cNvSpPr>
            <a:spLocks noGrp="1"/>
          </p:cNvSpPr>
          <p:nvPr>
            <p:ph type="title"/>
          </p:nvPr>
        </p:nvSpPr>
        <p:spPr/>
        <p:txBody>
          <a:bodyPr/>
          <a:lstStyle/>
          <a:p>
            <a:pPr algn="ctr"/>
            <a:r>
              <a:rPr lang="en-US" altLang="zh-TW" dirty="0"/>
              <a:t>Memory</a:t>
            </a:r>
            <a:r>
              <a:rPr lang="zh-TW" altLang="en-US" dirty="0"/>
              <a:t> </a:t>
            </a:r>
            <a:r>
              <a:rPr lang="en-US" altLang="zh-TW" dirty="0"/>
              <a:t>Management</a:t>
            </a:r>
            <a:r>
              <a:rPr lang="zh-TW" altLang="en-US" dirty="0"/>
              <a:t> </a:t>
            </a:r>
            <a:r>
              <a:rPr lang="en-US" altLang="zh-TW" dirty="0"/>
              <a:t>in</a:t>
            </a:r>
            <a:r>
              <a:rPr lang="zh-TW" altLang="en-US" dirty="0"/>
              <a:t> </a:t>
            </a:r>
            <a:r>
              <a:rPr lang="en-US" altLang="zh-TW" dirty="0"/>
              <a:t>Existing Systems</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2">
            <a:extLst>
              <a:ext uri="{FF2B5EF4-FFF2-40B4-BE49-F238E27FC236}">
                <a16:creationId xmlns:a16="http://schemas.microsoft.com/office/drawing/2014/main" id="{7A754BA1-48C4-DEE0-2E8A-7AB17C9D1922}"/>
              </a:ext>
            </a:extLst>
          </p:cNvPr>
          <p:cNvSpPr>
            <a:spLocks noGrp="1"/>
          </p:cNvSpPr>
          <p:nvPr>
            <p:ph idx="1"/>
          </p:nvPr>
        </p:nvSpPr>
        <p:spPr>
          <a:xfrm>
            <a:off x="838200" y="1825625"/>
            <a:ext cx="10515600" cy="4866120"/>
          </a:xfrm>
        </p:spPr>
        <p:txBody>
          <a:bodyPr>
            <a:normAutofit/>
          </a:bodyPr>
          <a:lstStyle/>
          <a:p>
            <a:r>
              <a:rPr lang="en-US" altLang="zh-TW" sz="2000" dirty="0">
                <a:cs typeface="Times New Roman" panose="02020603050405020304" pitchFamily="18" charset="0"/>
              </a:rPr>
              <a:t>Since most operators in </a:t>
            </a:r>
            <a:r>
              <a:rPr lang="en-US" altLang="zh-TW" sz="2000" dirty="0">
                <a:solidFill>
                  <a:srgbClr val="FF0000"/>
                </a:solidFill>
                <a:cs typeface="Times New Roman" panose="02020603050405020304" pitchFamily="18" charset="0"/>
              </a:rPr>
              <a:t>current DL frameworks require tensors to be stored in contiguous memory, previous LLM serving systems also store the KV cache of one request as a contiguous tensor across the different positions.</a:t>
            </a:r>
          </a:p>
          <a:p>
            <a:r>
              <a:rPr lang="en-US" altLang="zh-TW" sz="2000" dirty="0"/>
              <a:t>Because LLM output lengths are unpredictable, </a:t>
            </a:r>
            <a:r>
              <a:rPr lang="en-US" altLang="zh-TW" sz="2000" dirty="0">
                <a:solidFill>
                  <a:srgbClr val="FF0000"/>
                </a:solidFill>
              </a:rPr>
              <a:t>these systems pre-allocate memory based on the request’s maximum possible sequence length</a:t>
            </a:r>
            <a:r>
              <a:rPr lang="en-US" altLang="zh-TW" sz="2000" dirty="0"/>
              <a:t>, rather than its actual input or output length.</a:t>
            </a:r>
          </a:p>
          <a:p>
            <a:r>
              <a:rPr lang="en-US" altLang="zh-TW" sz="2000" dirty="0"/>
              <a:t>This allocation strategy leads to three types of memory waste: </a:t>
            </a:r>
            <a:r>
              <a:rPr lang="en-US" altLang="zh-TW" sz="2000" dirty="0">
                <a:solidFill>
                  <a:srgbClr val="FF0000"/>
                </a:solidFill>
              </a:rPr>
              <a:t>reserved slots </a:t>
            </a:r>
            <a:r>
              <a:rPr lang="en-US" altLang="zh-TW" sz="2000" dirty="0"/>
              <a:t>for future tokens,</a:t>
            </a:r>
            <a:r>
              <a:rPr lang="en-US" altLang="zh-TW" sz="2000" dirty="0">
                <a:solidFill>
                  <a:srgbClr val="FF0000"/>
                </a:solidFill>
              </a:rPr>
              <a:t> internal fragmentation </a:t>
            </a:r>
            <a:r>
              <a:rPr lang="en-US" altLang="zh-TW" sz="2000" dirty="0"/>
              <a:t>inside over-allocated request blocks, and </a:t>
            </a:r>
            <a:r>
              <a:rPr lang="en-US" altLang="zh-TW" sz="2000" dirty="0">
                <a:solidFill>
                  <a:srgbClr val="FF0000"/>
                </a:solidFill>
              </a:rPr>
              <a:t>external fragmentation</a:t>
            </a:r>
            <a:r>
              <a:rPr lang="en-US" altLang="zh-TW" sz="2000" dirty="0"/>
              <a:t> caused by allocator-level gaps between blocks.</a:t>
            </a:r>
            <a:endParaRPr lang="en-US" altLang="zh-TW" sz="2000" dirty="0">
              <a:cs typeface="Times New Roman" panose="02020603050405020304" pitchFamily="18" charset="0"/>
            </a:endParaRPr>
          </a:p>
        </p:txBody>
      </p:sp>
      <p:pic>
        <p:nvPicPr>
          <p:cNvPr id="7" name="圖片 6">
            <a:extLst>
              <a:ext uri="{FF2B5EF4-FFF2-40B4-BE49-F238E27FC236}">
                <a16:creationId xmlns:a16="http://schemas.microsoft.com/office/drawing/2014/main" id="{0862AEB4-8AC9-ECDF-09EA-650C76BC31E1}"/>
              </a:ext>
            </a:extLst>
          </p:cNvPr>
          <p:cNvPicPr>
            <a:picLocks noChangeAspect="1"/>
          </p:cNvPicPr>
          <p:nvPr/>
        </p:nvPicPr>
        <p:blipFill>
          <a:blip r:embed="rId2"/>
          <a:stretch>
            <a:fillRect/>
          </a:stretch>
        </p:blipFill>
        <p:spPr>
          <a:xfrm>
            <a:off x="1456944" y="4854523"/>
            <a:ext cx="9278112" cy="1972159"/>
          </a:xfrm>
          <a:prstGeom prst="rect">
            <a:avLst/>
          </a:prstGeom>
        </p:spPr>
      </p:pic>
    </p:spTree>
    <p:extLst>
      <p:ext uri="{BB962C8B-B14F-4D97-AF65-F5344CB8AC3E}">
        <p14:creationId xmlns:p14="http://schemas.microsoft.com/office/powerpoint/2010/main" val="1529415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ABB6E-D033-49EA-D50D-3E8FEFCAB16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6E57CB9-C795-BADA-20EC-D4DEE71FCCA7}"/>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Outline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46C24D4-6688-4918-5B82-84C0344F2F17}"/>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Introduction</a:t>
            </a:r>
          </a:p>
          <a:p>
            <a:r>
              <a:rPr lang="en-US" altLang="zh-TW" sz="2400" dirty="0">
                <a:latin typeface="Times New Roman" panose="02020603050405020304" pitchFamily="18" charset="0"/>
                <a:cs typeface="Times New Roman" panose="02020603050405020304" pitchFamily="18" charset="0"/>
              </a:rPr>
              <a:t>Background</a:t>
            </a:r>
          </a:p>
          <a:p>
            <a:r>
              <a:rPr lang="en-US" altLang="zh-TW" sz="2400" dirty="0">
                <a:latin typeface="Times New Roman" panose="02020603050405020304" pitchFamily="18" charset="0"/>
                <a:cs typeface="Times New Roman" panose="02020603050405020304" pitchFamily="18" charset="0"/>
              </a:rPr>
              <a:t>Challenges</a:t>
            </a:r>
          </a:p>
          <a:p>
            <a:r>
              <a:rPr lang="en-US" altLang="zh-TW" sz="2400" dirty="0">
                <a:solidFill>
                  <a:srgbClr val="FF0000"/>
                </a:solidFill>
                <a:latin typeface="Times New Roman" panose="02020603050405020304" pitchFamily="18" charset="0"/>
                <a:cs typeface="Times New Roman" panose="02020603050405020304" pitchFamily="18" charset="0"/>
              </a:rPr>
              <a:t>Method</a:t>
            </a:r>
          </a:p>
          <a:p>
            <a:r>
              <a:rPr lang="en-US" altLang="zh-TW" sz="2400" dirty="0">
                <a:latin typeface="Times New Roman" panose="02020603050405020304" pitchFamily="18" charset="0"/>
                <a:cs typeface="Times New Roman" panose="02020603050405020304" pitchFamily="18" charset="0"/>
              </a:rPr>
              <a:t>Experiment</a:t>
            </a:r>
          </a:p>
          <a:p>
            <a:r>
              <a:rPr lang="en-US" altLang="zh-TW" sz="2400" dirty="0">
                <a:latin typeface="Times New Roman" panose="02020603050405020304" pitchFamily="18" charset="0"/>
                <a:cs typeface="Times New Roman" panose="02020603050405020304" pitchFamily="18" charset="0"/>
              </a:rPr>
              <a:t>Conclusion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417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D1B40-832B-477D-534E-05629263C61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8A9A4B6-EBFC-AE6C-B2B8-DB70D7288DD0}"/>
              </a:ext>
            </a:extLst>
          </p:cNvPr>
          <p:cNvSpPr>
            <a:spLocks noGrp="1"/>
          </p:cNvSpPr>
          <p:nvPr>
            <p:ph type="title"/>
          </p:nvPr>
        </p:nvSpPr>
        <p:spPr/>
        <p:txBody>
          <a:bodyPr/>
          <a:lstStyle/>
          <a:p>
            <a:pPr algn="ctr"/>
            <a:r>
              <a:rPr lang="en-US" altLang="zh-TW" dirty="0"/>
              <a:t>Overall Architecture</a:t>
            </a:r>
            <a:endParaRPr lang="zh-TW" altLang="en-US"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7EF49B5E-ECB1-E717-ED91-B73BF5D52D46}"/>
              </a:ext>
            </a:extLst>
          </p:cNvPr>
          <p:cNvPicPr>
            <a:picLocks noChangeAspect="1"/>
          </p:cNvPicPr>
          <p:nvPr/>
        </p:nvPicPr>
        <p:blipFill>
          <a:blip r:embed="rId2"/>
          <a:stretch>
            <a:fillRect/>
          </a:stretch>
        </p:blipFill>
        <p:spPr>
          <a:xfrm>
            <a:off x="3190469" y="2317568"/>
            <a:ext cx="5811061" cy="3515216"/>
          </a:xfrm>
          <a:prstGeom prst="rect">
            <a:avLst/>
          </a:prstGeom>
        </p:spPr>
      </p:pic>
    </p:spTree>
    <p:extLst>
      <p:ext uri="{BB962C8B-B14F-4D97-AF65-F5344CB8AC3E}">
        <p14:creationId xmlns:p14="http://schemas.microsoft.com/office/powerpoint/2010/main" val="372694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1F11B-6D5D-A097-8AEA-2854057D294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FAB15BA-8FC3-DE8B-BF62-BE043F195EBF}"/>
              </a:ext>
            </a:extLst>
          </p:cNvPr>
          <p:cNvSpPr>
            <a:spLocks noGrp="1"/>
          </p:cNvSpPr>
          <p:nvPr>
            <p:ph type="title"/>
          </p:nvPr>
        </p:nvSpPr>
        <p:spPr/>
        <p:txBody>
          <a:bodyPr/>
          <a:lstStyle/>
          <a:p>
            <a:pPr algn="ctr"/>
            <a:r>
              <a:rPr lang="en-US" altLang="zh-TW" dirty="0" err="1"/>
              <a:t>PagedAttention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內容版面配置區 2">
                <a:extLst>
                  <a:ext uri="{FF2B5EF4-FFF2-40B4-BE49-F238E27FC236}">
                    <a16:creationId xmlns:a16="http://schemas.microsoft.com/office/drawing/2014/main" id="{2ED7C9A7-9463-E695-D60B-CB671BA2F2D9}"/>
                  </a:ext>
                </a:extLst>
              </p:cNvPr>
              <p:cNvSpPr>
                <a:spLocks noGrp="1"/>
              </p:cNvSpPr>
              <p:nvPr>
                <p:ph idx="1"/>
              </p:nvPr>
            </p:nvSpPr>
            <p:spPr>
              <a:xfrm>
                <a:off x="838200" y="1520824"/>
                <a:ext cx="7086600" cy="5440807"/>
              </a:xfrm>
            </p:spPr>
            <p:txBody>
              <a:bodyPr>
                <a:normAutofit/>
              </a:bodyPr>
              <a:lstStyle/>
              <a:p>
                <a:pPr>
                  <a:lnSpc>
                    <a:spcPts val="2400"/>
                  </a:lnSpc>
                </a:pPr>
                <a:r>
                  <a:rPr lang="en-US" altLang="zh-TW" sz="2000" dirty="0"/>
                  <a:t>Allows storing continuous keys and values in non-contiguous memory space.</a:t>
                </a:r>
              </a:p>
              <a:p>
                <a:pPr>
                  <a:lnSpc>
                    <a:spcPts val="2400"/>
                  </a:lnSpc>
                </a:pPr>
                <a:r>
                  <a:rPr lang="en-US" altLang="zh-TW" sz="2000" dirty="0"/>
                  <a:t>Partitions the KV</a:t>
                </a:r>
                <a:r>
                  <a:rPr lang="zh-TW" altLang="en-US" sz="2000" dirty="0"/>
                  <a:t> </a:t>
                </a:r>
                <a:r>
                  <a:rPr lang="en-US" altLang="zh-TW" sz="2000" dirty="0"/>
                  <a:t>cache of each sequence into </a:t>
                </a:r>
                <a:r>
                  <a:rPr lang="en-US" altLang="zh-TW" sz="2000" i="1" dirty="0"/>
                  <a:t>KV blocks</a:t>
                </a:r>
                <a:r>
                  <a:rPr lang="en-US" altLang="zh-TW" sz="2000" dirty="0"/>
                  <a:t>, each block contains the key and value vectors for a fixed number of tokens, which denoted as </a:t>
                </a:r>
                <a:r>
                  <a:rPr lang="en-US" altLang="zh-TW" sz="2000" i="1" dirty="0"/>
                  <a:t>KV block size (B)</a:t>
                </a:r>
              </a:p>
              <a:p>
                <a:pPr>
                  <a:lnSpc>
                    <a:spcPts val="2400"/>
                  </a:lnSpc>
                </a:pPr>
                <a:r>
                  <a:rPr lang="en-US" altLang="zh-TW" sz="2000" dirty="0"/>
                  <a:t>Denote the key and value block as </a:t>
                </a:r>
              </a:p>
              <a:p>
                <a:pPr marL="0" indent="0">
                  <a:lnSpc>
                    <a:spcPts val="2400"/>
                  </a:lnSpc>
                  <a:buNone/>
                </a:pPr>
                <a14:m>
                  <m:oMathPara xmlns:m="http://schemas.openxmlformats.org/officeDocument/2006/math">
                    <m:oMathParaPr>
                      <m:jc m:val="centerGroup"/>
                    </m:oMathParaPr>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𝐾</m:t>
                          </m:r>
                        </m:e>
                        <m:sub>
                          <m:r>
                            <a:rPr lang="en-US" altLang="zh-TW" sz="2000" b="0" i="1" smtClean="0">
                              <a:latin typeface="Cambria Math" panose="02040503050406030204" pitchFamily="18" charset="0"/>
                            </a:rPr>
                            <m:t>𝑗</m:t>
                          </m:r>
                        </m:sub>
                      </m:sSub>
                      <m:r>
                        <a:rPr lang="en-US" altLang="zh-TW" sz="2000" b="0" i="1" smtClean="0">
                          <a:latin typeface="Cambria Math" panose="02040503050406030204" pitchFamily="18" charset="0"/>
                        </a:rPr>
                        <m:t>=</m:t>
                      </m:r>
                      <m:d>
                        <m:dPr>
                          <m:ctrlPr>
                            <a:rPr lang="en-US" altLang="zh-TW" sz="2000" b="0" i="1"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𝑘</m:t>
                              </m:r>
                            </m:e>
                            <m:sub>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𝑗</m:t>
                                  </m:r>
                                  <m:r>
                                    <a:rPr lang="en-US" altLang="zh-TW" sz="2000" b="0" i="1" smtClean="0">
                                      <a:latin typeface="Cambria Math" panose="02040503050406030204" pitchFamily="18" charset="0"/>
                                    </a:rPr>
                                    <m:t>−1</m:t>
                                  </m:r>
                                </m:e>
                              </m:d>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𝑘</m:t>
                              </m:r>
                            </m:e>
                            <m:sub>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𝑗</m:t>
                                  </m:r>
                                  <m:r>
                                    <a:rPr lang="en-US" altLang="zh-TW" sz="2000" b="0" i="1" smtClean="0">
                                      <a:latin typeface="Cambria Math" panose="02040503050406030204" pitchFamily="18" charset="0"/>
                                    </a:rPr>
                                    <m:t>−1</m:t>
                                  </m:r>
                                </m:e>
                              </m:d>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+2 </m:t>
                              </m:r>
                            </m:sub>
                          </m:sSub>
                          <m:r>
                            <a:rPr lang="en-US" altLang="zh-TW" sz="2000" b="0" i="1" smtClean="0">
                              <a:latin typeface="Cambria Math" panose="02040503050406030204" pitchFamily="18" charset="0"/>
                            </a:rPr>
                            <m:t>, …,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𝑘</m:t>
                              </m:r>
                            </m:e>
                            <m:sub>
                              <m:r>
                                <a:rPr lang="en-US" altLang="zh-TW" sz="2000" b="0" i="1" smtClean="0">
                                  <a:latin typeface="Cambria Math" panose="02040503050406030204" pitchFamily="18" charset="0"/>
                                </a:rPr>
                                <m:t>𝑗𝐵</m:t>
                              </m:r>
                            </m:sub>
                          </m:sSub>
                        </m:e>
                      </m:d>
                    </m:oMath>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𝑉</m:t>
                          </m:r>
                        </m:e>
                        <m:sub>
                          <m:r>
                            <a:rPr lang="en-US" altLang="zh-TW" sz="2000" b="0" i="1" smtClean="0">
                              <a:latin typeface="Cambria Math" panose="02040503050406030204" pitchFamily="18" charset="0"/>
                            </a:rPr>
                            <m:t>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𝑣</m:t>
                          </m:r>
                        </m:e>
                        <m:sub>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𝑗</m:t>
                              </m:r>
                              <m:r>
                                <a:rPr lang="en-US" altLang="zh-TW" sz="2000" b="0" i="1" smtClean="0">
                                  <a:latin typeface="Cambria Math" panose="02040503050406030204" pitchFamily="18" charset="0"/>
                                </a:rPr>
                                <m:t>−1</m:t>
                              </m:r>
                            </m:e>
                          </m:d>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𝑣</m:t>
                          </m:r>
                        </m:e>
                        <m:sub>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𝑗</m:t>
                              </m:r>
                              <m:r>
                                <a:rPr lang="en-US" altLang="zh-TW" sz="2000" b="0" i="1" smtClean="0">
                                  <a:latin typeface="Cambria Math" panose="02040503050406030204" pitchFamily="18" charset="0"/>
                                </a:rPr>
                                <m:t>−1</m:t>
                              </m:r>
                            </m:e>
                          </m:d>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 …,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𝑣</m:t>
                          </m:r>
                        </m:e>
                        <m:sub>
                          <m:r>
                            <a:rPr lang="en-US" altLang="zh-TW" sz="2000" b="0" i="1" smtClean="0">
                              <a:latin typeface="Cambria Math" panose="02040503050406030204" pitchFamily="18" charset="0"/>
                            </a:rPr>
                            <m:t>𝑗𝐵</m:t>
                          </m:r>
                        </m:sub>
                      </m:sSub>
                      <m:r>
                        <a:rPr lang="en-US" altLang="zh-TW" sz="2000" b="0" i="1" smtClean="0">
                          <a:latin typeface="Cambria Math" panose="02040503050406030204" pitchFamily="18" charset="0"/>
                        </a:rPr>
                        <m:t>)</m:t>
                      </m:r>
                    </m:oMath>
                  </m:oMathPara>
                </a14:m>
                <a:endParaRPr lang="en-US" altLang="zh-TW" sz="2000" dirty="0"/>
              </a:p>
              <a:p>
                <a:pPr marL="0" indent="0">
                  <a:lnSpc>
                    <a:spcPct val="100000"/>
                  </a:lnSpc>
                  <a:buNone/>
                </a:pPr>
                <a:r>
                  <a:rPr lang="en-US" altLang="zh-TW" sz="2000" dirty="0"/>
                  <a:t>     The attention computation in self-attention layer can be transformed into</a:t>
                </a:r>
                <a:endParaRPr lang="en-US" altLang="zh-TW"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f>
                        <m:fPr>
                          <m:ctrlPr>
                            <a:rPr lang="en-US" altLang="zh-TW" sz="2000" b="0" i="1" smtClean="0">
                              <a:latin typeface="Cambria Math" panose="02040503050406030204" pitchFamily="18" charset="0"/>
                            </a:rPr>
                          </m:ctrlPr>
                        </m:fPr>
                        <m:num>
                          <m:func>
                            <m:funcPr>
                              <m:ctrlPr>
                                <a:rPr lang="en-US" altLang="zh-TW" sz="2000" b="0" i="1" smtClean="0">
                                  <a:latin typeface="Cambria Math" panose="02040503050406030204" pitchFamily="18" charset="0"/>
                                </a:rPr>
                              </m:ctrlPr>
                            </m:funcPr>
                            <m:fName>
                              <m:r>
                                <m:rPr>
                                  <m:sty m:val="p"/>
                                </m:rPr>
                                <a:rPr lang="en-US" altLang="zh-TW" sz="2000" b="0" i="0" smtClean="0">
                                  <a:latin typeface="Cambria Math" panose="02040503050406030204" pitchFamily="18" charset="0"/>
                                </a:rPr>
                                <m:t>exp</m:t>
                              </m:r>
                            </m:fName>
                            <m:e>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 </m:t>
                                  </m:r>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𝑞</m:t>
                                      </m:r>
                                    </m:e>
                                    <m:sub>
                                      <m:r>
                                        <a:rPr lang="en-US" altLang="zh-TW" sz="2000" b="0" i="1" smtClean="0">
                                          <a:latin typeface="Cambria Math" panose="02040503050406030204" pitchFamily="18" charset="0"/>
                                        </a:rPr>
                                        <m:t>𝑖</m:t>
                                      </m:r>
                                    </m:sub>
                                    <m:sup>
                                      <m:r>
                                        <a:rPr lang="en-US" altLang="zh-TW" sz="2000" b="0" i="1" smtClean="0">
                                          <a:latin typeface="Cambria Math" panose="02040503050406030204" pitchFamily="18" charset="0"/>
                                        </a:rPr>
                                        <m:t>𝑇</m:t>
                                      </m:r>
                                    </m:sup>
                                  </m:sSubSup>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𝐾</m:t>
                                      </m:r>
                                    </m:e>
                                    <m:sub>
                                      <m:r>
                                        <a:rPr lang="en-US" altLang="zh-TW" sz="2000" b="0" i="1" smtClean="0">
                                          <a:latin typeface="Cambria Math" panose="02040503050406030204" pitchFamily="18" charset="0"/>
                                        </a:rPr>
                                        <m:t>𝑗</m:t>
                                      </m:r>
                                    </m:sub>
                                  </m:sSub>
                                  <m:r>
                                    <m:rPr>
                                      <m:lit/>
                                    </m:rPr>
                                    <a:rPr lang="en-US" altLang="zh-TW" sz="2000" b="0" i="1" smtClean="0">
                                      <a:latin typeface="Cambria Math" panose="02040503050406030204" pitchFamily="18" charset="0"/>
                                    </a:rPr>
                                    <m:t>/</m:t>
                                  </m:r>
                                  <m:rad>
                                    <m:radPr>
                                      <m:degHide m:val="on"/>
                                      <m:ctrlPr>
                                        <a:rPr lang="en-US" altLang="zh-TW" sz="2000" b="0" i="1" smtClean="0">
                                          <a:latin typeface="Cambria Math" panose="02040503050406030204" pitchFamily="18" charset="0"/>
                                        </a:rPr>
                                      </m:ctrlPr>
                                    </m:radPr>
                                    <m:deg/>
                                    <m:e>
                                      <m:r>
                                        <a:rPr lang="en-US" altLang="zh-TW" sz="2000" b="0" i="1" smtClean="0">
                                          <a:latin typeface="Cambria Math" panose="02040503050406030204" pitchFamily="18" charset="0"/>
                                        </a:rPr>
                                        <m:t>𝑑</m:t>
                                      </m:r>
                                    </m:e>
                                  </m:rad>
                                </m:e>
                              </m:d>
                            </m:e>
                          </m:func>
                        </m:num>
                        <m:den>
                          <m:nary>
                            <m:naryPr>
                              <m:chr m:val="∑"/>
                              <m:limLoc m:val="subSup"/>
                              <m:ctrlPr>
                                <a:rPr lang="en-US" altLang="zh-TW" sz="2000" b="0" i="1" smtClean="0">
                                  <a:latin typeface="Cambria Math" panose="02040503050406030204" pitchFamily="18" charset="0"/>
                                </a:rPr>
                              </m:ctrlPr>
                            </m:naryPr>
                            <m:sub>
                              <m:r>
                                <m:rPr>
                                  <m:brk m:alnAt="25"/>
                                </m:rPr>
                                <a:rPr lang="en-US" altLang="zh-TW" sz="2000" b="0" i="1" smtClean="0">
                                  <a:latin typeface="Cambria Math" panose="02040503050406030204" pitchFamily="18" charset="0"/>
                                </a:rPr>
                                <m:t>𝑡</m:t>
                              </m:r>
                              <m:r>
                                <a:rPr lang="en-US" altLang="zh-TW" sz="2000" b="0" i="1" smtClean="0">
                                  <a:latin typeface="Cambria Math" panose="02040503050406030204" pitchFamily="18" charset="0"/>
                                </a:rPr>
                                <m:t>=1</m:t>
                              </m:r>
                            </m:sub>
                            <m:sup>
                              <m:d>
                                <m:dPr>
                                  <m:begChr m:val="⌈"/>
                                  <m:endChr m:val="⌉"/>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𝑖</m:t>
                                  </m:r>
                                  <m:r>
                                    <m:rPr>
                                      <m:lit/>
                                    </m:rP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𝐵</m:t>
                                  </m:r>
                                </m:e>
                              </m:d>
                            </m:sup>
                            <m:e>
                              <m:func>
                                <m:funcPr>
                                  <m:ctrlPr>
                                    <a:rPr lang="en-US" altLang="zh-TW" sz="2000" b="0" i="1" smtClean="0">
                                      <a:latin typeface="Cambria Math" panose="02040503050406030204" pitchFamily="18" charset="0"/>
                                    </a:rPr>
                                  </m:ctrlPr>
                                </m:funcPr>
                                <m:fName>
                                  <m:r>
                                    <m:rPr>
                                      <m:sty m:val="p"/>
                                    </m:rPr>
                                    <a:rPr lang="en-US" altLang="zh-TW" sz="2000" b="0" i="0" smtClean="0">
                                      <a:latin typeface="Cambria Math" panose="02040503050406030204" pitchFamily="18" charset="0"/>
                                    </a:rPr>
                                    <m:t>exp</m:t>
                                  </m:r>
                                </m:fName>
                                <m:e>
                                  <m:d>
                                    <m:dPr>
                                      <m:ctrlPr>
                                        <a:rPr lang="en-US" altLang="zh-TW" sz="2000" b="0" i="1" smtClean="0">
                                          <a:latin typeface="Cambria Math" panose="02040503050406030204" pitchFamily="18" charset="0"/>
                                        </a:rPr>
                                      </m:ctrlPr>
                                    </m:dPr>
                                    <m:e>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𝑞</m:t>
                                          </m:r>
                                        </m:e>
                                        <m:sub>
                                          <m:r>
                                            <a:rPr lang="en-US" altLang="zh-TW" sz="2000" b="0" i="1" smtClean="0">
                                              <a:latin typeface="Cambria Math" panose="02040503050406030204" pitchFamily="18" charset="0"/>
                                            </a:rPr>
                                            <m:t>𝑖</m:t>
                                          </m:r>
                                        </m:sub>
                                        <m:sup>
                                          <m:r>
                                            <a:rPr lang="en-US" altLang="zh-TW" sz="2000" b="0" i="1" smtClean="0">
                                              <a:latin typeface="Cambria Math" panose="02040503050406030204" pitchFamily="18" charset="0"/>
                                            </a:rPr>
                                            <m:t>𝑇</m:t>
                                          </m:r>
                                        </m:sup>
                                      </m:sSubSup>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𝐾</m:t>
                                          </m:r>
                                        </m:e>
                                        <m:sub>
                                          <m:r>
                                            <a:rPr lang="en-US" altLang="zh-TW" sz="2000" b="0" i="1" smtClean="0">
                                              <a:latin typeface="Cambria Math" panose="02040503050406030204" pitchFamily="18" charset="0"/>
                                            </a:rPr>
                                            <m:t>𝑡</m:t>
                                          </m:r>
                                        </m:sub>
                                      </m:sSub>
                                      <m:acc>
                                        <m:accPr>
                                          <m:chr m:val="⃗"/>
                                          <m:ctrlPr>
                                            <a:rPr lang="en-US" altLang="zh-TW" sz="2000" b="0" i="1" smtClean="0">
                                              <a:latin typeface="Cambria Math" panose="02040503050406030204" pitchFamily="18" charset="0"/>
                                            </a:rPr>
                                          </m:ctrlPr>
                                        </m:accPr>
                                        <m:e>
                                          <m:r>
                                            <a:rPr lang="en-US" altLang="zh-TW" sz="2000" b="0" i="1" smtClean="0">
                                              <a:latin typeface="Cambria Math" panose="02040503050406030204" pitchFamily="18" charset="0"/>
                                            </a:rPr>
                                            <m:t>1</m:t>
                                          </m:r>
                                        </m:e>
                                      </m:acc>
                                      <m:r>
                                        <m:rPr>
                                          <m:lit/>
                                        </m:rPr>
                                        <a:rPr lang="en-US" altLang="zh-TW" sz="2000" b="0" i="1" smtClean="0">
                                          <a:latin typeface="Cambria Math" panose="02040503050406030204" pitchFamily="18" charset="0"/>
                                        </a:rPr>
                                        <m:t>/</m:t>
                                      </m:r>
                                      <m:rad>
                                        <m:radPr>
                                          <m:degHide m:val="on"/>
                                          <m:ctrlPr>
                                            <a:rPr lang="en-US" altLang="zh-TW" sz="2000" b="0" i="1" smtClean="0">
                                              <a:latin typeface="Cambria Math" panose="02040503050406030204" pitchFamily="18" charset="0"/>
                                            </a:rPr>
                                          </m:ctrlPr>
                                        </m:radPr>
                                        <m:deg/>
                                        <m:e>
                                          <m:r>
                                            <a:rPr lang="en-US" altLang="zh-TW" sz="2000" b="0" i="1" smtClean="0">
                                              <a:latin typeface="Cambria Math" panose="02040503050406030204" pitchFamily="18" charset="0"/>
                                            </a:rPr>
                                            <m:t>𝑑</m:t>
                                          </m:r>
                                        </m:e>
                                      </m:rad>
                                    </m:e>
                                  </m:d>
                                </m:e>
                              </m:func>
                            </m:e>
                          </m:nary>
                        </m:den>
                      </m:f>
                      <m:r>
                        <a:rPr lang="en-US" altLang="zh-TW" sz="2000" b="0" i="1" smtClean="0">
                          <a:latin typeface="Cambria Math" panose="02040503050406030204" pitchFamily="18" charset="0"/>
                        </a:rPr>
                        <m:t>,</m:t>
                      </m:r>
                      <m:r>
                        <m:rPr>
                          <m:lit/>
                        </m:rP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𝑜</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nary>
                        <m:naryPr>
                          <m:chr m:val="∑"/>
                          <m:limLoc m:val="subSup"/>
                          <m:ctrlPr>
                            <a:rPr lang="en-US" altLang="zh-TW" sz="2000" b="0" i="1" smtClean="0">
                              <a:latin typeface="Cambria Math" panose="02040503050406030204" pitchFamily="18" charset="0"/>
                            </a:rPr>
                          </m:ctrlPr>
                        </m:naryPr>
                        <m:sub>
                          <m:r>
                            <m:rPr>
                              <m:brk m:alnAt="25"/>
                            </m:rPr>
                            <a:rPr lang="en-US" altLang="zh-TW" sz="2000" b="0" i="1" smtClean="0">
                              <a:latin typeface="Cambria Math" panose="02040503050406030204" pitchFamily="18" charset="0"/>
                            </a:rPr>
                            <m:t>𝑗</m:t>
                          </m:r>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𝑖</m:t>
                          </m:r>
                          <m:r>
                            <m:rPr>
                              <m:lit/>
                            </m:rP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m:t>
                          </m:r>
                        </m:sup>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𝑉</m:t>
                              </m:r>
                            </m:e>
                            <m:sub>
                              <m:r>
                                <a:rPr lang="en-US" altLang="zh-TW" sz="2000" b="0" i="1" smtClean="0">
                                  <a:latin typeface="Cambria Math" panose="02040503050406030204" pitchFamily="18" charset="0"/>
                                </a:rPr>
                                <m:t>𝑗</m:t>
                              </m:r>
                            </m:sub>
                          </m:sSub>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𝑖𝑗</m:t>
                              </m:r>
                            </m:sub>
                            <m:sup>
                              <m:r>
                                <a:rPr lang="en-US" altLang="zh-TW" sz="2000" b="0" i="1" smtClean="0">
                                  <a:latin typeface="Cambria Math" panose="02040503050406030204" pitchFamily="18" charset="0"/>
                                </a:rPr>
                                <m:t>𝑇</m:t>
                              </m:r>
                            </m:sup>
                          </m:sSubSup>
                        </m:e>
                      </m:nary>
                    </m:oMath>
                  </m:oMathPara>
                </a14:m>
                <a:endParaRPr lang="en-US" altLang="zh-TW" sz="2000" dirty="0"/>
              </a:p>
              <a:p>
                <a:pPr marL="0" indent="0">
                  <a:lnSpc>
                    <a:spcPct val="100000"/>
                  </a:lnSpc>
                  <a:buNone/>
                </a:pPr>
                <a:endParaRPr lang="en-US" altLang="zh-TW" sz="200" dirty="0"/>
              </a:p>
              <a:p>
                <a:pPr marL="0" indent="0">
                  <a:lnSpc>
                    <a:spcPct val="100000"/>
                  </a:lnSpc>
                  <a:buNone/>
                </a:pPr>
                <a:r>
                  <a:rPr lang="zh-TW" altLang="en-US" sz="2000" i="1" dirty="0"/>
                  <a:t>     </a:t>
                </a:r>
                <a:r>
                  <a:rPr lang="en-US" altLang="zh-TW" sz="2000" dirty="0"/>
                  <a:t>Where </a:t>
                </a: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𝑎</m:t>
                        </m:r>
                      </m:e>
                      <m:sub>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 </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𝑗</m:t>
                            </m:r>
                            <m:r>
                              <a:rPr lang="en-US" altLang="zh-TW" sz="2000" b="0" i="1" smtClean="0">
                                <a:latin typeface="Cambria Math" panose="02040503050406030204" pitchFamily="18" charset="0"/>
                              </a:rPr>
                              <m:t>−1</m:t>
                            </m:r>
                          </m:e>
                        </m:d>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 …,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𝑎</m:t>
                        </m:r>
                      </m:e>
                      <m:sub>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𝑗𝐵</m:t>
                        </m:r>
                      </m:sub>
                    </m:sSub>
                    <m:r>
                      <a:rPr lang="en-US" altLang="zh-TW" sz="2000" b="0" i="1" smtClean="0">
                        <a:latin typeface="Cambria Math" panose="02040503050406030204" pitchFamily="18" charset="0"/>
                      </a:rPr>
                      <m:t>)</m:t>
                    </m:r>
                  </m:oMath>
                </a14:m>
                <a:r>
                  <a:rPr lang="en-US" altLang="zh-TW" sz="2000" dirty="0"/>
                  <a:t> is the row vector of attention score on j-</a:t>
                </a:r>
                <a:r>
                  <a:rPr lang="en-US" altLang="zh-TW" sz="2000" dirty="0" err="1"/>
                  <a:t>th</a:t>
                </a:r>
                <a:r>
                  <a:rPr lang="en-US" altLang="zh-TW" sz="2000" dirty="0"/>
                  <a:t> KV block</a:t>
                </a:r>
              </a:p>
            </p:txBody>
          </p:sp>
        </mc:Choice>
        <mc:Fallback>
          <p:sp>
            <p:nvSpPr>
              <p:cNvPr id="4" name="內容版面配置區 2">
                <a:extLst>
                  <a:ext uri="{FF2B5EF4-FFF2-40B4-BE49-F238E27FC236}">
                    <a16:creationId xmlns:a16="http://schemas.microsoft.com/office/drawing/2014/main" id="{2ED7C9A7-9463-E695-D60B-CB671BA2F2D9}"/>
                  </a:ext>
                </a:extLst>
              </p:cNvPr>
              <p:cNvSpPr>
                <a:spLocks noGrp="1" noRot="1" noChangeAspect="1" noMove="1" noResize="1" noEditPoints="1" noAdjustHandles="1" noChangeArrowheads="1" noChangeShapeType="1" noTextEdit="1"/>
              </p:cNvSpPr>
              <p:nvPr>
                <p:ph idx="1"/>
              </p:nvPr>
            </p:nvSpPr>
            <p:spPr>
              <a:xfrm>
                <a:off x="838200" y="1520824"/>
                <a:ext cx="7086600" cy="5440807"/>
              </a:xfrm>
              <a:blipFill>
                <a:blip r:embed="rId2"/>
                <a:stretch>
                  <a:fillRect l="-947" t="-560" r="-1119"/>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BBF77EAE-FAF1-3AA3-26FF-0EA0A6D1DC40}"/>
              </a:ext>
            </a:extLst>
          </p:cNvPr>
          <p:cNvPicPr>
            <a:picLocks noChangeAspect="1"/>
          </p:cNvPicPr>
          <p:nvPr/>
        </p:nvPicPr>
        <p:blipFill>
          <a:blip r:embed="rId3"/>
          <a:stretch>
            <a:fillRect/>
          </a:stretch>
        </p:blipFill>
        <p:spPr>
          <a:xfrm>
            <a:off x="7396906" y="3429000"/>
            <a:ext cx="4660982" cy="2486850"/>
          </a:xfrm>
          <a:prstGeom prst="rect">
            <a:avLst/>
          </a:prstGeom>
        </p:spPr>
      </p:pic>
    </p:spTree>
    <p:extLst>
      <p:ext uri="{BB962C8B-B14F-4D97-AF65-F5344CB8AC3E}">
        <p14:creationId xmlns:p14="http://schemas.microsoft.com/office/powerpoint/2010/main" val="3250054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0C359-1D87-2C15-4DC3-CE6A79304D1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DDDEDF0-FD79-B38A-C14F-11C8C0623774}"/>
              </a:ext>
            </a:extLst>
          </p:cNvPr>
          <p:cNvSpPr>
            <a:spLocks noGrp="1"/>
          </p:cNvSpPr>
          <p:nvPr>
            <p:ph type="title"/>
          </p:nvPr>
        </p:nvSpPr>
        <p:spPr/>
        <p:txBody>
          <a:bodyPr/>
          <a:lstStyle/>
          <a:p>
            <a:pPr algn="ctr"/>
            <a:r>
              <a:rPr lang="en-US" altLang="zh-TW" dirty="0"/>
              <a:t>KV</a:t>
            </a:r>
            <a:r>
              <a:rPr lang="zh-TW" altLang="en-US" dirty="0"/>
              <a:t> </a:t>
            </a:r>
            <a:r>
              <a:rPr lang="en-US" altLang="zh-TW" dirty="0"/>
              <a:t>Cache Manager</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50B9596A-6648-82D9-69C3-B3CB3AC83DAF}"/>
              </a:ext>
            </a:extLst>
          </p:cNvPr>
          <p:cNvSpPr>
            <a:spLocks noGrp="1"/>
          </p:cNvSpPr>
          <p:nvPr>
            <p:ph idx="1"/>
          </p:nvPr>
        </p:nvSpPr>
        <p:spPr>
          <a:xfrm>
            <a:off x="838200" y="1520824"/>
            <a:ext cx="10515600" cy="5440807"/>
          </a:xfrm>
        </p:spPr>
        <p:txBody>
          <a:bodyPr>
            <a:normAutofit/>
          </a:bodyPr>
          <a:lstStyle/>
          <a:p>
            <a:pPr>
              <a:lnSpc>
                <a:spcPts val="2400"/>
              </a:lnSpc>
            </a:pPr>
            <a:r>
              <a:rPr lang="en-US" altLang="zh-TW" sz="2000" dirty="0"/>
              <a:t>A request’s KV cache is represented as a series of logical KV blocks, filled from left to right as new tokens and their KV cache are generated. The last KV block’s unfilled positions are reserved for future generations.</a:t>
            </a:r>
          </a:p>
          <a:p>
            <a:pPr>
              <a:lnSpc>
                <a:spcPts val="2400"/>
              </a:lnSpc>
            </a:pPr>
            <a:r>
              <a:rPr lang="en-US" altLang="zh-TW" sz="2000" dirty="0"/>
              <a:t>On GPU workers, a block engine allocates a contiguous chunk of GPU DRAM and divides it into physical KV blocks</a:t>
            </a:r>
          </a:p>
          <a:p>
            <a:pPr>
              <a:lnSpc>
                <a:spcPts val="2400"/>
              </a:lnSpc>
            </a:pPr>
            <a:r>
              <a:rPr lang="en-US" altLang="zh-TW" sz="2000" dirty="0"/>
              <a:t>The KV block manager also maintains block tables to mapping between logical and physical KV blocks of each requests</a:t>
            </a:r>
          </a:p>
        </p:txBody>
      </p:sp>
      <p:pic>
        <p:nvPicPr>
          <p:cNvPr id="10" name="圖片 9">
            <a:extLst>
              <a:ext uri="{FF2B5EF4-FFF2-40B4-BE49-F238E27FC236}">
                <a16:creationId xmlns:a16="http://schemas.microsoft.com/office/drawing/2014/main" id="{CB54B46B-8299-D9F1-60FE-C470BFCACE92}"/>
              </a:ext>
            </a:extLst>
          </p:cNvPr>
          <p:cNvPicPr>
            <a:picLocks noChangeAspect="1"/>
          </p:cNvPicPr>
          <p:nvPr/>
        </p:nvPicPr>
        <p:blipFill>
          <a:blip r:embed="rId2"/>
          <a:stretch>
            <a:fillRect/>
          </a:stretch>
        </p:blipFill>
        <p:spPr>
          <a:xfrm>
            <a:off x="5047173" y="3705988"/>
            <a:ext cx="5437948" cy="3036188"/>
          </a:xfrm>
          <a:prstGeom prst="rect">
            <a:avLst/>
          </a:prstGeom>
        </p:spPr>
      </p:pic>
    </p:spTree>
    <p:extLst>
      <p:ext uri="{BB962C8B-B14F-4D97-AF65-F5344CB8AC3E}">
        <p14:creationId xmlns:p14="http://schemas.microsoft.com/office/powerpoint/2010/main" val="129511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740CB-0D79-8285-5465-7A695627D3B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C71E9CC-6544-F6BB-4A73-187675D36D33}"/>
              </a:ext>
            </a:extLst>
          </p:cNvPr>
          <p:cNvSpPr>
            <a:spLocks noGrp="1"/>
          </p:cNvSpPr>
          <p:nvPr>
            <p:ph type="title"/>
          </p:nvPr>
        </p:nvSpPr>
        <p:spPr/>
        <p:txBody>
          <a:bodyPr/>
          <a:lstStyle/>
          <a:p>
            <a:pPr algn="ctr"/>
            <a:r>
              <a:rPr lang="en-US" altLang="zh-TW" dirty="0"/>
              <a:t>Decoding</a:t>
            </a:r>
            <a:r>
              <a:rPr lang="zh-TW" altLang="en-US" dirty="0"/>
              <a:t> </a:t>
            </a:r>
            <a:r>
              <a:rPr lang="en-US" altLang="zh-TW" dirty="0"/>
              <a:t>with</a:t>
            </a:r>
            <a:r>
              <a:rPr lang="zh-TW" altLang="en-US" dirty="0"/>
              <a:t> </a:t>
            </a:r>
            <a:r>
              <a:rPr lang="en-US" altLang="zh-TW" dirty="0" err="1"/>
              <a:t>PagedAttention</a:t>
            </a:r>
            <a:r>
              <a:rPr lang="zh-TW" altLang="en-US" dirty="0"/>
              <a:t> </a:t>
            </a:r>
            <a:r>
              <a:rPr lang="en-US" altLang="zh-TW" dirty="0"/>
              <a:t>and</a:t>
            </a:r>
            <a:r>
              <a:rPr lang="zh-TW" altLang="en-US" dirty="0"/>
              <a:t> </a:t>
            </a:r>
            <a:r>
              <a:rPr lang="en-US" altLang="zh-TW" dirty="0" err="1"/>
              <a:t>vLLM</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12DA9B8B-A54B-9E5C-55E5-F0882A9074D9}"/>
              </a:ext>
            </a:extLst>
          </p:cNvPr>
          <p:cNvSpPr>
            <a:spLocks noGrp="1"/>
          </p:cNvSpPr>
          <p:nvPr>
            <p:ph idx="1"/>
          </p:nvPr>
        </p:nvSpPr>
        <p:spPr>
          <a:xfrm>
            <a:off x="838200" y="1520824"/>
            <a:ext cx="6281928" cy="5440807"/>
          </a:xfrm>
        </p:spPr>
        <p:txBody>
          <a:bodyPr>
            <a:normAutofit/>
          </a:bodyPr>
          <a:lstStyle/>
          <a:p>
            <a:pPr>
              <a:lnSpc>
                <a:spcPts val="2400"/>
              </a:lnSpc>
            </a:pPr>
            <a:r>
              <a:rPr lang="en-US" altLang="zh-TW" sz="2000" dirty="0" err="1"/>
              <a:t>vLLM</a:t>
            </a:r>
            <a:r>
              <a:rPr lang="zh-TW" altLang="en-US" sz="2000" dirty="0"/>
              <a:t> </a:t>
            </a:r>
            <a:r>
              <a:rPr lang="en-US" altLang="zh-TW" sz="2000" dirty="0"/>
              <a:t>first</a:t>
            </a:r>
            <a:r>
              <a:rPr lang="zh-TW" altLang="en-US" sz="2000" dirty="0"/>
              <a:t> </a:t>
            </a:r>
            <a:r>
              <a:rPr lang="en-US" altLang="zh-TW" sz="2000" dirty="0">
                <a:solidFill>
                  <a:srgbClr val="FF0000"/>
                </a:solidFill>
              </a:rPr>
              <a:t>selects a</a:t>
            </a:r>
            <a:r>
              <a:rPr lang="zh-TW" altLang="en-US" sz="2000" dirty="0">
                <a:solidFill>
                  <a:srgbClr val="FF0000"/>
                </a:solidFill>
              </a:rPr>
              <a:t> </a:t>
            </a:r>
            <a:r>
              <a:rPr lang="en-US" altLang="zh-TW" sz="2000" dirty="0">
                <a:solidFill>
                  <a:srgbClr val="FF0000"/>
                </a:solidFill>
              </a:rPr>
              <a:t>set</a:t>
            </a:r>
            <a:r>
              <a:rPr lang="zh-TW" altLang="en-US" sz="2000" dirty="0">
                <a:solidFill>
                  <a:srgbClr val="FF0000"/>
                </a:solidFill>
              </a:rPr>
              <a:t> </a:t>
            </a:r>
            <a:r>
              <a:rPr lang="en-US" altLang="zh-TW" sz="2000" dirty="0">
                <a:solidFill>
                  <a:srgbClr val="FF0000"/>
                </a:solidFill>
              </a:rPr>
              <a:t>of</a:t>
            </a:r>
            <a:r>
              <a:rPr lang="zh-TW" altLang="en-US" sz="2000" dirty="0">
                <a:solidFill>
                  <a:srgbClr val="FF0000"/>
                </a:solidFill>
              </a:rPr>
              <a:t> </a:t>
            </a:r>
            <a:r>
              <a:rPr lang="en-US" altLang="zh-TW" sz="2000" dirty="0">
                <a:solidFill>
                  <a:srgbClr val="FF0000"/>
                </a:solidFill>
              </a:rPr>
              <a:t>candidate</a:t>
            </a:r>
            <a:r>
              <a:rPr lang="zh-TW" altLang="en-US" sz="2000" dirty="0">
                <a:solidFill>
                  <a:srgbClr val="FF0000"/>
                </a:solidFill>
              </a:rPr>
              <a:t> </a:t>
            </a:r>
            <a:r>
              <a:rPr lang="en-US" altLang="zh-TW" sz="2000" dirty="0">
                <a:solidFill>
                  <a:srgbClr val="FF0000"/>
                </a:solidFill>
              </a:rPr>
              <a:t>sequences for</a:t>
            </a:r>
            <a:r>
              <a:rPr lang="zh-TW" altLang="en-US" sz="2000" dirty="0">
                <a:solidFill>
                  <a:srgbClr val="FF0000"/>
                </a:solidFill>
              </a:rPr>
              <a:t> </a:t>
            </a:r>
            <a:r>
              <a:rPr lang="en-US" altLang="zh-TW" sz="2000" dirty="0">
                <a:solidFill>
                  <a:srgbClr val="FF0000"/>
                </a:solidFill>
              </a:rPr>
              <a:t>batching, and</a:t>
            </a:r>
            <a:r>
              <a:rPr lang="zh-TW" altLang="en-US" sz="2000" dirty="0">
                <a:solidFill>
                  <a:srgbClr val="FF0000"/>
                </a:solidFill>
              </a:rPr>
              <a:t> </a:t>
            </a:r>
            <a:r>
              <a:rPr lang="en-US" altLang="zh-TW" sz="2000" dirty="0">
                <a:solidFill>
                  <a:srgbClr val="FF0000"/>
                </a:solidFill>
              </a:rPr>
              <a:t>allocates the physical blocks </a:t>
            </a:r>
            <a:r>
              <a:rPr lang="en-US" altLang="zh-TW" sz="2000" dirty="0"/>
              <a:t>for the newly required logical blocks.</a:t>
            </a:r>
          </a:p>
          <a:p>
            <a:pPr>
              <a:lnSpc>
                <a:spcPts val="2400"/>
              </a:lnSpc>
            </a:pPr>
            <a:r>
              <a:rPr lang="en-US" altLang="zh-TW" sz="2000" dirty="0"/>
              <a:t>Then </a:t>
            </a:r>
            <a:r>
              <a:rPr lang="en-US" altLang="zh-TW" sz="2000" dirty="0" err="1"/>
              <a:t>vLLM</a:t>
            </a:r>
            <a:r>
              <a:rPr lang="en-US" altLang="zh-TW" sz="2000" dirty="0"/>
              <a:t> </a:t>
            </a:r>
            <a:r>
              <a:rPr lang="en-US" altLang="zh-TW" sz="2000" dirty="0">
                <a:solidFill>
                  <a:srgbClr val="FF0000"/>
                </a:solidFill>
              </a:rPr>
              <a:t>concatenates all the input tokens of the current iteration as one sequence </a:t>
            </a:r>
            <a:r>
              <a:rPr lang="en-US" altLang="zh-TW" sz="2000" dirty="0"/>
              <a:t>and feeds it into the LLM</a:t>
            </a:r>
          </a:p>
          <a:p>
            <a:pPr>
              <a:lnSpc>
                <a:spcPts val="2400"/>
              </a:lnSpc>
            </a:pPr>
            <a:r>
              <a:rPr lang="en-US" altLang="zh-TW" sz="2000" dirty="0"/>
              <a:t>During LLM’s computation, </a:t>
            </a:r>
            <a:r>
              <a:rPr lang="en-US" altLang="zh-TW" sz="2000" dirty="0" err="1"/>
              <a:t>vLLM</a:t>
            </a:r>
            <a:r>
              <a:rPr lang="en-US" altLang="zh-TW" sz="2000" dirty="0"/>
              <a:t> uses the </a:t>
            </a:r>
            <a:r>
              <a:rPr lang="en-US" altLang="zh-TW" sz="2000" dirty="0" err="1"/>
              <a:t>PagedAttention</a:t>
            </a:r>
            <a:r>
              <a:rPr lang="en-US" altLang="zh-TW" sz="2000" dirty="0"/>
              <a:t> kernel to </a:t>
            </a:r>
            <a:r>
              <a:rPr lang="en-US" altLang="zh-TW" sz="2000" dirty="0">
                <a:solidFill>
                  <a:srgbClr val="FF0000"/>
                </a:solidFill>
              </a:rPr>
              <a:t>access the previous KV cache stored in the form of logical KV blocks and save the newly generated KV cache into the physical KV blocks</a:t>
            </a:r>
          </a:p>
          <a:p>
            <a:pPr>
              <a:lnSpc>
                <a:spcPts val="2400"/>
              </a:lnSpc>
            </a:pPr>
            <a:r>
              <a:rPr lang="en-US" altLang="zh-TW" sz="2000" dirty="0"/>
              <a:t>Storing multiple tokens within a KV block allows the </a:t>
            </a:r>
            <a:r>
              <a:rPr lang="en-US" altLang="zh-TW" sz="2000" dirty="0" err="1"/>
              <a:t>PagedAttention</a:t>
            </a:r>
            <a:r>
              <a:rPr lang="en-US" altLang="zh-TW" sz="2000" dirty="0"/>
              <a:t> kernel to </a:t>
            </a:r>
            <a:r>
              <a:rPr lang="en-US" altLang="zh-TW" sz="2000" dirty="0">
                <a:solidFill>
                  <a:srgbClr val="FF0000"/>
                </a:solidFill>
              </a:rPr>
              <a:t>process the KV cache across more position in parallel, thus increasing the HW utilization and reducing latency</a:t>
            </a:r>
          </a:p>
        </p:txBody>
      </p:sp>
      <p:pic>
        <p:nvPicPr>
          <p:cNvPr id="7" name="圖片 6">
            <a:extLst>
              <a:ext uri="{FF2B5EF4-FFF2-40B4-BE49-F238E27FC236}">
                <a16:creationId xmlns:a16="http://schemas.microsoft.com/office/drawing/2014/main" id="{9E894E10-1D2A-2BB8-5CA9-003BFFFE2567}"/>
              </a:ext>
            </a:extLst>
          </p:cNvPr>
          <p:cNvPicPr>
            <a:picLocks noChangeAspect="1"/>
          </p:cNvPicPr>
          <p:nvPr/>
        </p:nvPicPr>
        <p:blipFill>
          <a:blip r:embed="rId2"/>
          <a:stretch>
            <a:fillRect/>
          </a:stretch>
        </p:blipFill>
        <p:spPr>
          <a:xfrm>
            <a:off x="7120128" y="2846387"/>
            <a:ext cx="4742665" cy="2490789"/>
          </a:xfrm>
          <a:prstGeom prst="rect">
            <a:avLst/>
          </a:prstGeom>
        </p:spPr>
      </p:pic>
    </p:spTree>
    <p:extLst>
      <p:ext uri="{BB962C8B-B14F-4D97-AF65-F5344CB8AC3E}">
        <p14:creationId xmlns:p14="http://schemas.microsoft.com/office/powerpoint/2010/main" val="3584779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26D5E-1F23-A318-DB43-4704CBEFBA8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539E4A5-D584-D829-51AC-DF43A8BA7F9F}"/>
              </a:ext>
            </a:extLst>
          </p:cNvPr>
          <p:cNvSpPr>
            <a:spLocks noGrp="1"/>
          </p:cNvSpPr>
          <p:nvPr>
            <p:ph type="title"/>
          </p:nvPr>
        </p:nvSpPr>
        <p:spPr/>
        <p:txBody>
          <a:bodyPr/>
          <a:lstStyle/>
          <a:p>
            <a:pPr algn="ctr"/>
            <a:r>
              <a:rPr lang="en-US" altLang="zh-TW" dirty="0"/>
              <a:t>Application</a:t>
            </a:r>
            <a:r>
              <a:rPr lang="zh-TW" altLang="en-US" dirty="0"/>
              <a:t> </a:t>
            </a:r>
            <a:r>
              <a:rPr lang="en-US" altLang="zh-TW" dirty="0"/>
              <a:t>to</a:t>
            </a:r>
            <a:r>
              <a:rPr lang="zh-TW" altLang="en-US" dirty="0"/>
              <a:t> </a:t>
            </a:r>
            <a:r>
              <a:rPr lang="en-US" altLang="zh-TW" dirty="0"/>
              <a:t>Other</a:t>
            </a:r>
            <a:r>
              <a:rPr lang="zh-TW" altLang="en-US" dirty="0"/>
              <a:t> </a:t>
            </a:r>
            <a:r>
              <a:rPr lang="en-US" altLang="zh-TW" dirty="0"/>
              <a:t>Decoding</a:t>
            </a:r>
            <a:r>
              <a:rPr lang="zh-TW" altLang="en-US" dirty="0"/>
              <a:t> </a:t>
            </a:r>
            <a:r>
              <a:rPr lang="en-US" altLang="zh-TW" dirty="0"/>
              <a:t>Scenarios</a:t>
            </a:r>
            <a:r>
              <a:rPr lang="zh-TW" altLang="en-US" dirty="0"/>
              <a:t> </a:t>
            </a:r>
            <a:r>
              <a:rPr lang="en-US" altLang="zh-TW" dirty="0"/>
              <a:t>I.</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705FB303-6471-31FF-A39A-DED54E75485B}"/>
              </a:ext>
            </a:extLst>
          </p:cNvPr>
          <p:cNvSpPr>
            <a:spLocks noGrp="1"/>
          </p:cNvSpPr>
          <p:nvPr>
            <p:ph idx="1"/>
          </p:nvPr>
        </p:nvSpPr>
        <p:spPr>
          <a:xfrm>
            <a:off x="838200" y="1825625"/>
            <a:ext cx="5257800" cy="4351338"/>
          </a:xfrm>
        </p:spPr>
        <p:txBody>
          <a:bodyPr>
            <a:normAutofit/>
          </a:bodyPr>
          <a:lstStyle/>
          <a:p>
            <a:r>
              <a:rPr lang="en-US" altLang="zh-TW" sz="2000" b="1" dirty="0"/>
              <a:t>Parallel sampling</a:t>
            </a:r>
          </a:p>
          <a:p>
            <a:pPr lvl="1">
              <a:buFont typeface="PMingLiU" panose="02020500000000000000" pitchFamily="18" charset="-120"/>
              <a:buChar char="。"/>
            </a:pPr>
            <a:r>
              <a:rPr lang="en-US" altLang="zh-TW" sz="2000" dirty="0"/>
              <a:t>In LLM-based program assistants[6,18], an LLM generates multiple sampled outputs for a single input prompt</a:t>
            </a:r>
          </a:p>
          <a:p>
            <a:pPr lvl="1">
              <a:buFont typeface="PMingLiU" panose="02020500000000000000" pitchFamily="18" charset="-120"/>
              <a:buChar char="。"/>
            </a:pPr>
            <a:r>
              <a:rPr lang="en-US" altLang="zh-TW" sz="2000" dirty="0"/>
              <a:t>In parallel sampling, one request includes multiple samples sharing the same input prompt, allowing the KV cache of the prompt to be shared as well</a:t>
            </a:r>
          </a:p>
          <a:p>
            <a:pPr lvl="1">
              <a:buFont typeface="PMingLiU" panose="02020500000000000000" pitchFamily="18" charset="-120"/>
              <a:buChar char="。"/>
            </a:pPr>
            <a:r>
              <a:rPr lang="en-US" altLang="zh-TW" sz="2000" dirty="0"/>
              <a:t>By introducing </a:t>
            </a:r>
            <a:r>
              <a:rPr lang="en-US" altLang="zh-TW" sz="2000" dirty="0">
                <a:solidFill>
                  <a:srgbClr val="FF0000"/>
                </a:solidFill>
              </a:rPr>
              <a:t>reference count </a:t>
            </a:r>
            <a:r>
              <a:rPr lang="en-US" altLang="zh-TW" sz="2000" dirty="0"/>
              <a:t>and </a:t>
            </a:r>
            <a:r>
              <a:rPr lang="en-US" altLang="zh-TW" sz="2000" dirty="0">
                <a:solidFill>
                  <a:srgbClr val="FF0000"/>
                </a:solidFill>
              </a:rPr>
              <a:t>copy-on-write mechanism</a:t>
            </a:r>
            <a:r>
              <a:rPr lang="en-US" altLang="zh-TW" sz="2000" dirty="0"/>
              <a:t>, </a:t>
            </a:r>
            <a:r>
              <a:rPr lang="en-US" altLang="zh-TW" sz="2000" dirty="0" err="1"/>
              <a:t>vLLM</a:t>
            </a:r>
            <a:r>
              <a:rPr lang="en-US" altLang="zh-TW" sz="2000" dirty="0"/>
              <a:t> enables the sharing of most of the space used to store the prompts’ KV cache across multiple output samples</a:t>
            </a:r>
            <a:endParaRPr lang="zh-TW" altLang="en-US" sz="2000" dirty="0"/>
          </a:p>
        </p:txBody>
      </p:sp>
      <p:pic>
        <p:nvPicPr>
          <p:cNvPr id="6" name="圖片 5">
            <a:extLst>
              <a:ext uri="{FF2B5EF4-FFF2-40B4-BE49-F238E27FC236}">
                <a16:creationId xmlns:a16="http://schemas.microsoft.com/office/drawing/2014/main" id="{21B7EC1E-829E-B040-7723-9E0642307219}"/>
              </a:ext>
            </a:extLst>
          </p:cNvPr>
          <p:cNvPicPr>
            <a:picLocks noChangeAspect="1"/>
          </p:cNvPicPr>
          <p:nvPr/>
        </p:nvPicPr>
        <p:blipFill>
          <a:blip r:embed="rId2"/>
          <a:stretch>
            <a:fillRect/>
          </a:stretch>
        </p:blipFill>
        <p:spPr>
          <a:xfrm>
            <a:off x="6148729" y="2521243"/>
            <a:ext cx="6043271" cy="2960102"/>
          </a:xfrm>
          <a:prstGeom prst="rect">
            <a:avLst/>
          </a:prstGeom>
        </p:spPr>
      </p:pic>
    </p:spTree>
    <p:extLst>
      <p:ext uri="{BB962C8B-B14F-4D97-AF65-F5344CB8AC3E}">
        <p14:creationId xmlns:p14="http://schemas.microsoft.com/office/powerpoint/2010/main" val="947057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EF008-AD4C-EE80-6E68-E0058369D69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5264DB4-8DBE-41C7-7E7F-88BB13826AD3}"/>
              </a:ext>
            </a:extLst>
          </p:cNvPr>
          <p:cNvSpPr>
            <a:spLocks noGrp="1"/>
          </p:cNvSpPr>
          <p:nvPr>
            <p:ph type="title"/>
          </p:nvPr>
        </p:nvSpPr>
        <p:spPr/>
        <p:txBody>
          <a:bodyPr/>
          <a:lstStyle/>
          <a:p>
            <a:pPr algn="ctr"/>
            <a:r>
              <a:rPr lang="en-US" altLang="zh-TW" dirty="0"/>
              <a:t>Application</a:t>
            </a:r>
            <a:r>
              <a:rPr lang="zh-TW" altLang="en-US" dirty="0"/>
              <a:t> </a:t>
            </a:r>
            <a:r>
              <a:rPr lang="en-US" altLang="zh-TW" dirty="0"/>
              <a:t>to</a:t>
            </a:r>
            <a:r>
              <a:rPr lang="zh-TW" altLang="en-US" dirty="0"/>
              <a:t> </a:t>
            </a:r>
            <a:r>
              <a:rPr lang="en-US" altLang="zh-TW" dirty="0"/>
              <a:t>Other</a:t>
            </a:r>
            <a:r>
              <a:rPr lang="zh-TW" altLang="en-US" dirty="0"/>
              <a:t> </a:t>
            </a:r>
            <a:r>
              <a:rPr lang="en-US" altLang="zh-TW" dirty="0"/>
              <a:t>Decoding</a:t>
            </a:r>
            <a:r>
              <a:rPr lang="zh-TW" altLang="en-US" dirty="0"/>
              <a:t> </a:t>
            </a:r>
            <a:r>
              <a:rPr lang="en-US" altLang="zh-TW" dirty="0"/>
              <a:t>Scenarios II.</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233018BA-7C4A-7709-54CF-BD27A019CC45}"/>
              </a:ext>
            </a:extLst>
          </p:cNvPr>
          <p:cNvSpPr>
            <a:spLocks noGrp="1"/>
          </p:cNvSpPr>
          <p:nvPr>
            <p:ph idx="1"/>
          </p:nvPr>
        </p:nvSpPr>
        <p:spPr>
          <a:xfrm>
            <a:off x="838200" y="1825625"/>
            <a:ext cx="6111240" cy="4351338"/>
          </a:xfrm>
        </p:spPr>
        <p:txBody>
          <a:bodyPr>
            <a:normAutofit/>
          </a:bodyPr>
          <a:lstStyle/>
          <a:p>
            <a:r>
              <a:rPr lang="en-US" altLang="zh-TW" sz="2000" b="1" dirty="0"/>
              <a:t>Beam search</a:t>
            </a:r>
          </a:p>
          <a:p>
            <a:pPr lvl="1"/>
            <a:r>
              <a:rPr lang="en-US" altLang="zh-TW" sz="2000" dirty="0"/>
              <a:t>Keeps the top-k most likely candidate sequences at each generation step, where k is the beam width</a:t>
            </a:r>
          </a:p>
          <a:p>
            <a:pPr lvl="1"/>
            <a:r>
              <a:rPr lang="en-US" altLang="zh-TW" sz="2000" dirty="0"/>
              <a:t>Like Parallel sampling, </a:t>
            </a:r>
            <a:r>
              <a:rPr lang="en-US" altLang="zh-TW" sz="2000" dirty="0" err="1"/>
              <a:t>vLLM</a:t>
            </a:r>
            <a:r>
              <a:rPr lang="en-US" altLang="zh-TW" sz="2000" dirty="0"/>
              <a:t> using </a:t>
            </a:r>
            <a:r>
              <a:rPr lang="en-US" altLang="zh-TW" sz="2000" dirty="0">
                <a:solidFill>
                  <a:srgbClr val="FF0000"/>
                </a:solidFill>
              </a:rPr>
              <a:t>reference count </a:t>
            </a:r>
            <a:r>
              <a:rPr lang="en-US" altLang="zh-TW" sz="2000" dirty="0"/>
              <a:t>and </a:t>
            </a:r>
            <a:r>
              <a:rPr lang="en-US" altLang="zh-TW" sz="2000" dirty="0">
                <a:solidFill>
                  <a:srgbClr val="FF0000"/>
                </a:solidFill>
              </a:rPr>
              <a:t>copy-on-write mechanism </a:t>
            </a:r>
            <a:r>
              <a:rPr lang="en-US" altLang="zh-TW" sz="2000" dirty="0"/>
              <a:t>to handle the common prefix of each candidate</a:t>
            </a:r>
          </a:p>
          <a:p>
            <a:r>
              <a:rPr lang="en-US" altLang="zh-TW" sz="2000" b="1" dirty="0"/>
              <a:t>Shared Prefix (System Prompt)</a:t>
            </a:r>
          </a:p>
          <a:p>
            <a:pPr lvl="1"/>
            <a:r>
              <a:rPr lang="en-US" altLang="zh-TW" sz="2000" dirty="0"/>
              <a:t>Commonly, the LLM user provides a (long) description of the task including instructions and example inputs and outputs</a:t>
            </a:r>
          </a:p>
          <a:p>
            <a:pPr lvl="1"/>
            <a:r>
              <a:rPr lang="en-US" altLang="zh-TW" sz="2000" dirty="0"/>
              <a:t>The description is concatenated with the actual task input to form the prompt of the request</a:t>
            </a:r>
            <a:endParaRPr lang="zh-TW" altLang="en-US" sz="2000" dirty="0"/>
          </a:p>
        </p:txBody>
      </p:sp>
      <p:pic>
        <p:nvPicPr>
          <p:cNvPr id="5" name="圖片 4">
            <a:extLst>
              <a:ext uri="{FF2B5EF4-FFF2-40B4-BE49-F238E27FC236}">
                <a16:creationId xmlns:a16="http://schemas.microsoft.com/office/drawing/2014/main" id="{024EBB27-1AAB-1CF3-BD10-C0D05625CD0F}"/>
              </a:ext>
            </a:extLst>
          </p:cNvPr>
          <p:cNvPicPr>
            <a:picLocks noChangeAspect="1"/>
          </p:cNvPicPr>
          <p:nvPr/>
        </p:nvPicPr>
        <p:blipFill>
          <a:blip r:embed="rId2"/>
          <a:stretch>
            <a:fillRect/>
          </a:stretch>
        </p:blipFill>
        <p:spPr>
          <a:xfrm>
            <a:off x="7249203" y="1962912"/>
            <a:ext cx="4104597" cy="1714691"/>
          </a:xfrm>
          <a:prstGeom prst="rect">
            <a:avLst/>
          </a:prstGeom>
        </p:spPr>
      </p:pic>
      <p:pic>
        <p:nvPicPr>
          <p:cNvPr id="8" name="圖片 7">
            <a:extLst>
              <a:ext uri="{FF2B5EF4-FFF2-40B4-BE49-F238E27FC236}">
                <a16:creationId xmlns:a16="http://schemas.microsoft.com/office/drawing/2014/main" id="{0F6F18BF-76B0-0AC4-4526-B76A5E256AB7}"/>
              </a:ext>
            </a:extLst>
          </p:cNvPr>
          <p:cNvPicPr>
            <a:picLocks noChangeAspect="1"/>
          </p:cNvPicPr>
          <p:nvPr/>
        </p:nvPicPr>
        <p:blipFill>
          <a:blip r:embed="rId3"/>
          <a:stretch>
            <a:fillRect/>
          </a:stretch>
        </p:blipFill>
        <p:spPr>
          <a:xfrm>
            <a:off x="6949440" y="4052202"/>
            <a:ext cx="5070126" cy="2259698"/>
          </a:xfrm>
          <a:prstGeom prst="rect">
            <a:avLst/>
          </a:prstGeom>
        </p:spPr>
      </p:pic>
    </p:spTree>
    <p:extLst>
      <p:ext uri="{BB962C8B-B14F-4D97-AF65-F5344CB8AC3E}">
        <p14:creationId xmlns:p14="http://schemas.microsoft.com/office/powerpoint/2010/main" val="1185209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A8A71-8B3F-75A5-3B15-53EDA8BF94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1209AFC-5622-7123-4406-97A87111B20C}"/>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Scheduling and Preemption</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C18D3BDF-9FE5-952C-5EE7-437CD0F79F5B}"/>
              </a:ext>
            </a:extLst>
          </p:cNvPr>
          <p:cNvSpPr>
            <a:spLocks noGrp="1"/>
          </p:cNvSpPr>
          <p:nvPr>
            <p:ph idx="1"/>
          </p:nvPr>
        </p:nvSpPr>
        <p:spPr>
          <a:xfrm>
            <a:off x="838200" y="1825625"/>
            <a:ext cx="10515600" cy="4351338"/>
          </a:xfrm>
        </p:spPr>
        <p:txBody>
          <a:bodyPr>
            <a:normAutofit/>
          </a:bodyPr>
          <a:lstStyle/>
          <a:p>
            <a:r>
              <a:rPr lang="en-US" altLang="zh-TW" sz="2000" dirty="0"/>
              <a:t>When the request traffic surpasses the system’s capacity, </a:t>
            </a:r>
            <a:r>
              <a:rPr lang="en-US" altLang="zh-TW" sz="2000" dirty="0" err="1"/>
              <a:t>vLLM</a:t>
            </a:r>
            <a:r>
              <a:rPr lang="en-US" altLang="zh-TW" sz="2000" dirty="0"/>
              <a:t> must prioritize a subset of requests. It adopt the </a:t>
            </a:r>
            <a:r>
              <a:rPr lang="en-US" altLang="zh-TW" sz="2000" dirty="0">
                <a:solidFill>
                  <a:srgbClr val="FF0000"/>
                </a:solidFill>
              </a:rPr>
              <a:t>first-come-first-serve (FCFS) </a:t>
            </a:r>
            <a:r>
              <a:rPr lang="en-US" altLang="zh-TW" sz="2000" dirty="0"/>
              <a:t>scheduling policy for all requests, ensuring fairness and preventing starvation</a:t>
            </a:r>
          </a:p>
          <a:p>
            <a:r>
              <a:rPr lang="en-US" altLang="zh-TW" sz="2000" b="1" dirty="0"/>
              <a:t>Which blocks should it evict?</a:t>
            </a:r>
          </a:p>
          <a:p>
            <a:pPr lvl="1"/>
            <a:r>
              <a:rPr lang="en-US" altLang="zh-TW" sz="2000" dirty="0"/>
              <a:t>Since all blocks of a sequence are accessed together, </a:t>
            </a:r>
            <a:r>
              <a:rPr lang="en-US" altLang="zh-TW" sz="2000" dirty="0" err="1"/>
              <a:t>vLLM</a:t>
            </a:r>
            <a:r>
              <a:rPr lang="en-US" altLang="zh-TW" sz="2000" dirty="0"/>
              <a:t> use an all-or-nothing eviction policy. Multiple sequences within one request are gang-scheduled as a sequence group</a:t>
            </a:r>
          </a:p>
          <a:p>
            <a:r>
              <a:rPr lang="en-US" altLang="zh-TW" sz="2000" b="1" dirty="0"/>
              <a:t>How to recover evicted blocks if needed again?</a:t>
            </a:r>
          </a:p>
          <a:p>
            <a:pPr lvl="1"/>
            <a:r>
              <a:rPr lang="en-US" altLang="zh-TW" sz="2000" i="1" dirty="0"/>
              <a:t>Swapping</a:t>
            </a:r>
          </a:p>
          <a:p>
            <a:pPr lvl="2"/>
            <a:r>
              <a:rPr lang="en-US" altLang="zh-TW" dirty="0"/>
              <a:t>Copy evicted blocks to the CPU memory</a:t>
            </a:r>
            <a:r>
              <a:rPr lang="zh-TW" altLang="en-US" dirty="0"/>
              <a:t> </a:t>
            </a:r>
            <a:r>
              <a:rPr lang="en-US" altLang="zh-TW" dirty="0"/>
              <a:t>and release the physical blocks</a:t>
            </a:r>
          </a:p>
          <a:p>
            <a:pPr lvl="1"/>
            <a:r>
              <a:rPr lang="en-US" altLang="zh-TW" sz="2000" i="1" dirty="0" err="1"/>
              <a:t>Recomputation</a:t>
            </a:r>
            <a:endParaRPr lang="en-US" altLang="zh-TW" sz="2000" i="1" dirty="0"/>
          </a:p>
          <a:p>
            <a:pPr lvl="2"/>
            <a:r>
              <a:rPr lang="en-US" altLang="zh-TW" dirty="0"/>
              <a:t>Directly release the data in physical blocks and recompute when needed again</a:t>
            </a:r>
          </a:p>
        </p:txBody>
      </p:sp>
    </p:spTree>
    <p:extLst>
      <p:ext uri="{BB962C8B-B14F-4D97-AF65-F5344CB8AC3E}">
        <p14:creationId xmlns:p14="http://schemas.microsoft.com/office/powerpoint/2010/main" val="814059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63F0F-DFE4-4CE7-8FDF-8B5B40B5951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4811D3E-3B04-9D92-522A-D2574FE9B397}"/>
              </a:ext>
            </a:extLst>
          </p:cNvPr>
          <p:cNvSpPr>
            <a:spLocks noGrp="1"/>
          </p:cNvSpPr>
          <p:nvPr>
            <p:ph type="title"/>
          </p:nvPr>
        </p:nvSpPr>
        <p:spPr/>
        <p:txBody>
          <a:bodyPr/>
          <a:lstStyle/>
          <a:p>
            <a:pPr algn="ctr"/>
            <a:r>
              <a:rPr lang="en-US" altLang="zh-TW" dirty="0"/>
              <a:t>Distributed Execution</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E8EB38FF-22D0-F7DE-81DA-EE93D70389B5}"/>
              </a:ext>
            </a:extLst>
          </p:cNvPr>
          <p:cNvSpPr>
            <a:spLocks noGrp="1"/>
          </p:cNvSpPr>
          <p:nvPr>
            <p:ph idx="1"/>
          </p:nvPr>
        </p:nvSpPr>
        <p:spPr>
          <a:xfrm>
            <a:off x="838200" y="1825625"/>
            <a:ext cx="10515600" cy="4351338"/>
          </a:xfrm>
        </p:spPr>
        <p:txBody>
          <a:bodyPr>
            <a:normAutofit/>
          </a:bodyPr>
          <a:lstStyle/>
          <a:p>
            <a:r>
              <a:rPr lang="en-US" altLang="zh-TW" sz="2000" dirty="0"/>
              <a:t>Many LLMs have parameter sizes exceeding the capacity of a single GPU [5, 9]. Therefore, it is necessary to partition them across distributed GPUs and execute them in a model parallel fashion [28, 63]</a:t>
            </a:r>
          </a:p>
          <a:p>
            <a:r>
              <a:rPr lang="en-US" altLang="zh-TW" sz="2000" dirty="0" err="1"/>
              <a:t>vLLM</a:t>
            </a:r>
            <a:r>
              <a:rPr lang="en-US" altLang="zh-TW" sz="2000" dirty="0"/>
              <a:t> uses a </a:t>
            </a:r>
            <a:r>
              <a:rPr lang="en-US" altLang="zh-TW" sz="2000" dirty="0">
                <a:solidFill>
                  <a:srgbClr val="FF0000"/>
                </a:solidFill>
              </a:rPr>
              <a:t>centralized scheduler </a:t>
            </a:r>
            <a:r>
              <a:rPr lang="en-US" altLang="zh-TW" sz="2000" dirty="0"/>
              <a:t>to manage request scheduling and KV cache allocation, each GPU worker handles only a subset of attention heads</a:t>
            </a:r>
          </a:p>
          <a:p>
            <a:r>
              <a:rPr lang="en-US" altLang="zh-TW" sz="2000" dirty="0"/>
              <a:t>All GPU workers process the same input tokens, so they </a:t>
            </a:r>
            <a:r>
              <a:rPr lang="en-US" altLang="zh-TW" sz="2000" dirty="0">
                <a:solidFill>
                  <a:srgbClr val="FF0000"/>
                </a:solidFill>
              </a:rPr>
              <a:t>share the same logical KV cache structure</a:t>
            </a:r>
          </a:p>
          <a:p>
            <a:r>
              <a:rPr lang="en-US" altLang="zh-TW" sz="2000" dirty="0"/>
              <a:t>The scheduler maintains a </a:t>
            </a:r>
            <a:r>
              <a:rPr lang="en-US" altLang="zh-TW" sz="2000" dirty="0">
                <a:solidFill>
                  <a:srgbClr val="FF0000"/>
                </a:solidFill>
              </a:rPr>
              <a:t>common block table </a:t>
            </a:r>
            <a:r>
              <a:rPr lang="en-US" altLang="zh-TW" sz="2000" dirty="0"/>
              <a:t>that maps logical blocks to physical blocks, and each GPU receives the same block table, but </a:t>
            </a:r>
            <a:r>
              <a:rPr lang="en-US" altLang="zh-TW" sz="2000" dirty="0">
                <a:solidFill>
                  <a:srgbClr val="FF0000"/>
                </a:solidFill>
              </a:rPr>
              <a:t>stores only the KV cache values for its assigned attention heads</a:t>
            </a:r>
          </a:p>
          <a:p>
            <a:r>
              <a:rPr lang="en-US" altLang="zh-TW" sz="2000" dirty="0"/>
              <a:t>Therefore, the </a:t>
            </a:r>
            <a:r>
              <a:rPr lang="en-US" altLang="zh-TW" sz="2000" dirty="0">
                <a:solidFill>
                  <a:srgbClr val="FF0000"/>
                </a:solidFill>
              </a:rPr>
              <a:t>block IDs are aligned across GPUs</a:t>
            </a:r>
            <a:r>
              <a:rPr lang="en-US" altLang="zh-TW" sz="2000" dirty="0"/>
              <a:t>, while the actual KV cache contents are sharded by attention heads</a:t>
            </a:r>
          </a:p>
        </p:txBody>
      </p:sp>
    </p:spTree>
    <p:extLst>
      <p:ext uri="{BB962C8B-B14F-4D97-AF65-F5344CB8AC3E}">
        <p14:creationId xmlns:p14="http://schemas.microsoft.com/office/powerpoint/2010/main" val="2736380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79CB9-63EF-3FB9-6026-B2C056239CE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9C9AC84-4803-5CCB-F01A-A94E6174D76E}"/>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Outline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99F12BB-7EEC-3A5A-D941-9A4AD4083697}"/>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Introduction</a:t>
            </a:r>
          </a:p>
          <a:p>
            <a:r>
              <a:rPr lang="en-US" altLang="zh-TW" sz="2400" dirty="0">
                <a:latin typeface="Times New Roman" panose="02020603050405020304" pitchFamily="18" charset="0"/>
                <a:cs typeface="Times New Roman" panose="02020603050405020304" pitchFamily="18" charset="0"/>
              </a:rPr>
              <a:t>Background</a:t>
            </a:r>
          </a:p>
          <a:p>
            <a:r>
              <a:rPr lang="en-US" altLang="zh-TW" sz="2400" dirty="0">
                <a:latin typeface="Times New Roman" panose="02020603050405020304" pitchFamily="18" charset="0"/>
                <a:cs typeface="Times New Roman" panose="02020603050405020304" pitchFamily="18" charset="0"/>
              </a:rPr>
              <a:t>Challenges</a:t>
            </a:r>
          </a:p>
          <a:p>
            <a:r>
              <a:rPr lang="en-US" altLang="zh-TW" sz="2400" dirty="0">
                <a:latin typeface="Times New Roman" panose="02020603050405020304" pitchFamily="18" charset="0"/>
                <a:cs typeface="Times New Roman" panose="02020603050405020304" pitchFamily="18" charset="0"/>
              </a:rPr>
              <a:t>Method</a:t>
            </a:r>
          </a:p>
          <a:p>
            <a:r>
              <a:rPr lang="en-US" altLang="zh-TW" sz="2400" dirty="0">
                <a:solidFill>
                  <a:srgbClr val="FF0000"/>
                </a:solidFill>
                <a:latin typeface="Times New Roman" panose="02020603050405020304" pitchFamily="18" charset="0"/>
                <a:cs typeface="Times New Roman" panose="02020603050405020304" pitchFamily="18" charset="0"/>
              </a:rPr>
              <a:t>Experiment</a:t>
            </a:r>
          </a:p>
          <a:p>
            <a:r>
              <a:rPr lang="en-US" altLang="zh-TW" sz="2400" dirty="0">
                <a:latin typeface="Times New Roman" panose="02020603050405020304" pitchFamily="18" charset="0"/>
                <a:cs typeface="Times New Roman" panose="02020603050405020304" pitchFamily="18" charset="0"/>
              </a:rPr>
              <a:t>Conclusion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1978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85574-B350-C700-7C70-2FDA829AEB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DF93852-A276-960C-1374-AAE52E82290E}"/>
              </a:ext>
            </a:extLst>
          </p:cNvPr>
          <p:cNvSpPr>
            <a:spLocks noGrp="1"/>
          </p:cNvSpPr>
          <p:nvPr>
            <p:ph type="title"/>
          </p:nvPr>
        </p:nvSpPr>
        <p:spPr/>
        <p:txBody>
          <a:bodyPr/>
          <a:lstStyle/>
          <a:p>
            <a:pPr algn="ctr"/>
            <a:r>
              <a:rPr lang="en-US" altLang="zh-TW" dirty="0"/>
              <a:t>Experimental</a:t>
            </a:r>
            <a:r>
              <a:rPr lang="zh-TW" altLang="en-US" dirty="0"/>
              <a:t> </a:t>
            </a:r>
            <a:r>
              <a:rPr lang="en-US" altLang="zh-TW" dirty="0"/>
              <a:t>Setup</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內容版面配置區 3">
                <a:extLst>
                  <a:ext uri="{FF2B5EF4-FFF2-40B4-BE49-F238E27FC236}">
                    <a16:creationId xmlns:a16="http://schemas.microsoft.com/office/drawing/2014/main" id="{2FB4AB40-E5CF-AAF6-3D45-2658A10778C5}"/>
                  </a:ext>
                </a:extLst>
              </p:cNvPr>
              <p:cNvSpPr>
                <a:spLocks noGrp="1"/>
              </p:cNvSpPr>
              <p:nvPr>
                <p:ph idx="1"/>
              </p:nvPr>
            </p:nvSpPr>
            <p:spPr>
              <a:xfrm>
                <a:off x="838200" y="1568768"/>
                <a:ext cx="6806184" cy="5599303"/>
              </a:xfrm>
            </p:spPr>
            <p:txBody>
              <a:bodyPr>
                <a:normAutofit/>
              </a:bodyPr>
              <a:lstStyle/>
              <a:p>
                <a:r>
                  <a:rPr lang="en-US" altLang="zh-TW" sz="2000" b="1" dirty="0"/>
                  <a:t>Model</a:t>
                </a:r>
                <a:r>
                  <a:rPr lang="zh-TW" altLang="en-US" sz="2000" b="1" dirty="0"/>
                  <a:t> </a:t>
                </a:r>
                <a:r>
                  <a:rPr lang="en-US" altLang="zh-TW" sz="2000" b="1" dirty="0"/>
                  <a:t>and</a:t>
                </a:r>
                <a:r>
                  <a:rPr lang="zh-TW" altLang="en-US" sz="2000" b="1" dirty="0"/>
                  <a:t> </a:t>
                </a:r>
                <a:r>
                  <a:rPr lang="en-US" altLang="zh-TW" sz="2000" b="1" dirty="0"/>
                  <a:t>server</a:t>
                </a:r>
                <a:r>
                  <a:rPr lang="zh-TW" altLang="en-US" sz="2000" b="1" dirty="0"/>
                  <a:t> </a:t>
                </a:r>
                <a:r>
                  <a:rPr lang="en-US" altLang="zh-TW" sz="2000" b="1" dirty="0"/>
                  <a:t>configurations</a:t>
                </a:r>
              </a:p>
              <a:p>
                <a:pPr lvl="1"/>
                <a:r>
                  <a:rPr lang="en-US" altLang="zh-TW" sz="2000" dirty="0"/>
                  <a:t>OPT</a:t>
                </a:r>
                <a:r>
                  <a:rPr lang="zh-TW" altLang="en-US" sz="2000" dirty="0"/>
                  <a:t> </a:t>
                </a:r>
                <a:r>
                  <a:rPr lang="en-US" altLang="zh-TW" sz="2000" dirty="0"/>
                  <a:t>[62] models with13B, 66B,and 175B</a:t>
                </a:r>
              </a:p>
              <a:p>
                <a:pPr lvl="1"/>
                <a:r>
                  <a:rPr lang="en-US" altLang="zh-TW" sz="2000" dirty="0" err="1"/>
                  <a:t>LLaMA</a:t>
                </a:r>
                <a:r>
                  <a:rPr lang="zh-TW" altLang="en-US" sz="2000" dirty="0"/>
                  <a:t> </a:t>
                </a:r>
                <a:r>
                  <a:rPr lang="en-US" altLang="zh-TW" sz="2000" dirty="0"/>
                  <a:t>[52] with 13B</a:t>
                </a:r>
              </a:p>
              <a:p>
                <a:pPr lvl="1"/>
                <a:r>
                  <a:rPr lang="en-US" altLang="zh-TW" sz="2000" dirty="0"/>
                  <a:t>A2 instances with NVIDIA A100 GPUs on Google Cloud Platform</a:t>
                </a:r>
              </a:p>
              <a:p>
                <a:r>
                  <a:rPr lang="en-US" altLang="zh-TW" sz="2000" b="1" dirty="0"/>
                  <a:t>Workloads</a:t>
                </a:r>
              </a:p>
              <a:p>
                <a:pPr lvl="1"/>
                <a:r>
                  <a:rPr lang="en-US" altLang="zh-TW" sz="2000" dirty="0"/>
                  <a:t>Synthesize workloads based on </a:t>
                </a:r>
                <a:r>
                  <a:rPr lang="en-US" altLang="zh-TW" sz="2000" dirty="0" err="1"/>
                  <a:t>ShareGPT</a:t>
                </a:r>
                <a:r>
                  <a:rPr lang="zh-TW" altLang="en-US" sz="2000" dirty="0"/>
                  <a:t> </a:t>
                </a:r>
                <a:r>
                  <a:rPr lang="en-US" altLang="zh-TW" sz="2000" dirty="0"/>
                  <a:t>[51] and Alpaca</a:t>
                </a:r>
                <a:r>
                  <a:rPr lang="zh-TW" altLang="en-US" sz="2000" dirty="0"/>
                  <a:t> </a:t>
                </a:r>
                <a:r>
                  <a:rPr lang="en-US" altLang="zh-TW" sz="2000" dirty="0"/>
                  <a:t>[50] datasets</a:t>
                </a:r>
              </a:p>
              <a:p>
                <a:pPr lvl="1"/>
                <a:r>
                  <a:rPr lang="en-US" altLang="zh-TW" sz="2000" dirty="0"/>
                  <a:t>Generate request arrival times using Poisson distribution with different request rates</a:t>
                </a:r>
              </a:p>
              <a:p>
                <a:r>
                  <a:rPr lang="en-US" altLang="zh-TW" sz="2000" b="1" dirty="0"/>
                  <a:t>Baseline</a:t>
                </a:r>
              </a:p>
              <a:p>
                <a:pPr lvl="1"/>
                <a:r>
                  <a:rPr lang="en-US" altLang="zh-TW" sz="2000" dirty="0" err="1"/>
                  <a:t>FasterTransformer</a:t>
                </a:r>
                <a:endParaRPr lang="en-US" altLang="zh-TW" sz="2000" dirty="0"/>
              </a:p>
              <a:p>
                <a:pPr lvl="1"/>
                <a:r>
                  <a:rPr lang="en-US" altLang="zh-TW" sz="2000" dirty="0"/>
                  <a:t>Orca</a:t>
                </a:r>
                <a:r>
                  <a:rPr lang="zh-TW" altLang="en-US" sz="2000" dirty="0"/>
                  <a:t> </a:t>
                </a:r>
                <a:r>
                  <a:rPr lang="en-US" altLang="zh-TW" sz="2000" dirty="0"/>
                  <a:t>(Oracle, Pow2, Max)</a:t>
                </a:r>
              </a:p>
              <a:p>
                <a:r>
                  <a:rPr lang="en-US" altLang="zh-TW" sz="2000" b="1" dirty="0"/>
                  <a:t>Metric</a:t>
                </a:r>
              </a:p>
              <a:p>
                <a:pPr lvl="1"/>
                <a:r>
                  <a:rPr lang="en-US" altLang="zh-TW" sz="2000" dirty="0"/>
                  <a:t>Normalized latency ( </a:t>
                </a:r>
                <a14:m>
                  <m:oMath xmlns:m="http://schemas.openxmlformats.org/officeDocument/2006/math">
                    <m:f>
                      <m:fPr>
                        <m:ctrlPr>
                          <a:rPr lang="en-US" altLang="zh-TW" sz="2000" b="0" i="1" smtClean="0">
                            <a:latin typeface="Cambria Math" panose="02040503050406030204" pitchFamily="18" charset="0"/>
                          </a:rPr>
                        </m:ctrlPr>
                      </m:fPr>
                      <m:num>
                        <m:r>
                          <a:rPr lang="en-US" altLang="zh-TW" sz="2000" b="0" i="1" smtClean="0">
                            <a:latin typeface="Cambria Math" panose="02040503050406030204" pitchFamily="18" charset="0"/>
                          </a:rPr>
                          <m:t>𝑚𝑒𝑎𝑛</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𝑜𝑓</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𝑒𝑣𝑒𝑟𝑦</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𝑟𝑒𝑞𝑢𝑒𝑠</m:t>
                        </m:r>
                        <m:sSup>
                          <m:sSupPr>
                            <m:ctrlPr>
                              <a:rPr lang="en-US" altLang="zh-TW" sz="2000" b="0" i="1" smtClean="0">
                                <a:latin typeface="Cambria Math" panose="02040503050406030204" pitchFamily="18" charset="0"/>
                              </a:rPr>
                            </m:ctrlPr>
                          </m:sSupPr>
                          <m:e>
                            <m:r>
                              <a:rPr lang="en-US" altLang="zh-TW" sz="2000" b="0" i="1" smtClean="0">
                                <a:latin typeface="Cambria Math" panose="02040503050406030204" pitchFamily="18" charset="0"/>
                              </a:rPr>
                              <m:t>𝑡</m:t>
                            </m:r>
                          </m:e>
                          <m:sup>
                            <m:r>
                              <a:rPr lang="en-US" altLang="zh-TW" sz="2000" b="0" i="1" smtClean="0">
                                <a:latin typeface="Cambria Math" panose="02040503050406030204" pitchFamily="18" charset="0"/>
                              </a:rPr>
                              <m:t>′</m:t>
                            </m:r>
                          </m:sup>
                        </m:sSup>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2</m:t>
                        </m:r>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𝑙𝑎𝑡𝑒𝑛𝑐𝑦</m:t>
                        </m:r>
                      </m:num>
                      <m:den>
                        <m:r>
                          <a:rPr lang="en-US" altLang="zh-TW" sz="2000" b="0" i="1" smtClean="0">
                            <a:latin typeface="Cambria Math" panose="02040503050406030204" pitchFamily="18" charset="0"/>
                          </a:rPr>
                          <m:t>𝑜𝑢𝑡𝑝𝑢𝑡</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𝑙𝑒𝑛𝑔𝑡h</m:t>
                        </m:r>
                      </m:den>
                    </m:f>
                  </m:oMath>
                </a14:m>
                <a:r>
                  <a:rPr lang="en-US" altLang="zh-TW" sz="2000" dirty="0"/>
                  <a:t> )</a:t>
                </a:r>
              </a:p>
            </p:txBody>
          </p:sp>
        </mc:Choice>
        <mc:Fallback>
          <p:sp>
            <p:nvSpPr>
              <p:cNvPr id="4" name="內容版面配置區 3">
                <a:extLst>
                  <a:ext uri="{FF2B5EF4-FFF2-40B4-BE49-F238E27FC236}">
                    <a16:creationId xmlns:a16="http://schemas.microsoft.com/office/drawing/2014/main" id="{2FB4AB40-E5CF-AAF6-3D45-2658A10778C5}"/>
                  </a:ext>
                </a:extLst>
              </p:cNvPr>
              <p:cNvSpPr>
                <a:spLocks noGrp="1" noRot="1" noChangeAspect="1" noMove="1" noResize="1" noEditPoints="1" noAdjustHandles="1" noChangeArrowheads="1" noChangeShapeType="1" noTextEdit="1"/>
              </p:cNvSpPr>
              <p:nvPr>
                <p:ph idx="1"/>
              </p:nvPr>
            </p:nvSpPr>
            <p:spPr>
              <a:xfrm>
                <a:off x="838200" y="1568768"/>
                <a:ext cx="6806184" cy="5599303"/>
              </a:xfrm>
              <a:blipFill>
                <a:blip r:embed="rId2"/>
                <a:stretch>
                  <a:fillRect l="-806" t="-979" r="-1613"/>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ED59639C-BEFE-A7F8-5921-F9D930F128F5}"/>
              </a:ext>
            </a:extLst>
          </p:cNvPr>
          <p:cNvPicPr>
            <a:picLocks noChangeAspect="1"/>
          </p:cNvPicPr>
          <p:nvPr/>
        </p:nvPicPr>
        <p:blipFill>
          <a:blip r:embed="rId3"/>
          <a:stretch>
            <a:fillRect/>
          </a:stretch>
        </p:blipFill>
        <p:spPr>
          <a:xfrm>
            <a:off x="7644384" y="1690688"/>
            <a:ext cx="3820806" cy="1767605"/>
          </a:xfrm>
          <a:prstGeom prst="rect">
            <a:avLst/>
          </a:prstGeom>
        </p:spPr>
      </p:pic>
      <p:pic>
        <p:nvPicPr>
          <p:cNvPr id="7" name="圖片 6">
            <a:extLst>
              <a:ext uri="{FF2B5EF4-FFF2-40B4-BE49-F238E27FC236}">
                <a16:creationId xmlns:a16="http://schemas.microsoft.com/office/drawing/2014/main" id="{8FCF68F7-61BF-503D-F879-0B66C7560A18}"/>
              </a:ext>
            </a:extLst>
          </p:cNvPr>
          <p:cNvPicPr>
            <a:picLocks noChangeAspect="1"/>
          </p:cNvPicPr>
          <p:nvPr/>
        </p:nvPicPr>
        <p:blipFill>
          <a:blip r:embed="rId4"/>
          <a:stretch>
            <a:fillRect/>
          </a:stretch>
        </p:blipFill>
        <p:spPr>
          <a:xfrm>
            <a:off x="7565417" y="4269452"/>
            <a:ext cx="3978740" cy="2042448"/>
          </a:xfrm>
          <a:prstGeom prst="rect">
            <a:avLst/>
          </a:prstGeom>
        </p:spPr>
      </p:pic>
    </p:spTree>
    <p:extLst>
      <p:ext uri="{BB962C8B-B14F-4D97-AF65-F5344CB8AC3E}">
        <p14:creationId xmlns:p14="http://schemas.microsoft.com/office/powerpoint/2010/main" val="2360814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ABFCB-4B7B-CE9E-9B0E-70A18804932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EEC13AA-0F52-8A97-D291-D3C156A40183}"/>
              </a:ext>
            </a:extLst>
          </p:cNvPr>
          <p:cNvSpPr>
            <a:spLocks noGrp="1"/>
          </p:cNvSpPr>
          <p:nvPr>
            <p:ph type="title"/>
          </p:nvPr>
        </p:nvSpPr>
        <p:spPr/>
        <p:txBody>
          <a:bodyPr/>
          <a:lstStyle/>
          <a:p>
            <a:pPr algn="ctr"/>
            <a:r>
              <a:rPr lang="en-US" altLang="zh-TW" dirty="0"/>
              <a:t>Basic Sampling</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92FF4B01-7DE0-C1E1-C727-2B41D06F25F3}"/>
              </a:ext>
            </a:extLst>
          </p:cNvPr>
          <p:cNvSpPr>
            <a:spLocks noGrp="1"/>
          </p:cNvSpPr>
          <p:nvPr>
            <p:ph idx="1"/>
          </p:nvPr>
        </p:nvSpPr>
        <p:spPr>
          <a:xfrm>
            <a:off x="838200" y="1690689"/>
            <a:ext cx="10515600" cy="4015168"/>
          </a:xfrm>
        </p:spPr>
        <p:txBody>
          <a:bodyPr>
            <a:normAutofit/>
          </a:bodyPr>
          <a:lstStyle/>
          <a:p>
            <a:r>
              <a:rPr lang="en-US" altLang="zh-TW" sz="2000" dirty="0"/>
              <a:t>On the </a:t>
            </a:r>
            <a:r>
              <a:rPr lang="en-US" altLang="zh-TW" sz="2000" dirty="0" err="1"/>
              <a:t>ShareGPT</a:t>
            </a:r>
            <a:r>
              <a:rPr lang="en-US" altLang="zh-TW" sz="2000" dirty="0"/>
              <a:t> dataset, </a:t>
            </a:r>
            <a:r>
              <a:rPr lang="en-US" altLang="zh-TW" sz="2000" dirty="0" err="1"/>
              <a:t>vLLM</a:t>
            </a:r>
            <a:r>
              <a:rPr lang="en-US" altLang="zh-TW" sz="2000" dirty="0"/>
              <a:t> can sustain 1.7× –2.7× higher request rates compared to Orca(Oracle) while maintaining similar latencies</a:t>
            </a:r>
          </a:p>
          <a:p>
            <a:r>
              <a:rPr lang="en-US" altLang="zh-TW" sz="2000" dirty="0"/>
              <a:t>On the Alpaca dataset, which follows a similar trend to the </a:t>
            </a:r>
            <a:r>
              <a:rPr lang="en-US" altLang="zh-TW" sz="2000" dirty="0" err="1"/>
              <a:t>ShareGPT</a:t>
            </a:r>
            <a:r>
              <a:rPr lang="en-US" altLang="zh-TW" sz="2000" dirty="0"/>
              <a:t> dataset</a:t>
            </a:r>
          </a:p>
        </p:txBody>
      </p:sp>
      <p:pic>
        <p:nvPicPr>
          <p:cNvPr id="6" name="圖片 5">
            <a:extLst>
              <a:ext uri="{FF2B5EF4-FFF2-40B4-BE49-F238E27FC236}">
                <a16:creationId xmlns:a16="http://schemas.microsoft.com/office/drawing/2014/main" id="{7C027E80-FF7C-D0AF-7651-53C6E6DC43AE}"/>
              </a:ext>
            </a:extLst>
          </p:cNvPr>
          <p:cNvPicPr>
            <a:picLocks noChangeAspect="1"/>
          </p:cNvPicPr>
          <p:nvPr/>
        </p:nvPicPr>
        <p:blipFill>
          <a:blip r:embed="rId2"/>
          <a:stretch>
            <a:fillRect/>
          </a:stretch>
        </p:blipFill>
        <p:spPr>
          <a:xfrm>
            <a:off x="50355" y="3169699"/>
            <a:ext cx="8497824" cy="3470804"/>
          </a:xfrm>
          <a:prstGeom prst="rect">
            <a:avLst/>
          </a:prstGeom>
        </p:spPr>
      </p:pic>
      <p:pic>
        <p:nvPicPr>
          <p:cNvPr id="9" name="圖片 8">
            <a:extLst>
              <a:ext uri="{FF2B5EF4-FFF2-40B4-BE49-F238E27FC236}">
                <a16:creationId xmlns:a16="http://schemas.microsoft.com/office/drawing/2014/main" id="{5F43DDB3-5E79-8548-E7B7-D2FD3FE053A1}"/>
              </a:ext>
            </a:extLst>
          </p:cNvPr>
          <p:cNvPicPr>
            <a:picLocks noChangeAspect="1"/>
          </p:cNvPicPr>
          <p:nvPr/>
        </p:nvPicPr>
        <p:blipFill>
          <a:blip r:embed="rId3"/>
          <a:stretch>
            <a:fillRect/>
          </a:stretch>
        </p:blipFill>
        <p:spPr>
          <a:xfrm>
            <a:off x="8548179" y="3928652"/>
            <a:ext cx="3643821" cy="1952898"/>
          </a:xfrm>
          <a:prstGeom prst="rect">
            <a:avLst/>
          </a:prstGeom>
        </p:spPr>
      </p:pic>
    </p:spTree>
    <p:extLst>
      <p:ext uri="{BB962C8B-B14F-4D97-AF65-F5344CB8AC3E}">
        <p14:creationId xmlns:p14="http://schemas.microsoft.com/office/powerpoint/2010/main" val="2087405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37C8F-036D-F1BE-D2CC-B46AA345866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E17AF5-C111-6ACE-0F2E-BF21F0CE75B4}"/>
              </a:ext>
            </a:extLst>
          </p:cNvPr>
          <p:cNvSpPr>
            <a:spLocks noGrp="1"/>
          </p:cNvSpPr>
          <p:nvPr>
            <p:ph type="title"/>
          </p:nvPr>
        </p:nvSpPr>
        <p:spPr/>
        <p:txBody>
          <a:bodyPr/>
          <a:lstStyle/>
          <a:p>
            <a:pPr algn="ctr"/>
            <a:r>
              <a:rPr lang="en-US" altLang="zh-TW" dirty="0"/>
              <a:t>Parallel Sampling and Beam Search</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109D9B2E-E469-968B-E348-D974D5811981}"/>
              </a:ext>
            </a:extLst>
          </p:cNvPr>
          <p:cNvSpPr>
            <a:spLocks noGrp="1"/>
          </p:cNvSpPr>
          <p:nvPr>
            <p:ph idx="1"/>
          </p:nvPr>
        </p:nvSpPr>
        <p:spPr>
          <a:xfrm>
            <a:off x="838200" y="1690689"/>
            <a:ext cx="10515600" cy="4015168"/>
          </a:xfrm>
        </p:spPr>
        <p:txBody>
          <a:bodyPr>
            <a:normAutofit/>
          </a:bodyPr>
          <a:lstStyle/>
          <a:p>
            <a:r>
              <a:rPr lang="en-US" altLang="zh-TW" sz="2000" dirty="0"/>
              <a:t>In parallel sampling, since all parallel sequences in a request can share the KV cache, </a:t>
            </a:r>
            <a:r>
              <a:rPr lang="en-US" altLang="zh-TW" sz="2000" dirty="0" err="1"/>
              <a:t>vLLM</a:t>
            </a:r>
            <a:r>
              <a:rPr lang="en-US" altLang="zh-TW" sz="2000" dirty="0"/>
              <a:t> brings more improvement over the Orca baselines</a:t>
            </a:r>
          </a:p>
          <a:p>
            <a:r>
              <a:rPr lang="en-US" altLang="zh-TW" sz="2000" dirty="0"/>
              <a:t>In Beam search, it also shows the similar result to parallel sampling</a:t>
            </a:r>
          </a:p>
        </p:txBody>
      </p:sp>
      <p:pic>
        <p:nvPicPr>
          <p:cNvPr id="5" name="圖片 4">
            <a:extLst>
              <a:ext uri="{FF2B5EF4-FFF2-40B4-BE49-F238E27FC236}">
                <a16:creationId xmlns:a16="http://schemas.microsoft.com/office/drawing/2014/main" id="{63C7EA5C-2168-792C-AD11-ACFCE8B046CC}"/>
              </a:ext>
            </a:extLst>
          </p:cNvPr>
          <p:cNvPicPr>
            <a:picLocks noChangeAspect="1"/>
          </p:cNvPicPr>
          <p:nvPr/>
        </p:nvPicPr>
        <p:blipFill>
          <a:blip r:embed="rId2"/>
          <a:stretch>
            <a:fillRect/>
          </a:stretch>
        </p:blipFill>
        <p:spPr>
          <a:xfrm>
            <a:off x="109644" y="3327280"/>
            <a:ext cx="7095828" cy="3008216"/>
          </a:xfrm>
          <a:prstGeom prst="rect">
            <a:avLst/>
          </a:prstGeom>
        </p:spPr>
      </p:pic>
      <p:pic>
        <p:nvPicPr>
          <p:cNvPr id="8" name="圖片 7">
            <a:extLst>
              <a:ext uri="{FF2B5EF4-FFF2-40B4-BE49-F238E27FC236}">
                <a16:creationId xmlns:a16="http://schemas.microsoft.com/office/drawing/2014/main" id="{1D801CE5-1C16-7623-6E44-D15C2CFD0882}"/>
              </a:ext>
            </a:extLst>
          </p:cNvPr>
          <p:cNvPicPr>
            <a:picLocks noChangeAspect="1"/>
          </p:cNvPicPr>
          <p:nvPr/>
        </p:nvPicPr>
        <p:blipFill>
          <a:blip r:embed="rId3"/>
          <a:stretch>
            <a:fillRect/>
          </a:stretch>
        </p:blipFill>
        <p:spPr>
          <a:xfrm>
            <a:off x="7205472" y="3815613"/>
            <a:ext cx="4559808" cy="2031549"/>
          </a:xfrm>
          <a:prstGeom prst="rect">
            <a:avLst/>
          </a:prstGeom>
        </p:spPr>
      </p:pic>
    </p:spTree>
    <p:extLst>
      <p:ext uri="{BB962C8B-B14F-4D97-AF65-F5344CB8AC3E}">
        <p14:creationId xmlns:p14="http://schemas.microsoft.com/office/powerpoint/2010/main" val="4270395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2CDA0-AB45-D7AE-C4F2-33C9D6DBA6C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B9DD839-CED2-79F5-8662-DFFFFFF92E84}"/>
              </a:ext>
            </a:extLst>
          </p:cNvPr>
          <p:cNvSpPr>
            <a:spLocks noGrp="1"/>
          </p:cNvSpPr>
          <p:nvPr>
            <p:ph type="title"/>
          </p:nvPr>
        </p:nvSpPr>
        <p:spPr/>
        <p:txBody>
          <a:bodyPr/>
          <a:lstStyle/>
          <a:p>
            <a:pPr algn="ctr"/>
            <a:r>
              <a:rPr lang="en-US" altLang="zh-TW" dirty="0"/>
              <a:t>Shared prefix</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0BDAF117-7AEB-EC62-2CA6-428EA61E9DFF}"/>
              </a:ext>
            </a:extLst>
          </p:cNvPr>
          <p:cNvSpPr>
            <a:spLocks noGrp="1"/>
          </p:cNvSpPr>
          <p:nvPr>
            <p:ph idx="1"/>
          </p:nvPr>
        </p:nvSpPr>
        <p:spPr>
          <a:xfrm>
            <a:off x="838200" y="1690689"/>
            <a:ext cx="10515600" cy="4015168"/>
          </a:xfrm>
        </p:spPr>
        <p:txBody>
          <a:bodyPr>
            <a:normAutofit/>
          </a:bodyPr>
          <a:lstStyle/>
          <a:p>
            <a:r>
              <a:rPr lang="en-US" altLang="zh-TW" sz="2000" dirty="0"/>
              <a:t>Only use LLaMA-13B since it is multilingual</a:t>
            </a:r>
          </a:p>
          <a:p>
            <a:r>
              <a:rPr lang="en-US" altLang="zh-TW" sz="2000" dirty="0"/>
              <a:t>Use WMT 16 [4] English-to-German translation dataset and synthesize two prefixes that include an instruction and a few translation examples</a:t>
            </a:r>
          </a:p>
          <a:p>
            <a:r>
              <a:rPr lang="en-US" altLang="zh-TW" sz="2000" dirty="0" err="1"/>
              <a:t>vLLM</a:t>
            </a:r>
            <a:r>
              <a:rPr lang="en-US" altLang="zh-TW" sz="2000" dirty="0"/>
              <a:t> achieve 1.67x higher throughput than Orca (Oracle) with one-shot</a:t>
            </a:r>
          </a:p>
          <a:p>
            <a:r>
              <a:rPr lang="en-US" altLang="zh-TW" sz="2000" dirty="0"/>
              <a:t>When more examples are shared, </a:t>
            </a:r>
            <a:r>
              <a:rPr lang="en-US" altLang="zh-TW" sz="2000" dirty="0" err="1"/>
              <a:t>vLLM</a:t>
            </a:r>
            <a:r>
              <a:rPr lang="en-US" altLang="zh-TW" sz="2000" dirty="0"/>
              <a:t> achieves 3.58x higher throughput than Orca (Oracle)</a:t>
            </a:r>
          </a:p>
        </p:txBody>
      </p:sp>
      <p:pic>
        <p:nvPicPr>
          <p:cNvPr id="6" name="圖片 5">
            <a:extLst>
              <a:ext uri="{FF2B5EF4-FFF2-40B4-BE49-F238E27FC236}">
                <a16:creationId xmlns:a16="http://schemas.microsoft.com/office/drawing/2014/main" id="{C516877E-EE67-A395-03CE-80B16C4736D9}"/>
              </a:ext>
            </a:extLst>
          </p:cNvPr>
          <p:cNvPicPr>
            <a:picLocks noChangeAspect="1"/>
          </p:cNvPicPr>
          <p:nvPr/>
        </p:nvPicPr>
        <p:blipFill>
          <a:blip r:embed="rId2"/>
          <a:stretch>
            <a:fillRect/>
          </a:stretch>
        </p:blipFill>
        <p:spPr>
          <a:xfrm>
            <a:off x="863045" y="4407594"/>
            <a:ext cx="5232955" cy="2290055"/>
          </a:xfrm>
          <a:prstGeom prst="rect">
            <a:avLst/>
          </a:prstGeom>
        </p:spPr>
      </p:pic>
      <p:pic>
        <p:nvPicPr>
          <p:cNvPr id="9" name="圖片 8">
            <a:extLst>
              <a:ext uri="{FF2B5EF4-FFF2-40B4-BE49-F238E27FC236}">
                <a16:creationId xmlns:a16="http://schemas.microsoft.com/office/drawing/2014/main" id="{DC625F18-C90F-1C56-BD11-749976BB9F1A}"/>
              </a:ext>
            </a:extLst>
          </p:cNvPr>
          <p:cNvPicPr>
            <a:picLocks noChangeAspect="1"/>
          </p:cNvPicPr>
          <p:nvPr/>
        </p:nvPicPr>
        <p:blipFill>
          <a:blip r:embed="rId3"/>
          <a:stretch>
            <a:fillRect/>
          </a:stretch>
        </p:blipFill>
        <p:spPr>
          <a:xfrm>
            <a:off x="6923029" y="3815935"/>
            <a:ext cx="4405927" cy="2881714"/>
          </a:xfrm>
          <a:prstGeom prst="rect">
            <a:avLst/>
          </a:prstGeom>
        </p:spPr>
      </p:pic>
    </p:spTree>
    <p:extLst>
      <p:ext uri="{BB962C8B-B14F-4D97-AF65-F5344CB8AC3E}">
        <p14:creationId xmlns:p14="http://schemas.microsoft.com/office/powerpoint/2010/main" val="278838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13F58-8CCD-3FB0-6E9A-F9E3655D0DE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B6FFBBA-1F72-4141-523F-ED5E7269C5F1}"/>
              </a:ext>
            </a:extLst>
          </p:cNvPr>
          <p:cNvSpPr>
            <a:spLocks noGrp="1"/>
          </p:cNvSpPr>
          <p:nvPr>
            <p:ph type="title"/>
          </p:nvPr>
        </p:nvSpPr>
        <p:spPr/>
        <p:txBody>
          <a:bodyPr/>
          <a:lstStyle/>
          <a:p>
            <a:pPr algn="ctr"/>
            <a:r>
              <a:rPr lang="en-US" altLang="zh-TW" dirty="0"/>
              <a:t>Chatbot</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07EA3BF5-A8F7-4051-DFB8-EF7B872FD267}"/>
              </a:ext>
            </a:extLst>
          </p:cNvPr>
          <p:cNvSpPr>
            <a:spLocks noGrp="1"/>
          </p:cNvSpPr>
          <p:nvPr>
            <p:ph idx="1"/>
          </p:nvPr>
        </p:nvSpPr>
        <p:spPr>
          <a:xfrm>
            <a:off x="838200" y="1690689"/>
            <a:ext cx="10515600" cy="4015168"/>
          </a:xfrm>
        </p:spPr>
        <p:txBody>
          <a:bodyPr>
            <a:normAutofit/>
          </a:bodyPr>
          <a:lstStyle/>
          <a:p>
            <a:r>
              <a:rPr lang="en-US" altLang="zh-TW" sz="2000" dirty="0"/>
              <a:t>Let the model generate a response by concatenating the chatting history and the last user query into a prompt</a:t>
            </a:r>
          </a:p>
          <a:p>
            <a:r>
              <a:rPr lang="en-US" altLang="zh-TW" sz="2000" dirty="0"/>
              <a:t>Synthesize the chatting history and user query using the </a:t>
            </a:r>
            <a:r>
              <a:rPr lang="en-US" altLang="zh-TW" sz="2000" dirty="0" err="1"/>
              <a:t>ShareGPT</a:t>
            </a:r>
            <a:r>
              <a:rPr lang="en-US" altLang="zh-TW" sz="2000" dirty="0"/>
              <a:t> dataset</a:t>
            </a:r>
          </a:p>
          <a:p>
            <a:r>
              <a:rPr lang="en-US" altLang="zh-TW" sz="2000" dirty="0"/>
              <a:t>Due to the limited context length of the OPT-13B model, we cut the prompt to the last 1024 tokens and let the model generate at most 1024 tokens</a:t>
            </a:r>
          </a:p>
          <a:p>
            <a:r>
              <a:rPr lang="en-US" altLang="zh-TW" sz="2000" dirty="0" err="1"/>
              <a:t>vLLM</a:t>
            </a:r>
            <a:r>
              <a:rPr lang="en-US" altLang="zh-TW" sz="2000" dirty="0"/>
              <a:t> can sustain 2x higher request rates compared to the three Orca baselines</a:t>
            </a:r>
          </a:p>
        </p:txBody>
      </p:sp>
      <p:pic>
        <p:nvPicPr>
          <p:cNvPr id="5" name="圖片 4">
            <a:extLst>
              <a:ext uri="{FF2B5EF4-FFF2-40B4-BE49-F238E27FC236}">
                <a16:creationId xmlns:a16="http://schemas.microsoft.com/office/drawing/2014/main" id="{D28C460B-4EFF-2145-F5C3-4F857FF6982C}"/>
              </a:ext>
            </a:extLst>
          </p:cNvPr>
          <p:cNvPicPr>
            <a:picLocks noChangeAspect="1"/>
          </p:cNvPicPr>
          <p:nvPr/>
        </p:nvPicPr>
        <p:blipFill>
          <a:blip r:embed="rId2"/>
          <a:stretch>
            <a:fillRect/>
          </a:stretch>
        </p:blipFill>
        <p:spPr>
          <a:xfrm>
            <a:off x="3765564" y="4347785"/>
            <a:ext cx="4660871" cy="2336909"/>
          </a:xfrm>
          <a:prstGeom prst="rect">
            <a:avLst/>
          </a:prstGeom>
        </p:spPr>
      </p:pic>
    </p:spTree>
    <p:extLst>
      <p:ext uri="{BB962C8B-B14F-4D97-AF65-F5344CB8AC3E}">
        <p14:creationId xmlns:p14="http://schemas.microsoft.com/office/powerpoint/2010/main" val="2647315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3666E-7209-4163-FC8D-2ECF890A318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9EC4DD6-A7E0-FED6-23FD-AC2FADB96564}"/>
              </a:ext>
            </a:extLst>
          </p:cNvPr>
          <p:cNvSpPr>
            <a:spLocks noGrp="1"/>
          </p:cNvSpPr>
          <p:nvPr>
            <p:ph type="title"/>
          </p:nvPr>
        </p:nvSpPr>
        <p:spPr>
          <a:xfrm>
            <a:off x="213360" y="365126"/>
            <a:ext cx="11765280" cy="1325563"/>
          </a:xfrm>
        </p:spPr>
        <p:txBody>
          <a:bodyPr/>
          <a:lstStyle/>
          <a:p>
            <a:pPr algn="ctr"/>
            <a:r>
              <a:rPr lang="en-US" altLang="zh-TW" dirty="0" err="1"/>
              <a:t>Abalation</a:t>
            </a:r>
            <a:r>
              <a:rPr lang="en-US" altLang="zh-TW" dirty="0"/>
              <a:t> – </a:t>
            </a:r>
            <a:r>
              <a:rPr lang="en-US" altLang="zh-TW" dirty="0" err="1"/>
              <a:t>FasterTransformer</a:t>
            </a:r>
            <a:r>
              <a:rPr lang="en-US" altLang="zh-TW" dirty="0"/>
              <a:t> vs. </a:t>
            </a:r>
            <a:r>
              <a:rPr lang="en-US" altLang="zh-TW" dirty="0" err="1"/>
              <a:t>PagedAttention</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54401A33-1A70-BE83-DF98-9C3B13CAE8A7}"/>
              </a:ext>
            </a:extLst>
          </p:cNvPr>
          <p:cNvSpPr>
            <a:spLocks noGrp="1"/>
          </p:cNvSpPr>
          <p:nvPr>
            <p:ph idx="1"/>
          </p:nvPr>
        </p:nvSpPr>
        <p:spPr>
          <a:xfrm>
            <a:off x="838200" y="1690688"/>
            <a:ext cx="7574280" cy="4575999"/>
          </a:xfrm>
        </p:spPr>
        <p:txBody>
          <a:bodyPr>
            <a:normAutofit/>
          </a:bodyPr>
          <a:lstStyle/>
          <a:p>
            <a:r>
              <a:rPr lang="en-US" altLang="zh-TW" sz="2000" dirty="0" err="1"/>
              <a:t>FasterTransformer</a:t>
            </a:r>
            <a:r>
              <a:rPr lang="en-US" altLang="zh-TW" sz="2000" dirty="0"/>
              <a:t> (FT) is a </a:t>
            </a:r>
            <a:r>
              <a:rPr lang="en-US" altLang="zh-TW" sz="2000" dirty="0">
                <a:solidFill>
                  <a:srgbClr val="FF0000"/>
                </a:solidFill>
              </a:rPr>
              <a:t>distributed inference engine highly optimized for latency</a:t>
            </a:r>
          </a:p>
          <a:p>
            <a:r>
              <a:rPr lang="en-US" altLang="zh-TW" sz="2000" dirty="0"/>
              <a:t>Since FT doesn’t have its own scheduler, authors implement a custom one with a dynamic batching mechanism similar to Triton [30]</a:t>
            </a:r>
          </a:p>
          <a:p>
            <a:r>
              <a:rPr lang="en-US" altLang="zh-TW" sz="2000" dirty="0" err="1"/>
              <a:t>PagedAttention</a:t>
            </a:r>
            <a:r>
              <a:rPr lang="en-US" altLang="zh-TW" sz="2000" dirty="0"/>
              <a:t>-based GPU kernel involve extra overheads of accessing the block table, executing extra branches and handling variable sequence length</a:t>
            </a:r>
          </a:p>
          <a:p>
            <a:r>
              <a:rPr lang="en-US" altLang="zh-TW" sz="2000" dirty="0"/>
              <a:t>From the result, </a:t>
            </a:r>
            <a:r>
              <a:rPr lang="en-US" altLang="zh-TW" sz="2000" dirty="0" err="1">
                <a:solidFill>
                  <a:srgbClr val="FF0000"/>
                </a:solidFill>
              </a:rPr>
              <a:t>PagedAttention</a:t>
            </a:r>
            <a:r>
              <a:rPr lang="en-US" altLang="zh-TW" sz="2000" dirty="0">
                <a:solidFill>
                  <a:srgbClr val="FF0000"/>
                </a:solidFill>
              </a:rPr>
              <a:t>-based GPU kernel has 20-26% higher attention kernel latency</a:t>
            </a:r>
            <a:r>
              <a:rPr lang="en-US" altLang="zh-TW" sz="2000" dirty="0"/>
              <a:t>, compared to the highly-optimized FT implementation</a:t>
            </a:r>
          </a:p>
          <a:p>
            <a:r>
              <a:rPr lang="en-US" altLang="zh-TW" sz="2000" dirty="0"/>
              <a:t>But </a:t>
            </a:r>
            <a:r>
              <a:rPr lang="en-US" altLang="zh-TW" sz="2000" dirty="0">
                <a:solidFill>
                  <a:srgbClr val="FF0000"/>
                </a:solidFill>
              </a:rPr>
              <a:t>authors believe the overhead is small </a:t>
            </a:r>
            <a:r>
              <a:rPr lang="en-US" altLang="zh-TW" sz="2000" dirty="0"/>
              <a:t>as it only affects the attention operator but not the other operators in the model</a:t>
            </a:r>
          </a:p>
        </p:txBody>
      </p:sp>
      <p:pic>
        <p:nvPicPr>
          <p:cNvPr id="8" name="圖片 7">
            <a:extLst>
              <a:ext uri="{FF2B5EF4-FFF2-40B4-BE49-F238E27FC236}">
                <a16:creationId xmlns:a16="http://schemas.microsoft.com/office/drawing/2014/main" id="{A4D1A0F7-177B-97CC-37DD-F3A6BCE9E917}"/>
              </a:ext>
            </a:extLst>
          </p:cNvPr>
          <p:cNvPicPr>
            <a:picLocks noChangeAspect="1"/>
          </p:cNvPicPr>
          <p:nvPr/>
        </p:nvPicPr>
        <p:blipFill>
          <a:blip r:embed="rId2"/>
          <a:stretch>
            <a:fillRect/>
          </a:stretch>
        </p:blipFill>
        <p:spPr>
          <a:xfrm>
            <a:off x="8657058" y="3429000"/>
            <a:ext cx="3077004" cy="2600688"/>
          </a:xfrm>
          <a:prstGeom prst="rect">
            <a:avLst/>
          </a:prstGeom>
        </p:spPr>
      </p:pic>
    </p:spTree>
    <p:extLst>
      <p:ext uri="{BB962C8B-B14F-4D97-AF65-F5344CB8AC3E}">
        <p14:creationId xmlns:p14="http://schemas.microsoft.com/office/powerpoint/2010/main" val="686665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93A9-0A95-A0DA-FBEF-F4A392035E5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3FA4EA6-957E-E80E-FD73-35F26D97B77F}"/>
              </a:ext>
            </a:extLst>
          </p:cNvPr>
          <p:cNvSpPr>
            <a:spLocks noGrp="1"/>
          </p:cNvSpPr>
          <p:nvPr>
            <p:ph type="title"/>
          </p:nvPr>
        </p:nvSpPr>
        <p:spPr/>
        <p:txBody>
          <a:bodyPr/>
          <a:lstStyle/>
          <a:p>
            <a:pPr algn="ctr"/>
            <a:r>
              <a:rPr lang="en-US" altLang="zh-TW" dirty="0" err="1"/>
              <a:t>Abalation</a:t>
            </a:r>
            <a:r>
              <a:rPr lang="en-US" altLang="zh-TW" dirty="0"/>
              <a:t> – Impact of Block Size</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4C2F21E0-2BC0-973A-2232-A21E509D3169}"/>
              </a:ext>
            </a:extLst>
          </p:cNvPr>
          <p:cNvSpPr>
            <a:spLocks noGrp="1"/>
          </p:cNvSpPr>
          <p:nvPr>
            <p:ph idx="1"/>
          </p:nvPr>
        </p:nvSpPr>
        <p:spPr>
          <a:xfrm>
            <a:off x="838200" y="1690689"/>
            <a:ext cx="10515600" cy="4015168"/>
          </a:xfrm>
        </p:spPr>
        <p:txBody>
          <a:bodyPr>
            <a:normAutofit/>
          </a:bodyPr>
          <a:lstStyle/>
          <a:p>
            <a:r>
              <a:rPr lang="en-US" altLang="zh-TW" sz="2000" dirty="0"/>
              <a:t>If the block size is too small, </a:t>
            </a:r>
            <a:r>
              <a:rPr lang="en-US" altLang="zh-TW" sz="2000" dirty="0" err="1"/>
              <a:t>vLLM</a:t>
            </a:r>
            <a:r>
              <a:rPr lang="en-US" altLang="zh-TW" sz="2000" dirty="0"/>
              <a:t> may not fully utilize the GPU’s parallelism for reading and processing KV cache</a:t>
            </a:r>
          </a:p>
          <a:p>
            <a:r>
              <a:rPr lang="en-US" altLang="zh-TW" sz="2000" dirty="0"/>
              <a:t>If the block size is too large, internal fragmentation increases and the probability of sharing decreases</a:t>
            </a:r>
          </a:p>
          <a:p>
            <a:r>
              <a:rPr lang="en-US" altLang="zh-TW" sz="2000" dirty="0"/>
              <a:t>From the result, the block size 16 is large enough to efficiently utilize the GPU and small enough to avoid significant internal fragmentation in most workloads. </a:t>
            </a:r>
            <a:br>
              <a:rPr lang="en-US" altLang="zh-TW" sz="2000" dirty="0"/>
            </a:br>
            <a:r>
              <a:rPr lang="en-US" altLang="zh-TW" sz="2000" dirty="0"/>
              <a:t>Accordingly, </a:t>
            </a:r>
            <a:r>
              <a:rPr lang="en-US" altLang="zh-TW" sz="2000" dirty="0" err="1">
                <a:solidFill>
                  <a:srgbClr val="FF0000"/>
                </a:solidFill>
              </a:rPr>
              <a:t>vLLM</a:t>
            </a:r>
            <a:r>
              <a:rPr lang="en-US" altLang="zh-TW" sz="2000" dirty="0">
                <a:solidFill>
                  <a:srgbClr val="FF0000"/>
                </a:solidFill>
              </a:rPr>
              <a:t> sets its default block size as 16</a:t>
            </a:r>
            <a:endParaRPr lang="en-US" altLang="zh-TW" sz="2000" dirty="0"/>
          </a:p>
        </p:txBody>
      </p:sp>
      <p:pic>
        <p:nvPicPr>
          <p:cNvPr id="6" name="圖片 5">
            <a:extLst>
              <a:ext uri="{FF2B5EF4-FFF2-40B4-BE49-F238E27FC236}">
                <a16:creationId xmlns:a16="http://schemas.microsoft.com/office/drawing/2014/main" id="{30267753-917B-B0D4-2AE9-D56497CB1F6A}"/>
              </a:ext>
            </a:extLst>
          </p:cNvPr>
          <p:cNvPicPr>
            <a:picLocks noChangeAspect="1"/>
          </p:cNvPicPr>
          <p:nvPr/>
        </p:nvPicPr>
        <p:blipFill>
          <a:blip r:embed="rId2"/>
          <a:stretch>
            <a:fillRect/>
          </a:stretch>
        </p:blipFill>
        <p:spPr>
          <a:xfrm>
            <a:off x="4394413" y="4128976"/>
            <a:ext cx="2993939" cy="2571163"/>
          </a:xfrm>
          <a:prstGeom prst="rect">
            <a:avLst/>
          </a:prstGeom>
        </p:spPr>
      </p:pic>
    </p:spTree>
    <p:extLst>
      <p:ext uri="{BB962C8B-B14F-4D97-AF65-F5344CB8AC3E}">
        <p14:creationId xmlns:p14="http://schemas.microsoft.com/office/powerpoint/2010/main" val="709062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D5593-AF8C-60EA-4562-C5D36E94AE6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27DA9BF-56FF-FBA3-6592-904C9907BB97}"/>
              </a:ext>
            </a:extLst>
          </p:cNvPr>
          <p:cNvSpPr>
            <a:spLocks noGrp="1"/>
          </p:cNvSpPr>
          <p:nvPr>
            <p:ph type="title"/>
          </p:nvPr>
        </p:nvSpPr>
        <p:spPr/>
        <p:txBody>
          <a:bodyPr/>
          <a:lstStyle/>
          <a:p>
            <a:pPr algn="ctr"/>
            <a:r>
              <a:rPr lang="en-US" altLang="zh-TW" dirty="0" err="1"/>
              <a:t>Abalation</a:t>
            </a:r>
            <a:r>
              <a:rPr lang="en-US" altLang="zh-TW" dirty="0"/>
              <a:t> – Swapping vs. </a:t>
            </a:r>
            <a:r>
              <a:rPr lang="en-US" altLang="zh-TW" dirty="0" err="1"/>
              <a:t>Recomputation</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0BA07885-DDB2-A18B-5298-0C54AA2B5011}"/>
              </a:ext>
            </a:extLst>
          </p:cNvPr>
          <p:cNvSpPr>
            <a:spLocks noGrp="1"/>
          </p:cNvSpPr>
          <p:nvPr>
            <p:ph idx="1"/>
          </p:nvPr>
        </p:nvSpPr>
        <p:spPr>
          <a:xfrm>
            <a:off x="838200" y="1690689"/>
            <a:ext cx="10515600" cy="4015168"/>
          </a:xfrm>
        </p:spPr>
        <p:txBody>
          <a:bodyPr>
            <a:normAutofit/>
          </a:bodyPr>
          <a:lstStyle/>
          <a:p>
            <a:r>
              <a:rPr lang="en-US" altLang="zh-TW" sz="2000" dirty="0"/>
              <a:t>Swapping incurs excessive overhead with small block sizes, this is because </a:t>
            </a:r>
            <a:r>
              <a:rPr lang="en-US" altLang="zh-TW" sz="2000" dirty="0">
                <a:solidFill>
                  <a:srgbClr val="FF0000"/>
                </a:solidFill>
              </a:rPr>
              <a:t>small block sizes often result in numerous small data transfers between CPU and GPU</a:t>
            </a:r>
            <a:r>
              <a:rPr lang="en-US" altLang="zh-TW" sz="2000" dirty="0"/>
              <a:t>, which limits the effective PCIe bandwidth</a:t>
            </a:r>
          </a:p>
        </p:txBody>
      </p:sp>
      <p:pic>
        <p:nvPicPr>
          <p:cNvPr id="5" name="圖片 4">
            <a:extLst>
              <a:ext uri="{FF2B5EF4-FFF2-40B4-BE49-F238E27FC236}">
                <a16:creationId xmlns:a16="http://schemas.microsoft.com/office/drawing/2014/main" id="{0B1109A9-1545-C2B2-56FD-677A89FB4576}"/>
              </a:ext>
            </a:extLst>
          </p:cNvPr>
          <p:cNvPicPr>
            <a:picLocks noChangeAspect="1"/>
          </p:cNvPicPr>
          <p:nvPr/>
        </p:nvPicPr>
        <p:blipFill>
          <a:blip r:embed="rId2"/>
          <a:stretch>
            <a:fillRect/>
          </a:stretch>
        </p:blipFill>
        <p:spPr>
          <a:xfrm>
            <a:off x="3363313" y="2902806"/>
            <a:ext cx="5465373" cy="2985931"/>
          </a:xfrm>
          <a:prstGeom prst="rect">
            <a:avLst/>
          </a:prstGeom>
        </p:spPr>
      </p:pic>
    </p:spTree>
    <p:extLst>
      <p:ext uri="{BB962C8B-B14F-4D97-AF65-F5344CB8AC3E}">
        <p14:creationId xmlns:p14="http://schemas.microsoft.com/office/powerpoint/2010/main" val="3546942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B1E86-236A-0A91-4C59-6C0747087E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22D0FF-8207-7ADE-C847-08CD96676D25}"/>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Outline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B998AA2-6645-2FA8-93D5-5F3F36CE5A0D}"/>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Introduction</a:t>
            </a:r>
          </a:p>
          <a:p>
            <a:r>
              <a:rPr lang="en-US" altLang="zh-TW" sz="2400" dirty="0">
                <a:latin typeface="Times New Roman" panose="02020603050405020304" pitchFamily="18" charset="0"/>
                <a:cs typeface="Times New Roman" panose="02020603050405020304" pitchFamily="18" charset="0"/>
              </a:rPr>
              <a:t>Background</a:t>
            </a:r>
          </a:p>
          <a:p>
            <a:r>
              <a:rPr lang="en-US" altLang="zh-TW" sz="2400" dirty="0">
                <a:latin typeface="Times New Roman" panose="02020603050405020304" pitchFamily="18" charset="0"/>
                <a:cs typeface="Times New Roman" panose="02020603050405020304" pitchFamily="18" charset="0"/>
              </a:rPr>
              <a:t>Challenges</a:t>
            </a:r>
          </a:p>
          <a:p>
            <a:r>
              <a:rPr lang="en-US" altLang="zh-TW" sz="2400" dirty="0">
                <a:latin typeface="Times New Roman" panose="02020603050405020304" pitchFamily="18" charset="0"/>
                <a:cs typeface="Times New Roman" panose="02020603050405020304" pitchFamily="18" charset="0"/>
              </a:rPr>
              <a:t>Method</a:t>
            </a:r>
          </a:p>
          <a:p>
            <a:r>
              <a:rPr lang="en-US" altLang="zh-TW" sz="2400" dirty="0">
                <a:latin typeface="Times New Roman" panose="02020603050405020304" pitchFamily="18" charset="0"/>
                <a:cs typeface="Times New Roman" panose="02020603050405020304" pitchFamily="18" charset="0"/>
              </a:rPr>
              <a:t>Experiment</a:t>
            </a:r>
          </a:p>
          <a:p>
            <a:r>
              <a:rPr lang="en-US" altLang="zh-TW" sz="2400" dirty="0">
                <a:solidFill>
                  <a:srgbClr val="FF0000"/>
                </a:solidFill>
                <a:latin typeface="Times New Roman" panose="02020603050405020304" pitchFamily="18" charset="0"/>
                <a:cs typeface="Times New Roman" panose="02020603050405020304" pitchFamily="18" charset="0"/>
              </a:rPr>
              <a:t>Conclusion</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736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EA5C0-ED39-F405-B3DB-446C5CF859A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A197949-63E2-8206-43E9-F9A9186FDDA9}"/>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Conclusion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C4D91374-A5FA-2F3A-1FD4-C1D8E1B9E1A8}"/>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Proposes </a:t>
            </a:r>
            <a:r>
              <a:rPr lang="en-US" altLang="zh-TW" sz="2400" dirty="0" err="1">
                <a:solidFill>
                  <a:srgbClr val="FF0000"/>
                </a:solidFill>
                <a:latin typeface="Times New Roman" panose="02020603050405020304" pitchFamily="18" charset="0"/>
                <a:cs typeface="Times New Roman" panose="02020603050405020304" pitchFamily="18" charset="0"/>
              </a:rPr>
              <a:t>PagedAttention</a:t>
            </a:r>
            <a:r>
              <a:rPr lang="en-US" altLang="zh-TW" sz="2400" dirty="0">
                <a:latin typeface="Times New Roman" panose="02020603050405020304" pitchFamily="18" charset="0"/>
                <a:cs typeface="Times New Roman" panose="02020603050405020304" pitchFamily="18" charset="0"/>
              </a:rPr>
              <a:t>, a new attention algorithm that allows attention keys and values to be store in non-contiguous paged memory</a:t>
            </a:r>
          </a:p>
          <a:p>
            <a:r>
              <a:rPr lang="en-US" altLang="zh-TW" sz="2400" dirty="0">
                <a:latin typeface="Times New Roman" panose="02020603050405020304" pitchFamily="18" charset="0"/>
                <a:cs typeface="Times New Roman" panose="02020603050405020304" pitchFamily="18" charset="0"/>
              </a:rPr>
              <a:t>Presents </a:t>
            </a:r>
            <a:r>
              <a:rPr lang="en-US" altLang="zh-TW" sz="2400" dirty="0" err="1">
                <a:solidFill>
                  <a:srgbClr val="FF0000"/>
                </a:solidFill>
                <a:latin typeface="Times New Roman" panose="02020603050405020304" pitchFamily="18" charset="0"/>
                <a:cs typeface="Times New Roman" panose="02020603050405020304" pitchFamily="18" charset="0"/>
              </a:rPr>
              <a:t>vLLM</a:t>
            </a:r>
            <a:r>
              <a:rPr lang="en-US" altLang="zh-TW" sz="2400" dirty="0">
                <a:latin typeface="Times New Roman" panose="02020603050405020304" pitchFamily="18" charset="0"/>
                <a:cs typeface="Times New Roman" panose="02020603050405020304" pitchFamily="18" charset="0"/>
              </a:rPr>
              <a:t>, a high-throughput LLM serving system with efficient memory management enable by </a:t>
            </a:r>
            <a:r>
              <a:rPr lang="en-US" altLang="zh-TW" sz="2400" dirty="0" err="1">
                <a:latin typeface="Times New Roman" panose="02020603050405020304" pitchFamily="18" charset="0"/>
                <a:cs typeface="Times New Roman" panose="02020603050405020304" pitchFamily="18" charset="0"/>
              </a:rPr>
              <a:t>PagedAttention</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Use the idea of </a:t>
            </a:r>
            <a:r>
              <a:rPr lang="en-US" altLang="zh-TW" sz="2400" dirty="0">
                <a:solidFill>
                  <a:srgbClr val="FF0000"/>
                </a:solidFill>
                <a:latin typeface="Times New Roman" panose="02020603050405020304" pitchFamily="18" charset="0"/>
                <a:cs typeface="Times New Roman" panose="02020603050405020304" pitchFamily="18" charset="0"/>
              </a:rPr>
              <a:t>virtual memory </a:t>
            </a:r>
            <a:r>
              <a:rPr lang="en-US" altLang="zh-TW" sz="2400" dirty="0">
                <a:latin typeface="Times New Roman" panose="02020603050405020304" pitchFamily="18" charset="0"/>
                <a:cs typeface="Times New Roman" panose="02020603050405020304" pitchFamily="18" charset="0"/>
              </a:rPr>
              <a:t>and </a:t>
            </a:r>
            <a:r>
              <a:rPr lang="en-US" altLang="zh-TW" sz="2400" dirty="0">
                <a:solidFill>
                  <a:srgbClr val="FF0000"/>
                </a:solidFill>
                <a:latin typeface="Times New Roman" panose="02020603050405020304" pitchFamily="18" charset="0"/>
                <a:cs typeface="Times New Roman" panose="02020603050405020304" pitchFamily="18" charset="0"/>
              </a:rPr>
              <a:t>copy-on-write</a:t>
            </a:r>
            <a:r>
              <a:rPr lang="en-US" altLang="zh-TW" sz="2400" dirty="0">
                <a:latin typeface="Times New Roman" panose="02020603050405020304" pitchFamily="18" charset="0"/>
                <a:cs typeface="Times New Roman" panose="02020603050405020304" pitchFamily="18" charset="0"/>
              </a:rPr>
              <a:t> mechanism from OS to efficiently manage KV cache and handle various decoding algorithms in LLM serving</a:t>
            </a:r>
          </a:p>
          <a:p>
            <a:r>
              <a:rPr lang="en-US" altLang="zh-TW" sz="2400" dirty="0" err="1">
                <a:latin typeface="Times New Roman" panose="02020603050405020304" pitchFamily="18" charset="0"/>
                <a:cs typeface="Times New Roman" panose="02020603050405020304" pitchFamily="18" charset="0"/>
              </a:rPr>
              <a:t>vLLM</a:t>
            </a:r>
            <a:r>
              <a:rPr lang="en-US" altLang="zh-TW" sz="2400" dirty="0">
                <a:latin typeface="Times New Roman" panose="02020603050405020304" pitchFamily="18" charset="0"/>
                <a:cs typeface="Times New Roman" panose="02020603050405020304" pitchFamily="18" charset="0"/>
              </a:rPr>
              <a:t> achieves 2-4x throughput improvements over the SOTA system</a:t>
            </a:r>
          </a:p>
        </p:txBody>
      </p:sp>
    </p:spTree>
    <p:extLst>
      <p:ext uri="{BB962C8B-B14F-4D97-AF65-F5344CB8AC3E}">
        <p14:creationId xmlns:p14="http://schemas.microsoft.com/office/powerpoint/2010/main" val="2988862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69E1D-3D36-563F-1DCB-45502A48CFD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B397FC7-DFF4-B37D-E57C-E0F2FAC031B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Reference</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A46F0213-A48F-5166-A43B-36D9F581A47C}"/>
              </a:ext>
            </a:extLst>
          </p:cNvPr>
          <p:cNvPicPr>
            <a:picLocks noChangeAspect="1"/>
          </p:cNvPicPr>
          <p:nvPr/>
        </p:nvPicPr>
        <p:blipFill>
          <a:blip r:embed="rId2"/>
          <a:stretch>
            <a:fillRect/>
          </a:stretch>
        </p:blipFill>
        <p:spPr>
          <a:xfrm>
            <a:off x="4551481" y="1815044"/>
            <a:ext cx="2891258" cy="3227911"/>
          </a:xfrm>
          <a:prstGeom prst="rect">
            <a:avLst/>
          </a:prstGeom>
        </p:spPr>
      </p:pic>
      <p:pic>
        <p:nvPicPr>
          <p:cNvPr id="6" name="圖片 5">
            <a:extLst>
              <a:ext uri="{FF2B5EF4-FFF2-40B4-BE49-F238E27FC236}">
                <a16:creationId xmlns:a16="http://schemas.microsoft.com/office/drawing/2014/main" id="{A2FB9B66-6411-66D1-FD4D-D8E5D6A409C3}"/>
              </a:ext>
            </a:extLst>
          </p:cNvPr>
          <p:cNvPicPr>
            <a:picLocks noChangeAspect="1"/>
          </p:cNvPicPr>
          <p:nvPr/>
        </p:nvPicPr>
        <p:blipFill>
          <a:blip r:embed="rId3"/>
          <a:stretch>
            <a:fillRect/>
          </a:stretch>
        </p:blipFill>
        <p:spPr>
          <a:xfrm>
            <a:off x="7640520" y="0"/>
            <a:ext cx="2714351" cy="6858000"/>
          </a:xfrm>
          <a:prstGeom prst="rect">
            <a:avLst/>
          </a:prstGeom>
        </p:spPr>
      </p:pic>
    </p:spTree>
    <p:extLst>
      <p:ext uri="{BB962C8B-B14F-4D97-AF65-F5344CB8AC3E}">
        <p14:creationId xmlns:p14="http://schemas.microsoft.com/office/powerpoint/2010/main" val="91905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DD23-B226-AE21-283A-C35D26A4039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E8C1BE5-2EC1-3586-771F-17439A4E764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Reference</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B1B9DFA1-FE44-CC11-8536-E2050428DD0D}"/>
              </a:ext>
            </a:extLst>
          </p:cNvPr>
          <p:cNvPicPr>
            <a:picLocks noChangeAspect="1"/>
          </p:cNvPicPr>
          <p:nvPr/>
        </p:nvPicPr>
        <p:blipFill>
          <a:blip r:embed="rId2"/>
          <a:stretch>
            <a:fillRect/>
          </a:stretch>
        </p:blipFill>
        <p:spPr>
          <a:xfrm>
            <a:off x="4743581" y="0"/>
            <a:ext cx="5533381" cy="6858000"/>
          </a:xfrm>
          <a:prstGeom prst="rect">
            <a:avLst/>
          </a:prstGeom>
        </p:spPr>
      </p:pic>
    </p:spTree>
    <p:extLst>
      <p:ext uri="{BB962C8B-B14F-4D97-AF65-F5344CB8AC3E}">
        <p14:creationId xmlns:p14="http://schemas.microsoft.com/office/powerpoint/2010/main" val="2071599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6B99-B63A-9E9F-99D6-A7AF56AD4BD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4F013BB-D696-F36D-654B-8F664279E2C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Reference</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8484D4DB-6A4C-B890-420E-1FEB17DC18FE}"/>
              </a:ext>
            </a:extLst>
          </p:cNvPr>
          <p:cNvPicPr>
            <a:picLocks noChangeAspect="1"/>
          </p:cNvPicPr>
          <p:nvPr/>
        </p:nvPicPr>
        <p:blipFill>
          <a:blip r:embed="rId2"/>
          <a:stretch>
            <a:fillRect/>
          </a:stretch>
        </p:blipFill>
        <p:spPr>
          <a:xfrm>
            <a:off x="2080652" y="2933631"/>
            <a:ext cx="8030696" cy="990738"/>
          </a:xfrm>
          <a:prstGeom prst="rect">
            <a:avLst/>
          </a:prstGeom>
        </p:spPr>
      </p:pic>
    </p:spTree>
    <p:extLst>
      <p:ext uri="{BB962C8B-B14F-4D97-AF65-F5344CB8AC3E}">
        <p14:creationId xmlns:p14="http://schemas.microsoft.com/office/powerpoint/2010/main" val="21630774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1202</TotalTime>
  <Words>2430</Words>
  <Application>Microsoft Office PowerPoint</Application>
  <PresentationFormat>寬螢幕</PresentationFormat>
  <Paragraphs>191</Paragraphs>
  <Slides>35</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35</vt:i4>
      </vt:variant>
    </vt:vector>
  </HeadingPairs>
  <TitlesOfParts>
    <vt:vector size="42" baseType="lpstr">
      <vt:lpstr>PMingLiU</vt:lpstr>
      <vt:lpstr>Aptos</vt:lpstr>
      <vt:lpstr>Aptos Display</vt:lpstr>
      <vt:lpstr>Arial</vt:lpstr>
      <vt:lpstr>Cambria Math</vt:lpstr>
      <vt:lpstr>Times New Roman</vt:lpstr>
      <vt:lpstr>Office 佈景主題</vt:lpstr>
      <vt:lpstr>Efficient Memory Management for Large Language Model Serving with PagedAttention  SOSP 2023</vt:lpstr>
      <vt:lpstr>Outline</vt:lpstr>
      <vt:lpstr>Brief Background &amp; Challenges</vt:lpstr>
      <vt:lpstr>Solution</vt:lpstr>
      <vt:lpstr>Outline</vt:lpstr>
      <vt:lpstr>Transformer-Based LLMs</vt:lpstr>
      <vt:lpstr>LLM Service &amp; Autoregressive Generation</vt:lpstr>
      <vt:lpstr>Batching Techniques for LLMs</vt:lpstr>
      <vt:lpstr>Outline</vt:lpstr>
      <vt:lpstr>Memory Challenges in LLM Serving</vt:lpstr>
      <vt:lpstr>Memory Challenges in LLM Serving</vt:lpstr>
      <vt:lpstr>Memory Management in Existing Systems</vt:lpstr>
      <vt:lpstr>Outline</vt:lpstr>
      <vt:lpstr>Overall Architecture</vt:lpstr>
      <vt:lpstr>PagedAttention</vt:lpstr>
      <vt:lpstr>KV Cache Manager</vt:lpstr>
      <vt:lpstr>Decoding with PagedAttention and vLLM</vt:lpstr>
      <vt:lpstr>Application to Other Decoding Scenarios I.</vt:lpstr>
      <vt:lpstr>Application to Other Decoding Scenarios II.</vt:lpstr>
      <vt:lpstr>Scheduling and Preemption</vt:lpstr>
      <vt:lpstr>Distributed Execution</vt:lpstr>
      <vt:lpstr>Outline</vt:lpstr>
      <vt:lpstr>Experimental Setup</vt:lpstr>
      <vt:lpstr>Basic Sampling</vt:lpstr>
      <vt:lpstr>Parallel Sampling and Beam Search</vt:lpstr>
      <vt:lpstr>Shared prefix</vt:lpstr>
      <vt:lpstr>Chatbot</vt:lpstr>
      <vt:lpstr>Abalation – FasterTransformer vs. PagedAttention</vt:lpstr>
      <vt:lpstr>Abalation – Impact of Block Size</vt:lpstr>
      <vt:lpstr>Abalation – Swapping vs. Recomputation</vt:lpstr>
      <vt:lpstr>Outline</vt:lpstr>
      <vt:lpstr>Conclusion</vt:lpstr>
      <vt:lpstr>Reference</vt:lpstr>
      <vt:lpstr>Reference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林家逸</dc:creator>
  <cp:lastModifiedBy>林家逸</cp:lastModifiedBy>
  <cp:revision>63</cp:revision>
  <dcterms:created xsi:type="dcterms:W3CDTF">2025-12-16T15:31:54Z</dcterms:created>
  <dcterms:modified xsi:type="dcterms:W3CDTF">2026-06-02T20:52:08Z</dcterms:modified>
</cp:coreProperties>
</file>
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91" r:id="rId3"/>
    <p:sldId id="313" r:id="rId4"/>
    <p:sldId id="293" r:id="rId5"/>
    <p:sldId id="304" r:id="rId6"/>
    <p:sldId id="312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79058" autoAdjust="0"/>
  </p:normalViewPr>
  <p:slideViewPr>
    <p:cSldViewPr snapToGrid="0">
      <p:cViewPr varScale="1">
        <p:scale>
          <a:sx n="130" d="100"/>
          <a:sy n="130" d="100"/>
        </p:scale>
        <p:origin x="142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8D7A-F5B3-C1D8-E5D1-851A501B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91D77C0-9270-61D6-75FE-A5A5DE0C9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9873FF7-1B8F-1AAE-AC48-71DE5037A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BE85BD-668D-2032-3C7C-5006AEE03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2222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EAA33-87C5-26B5-830A-9608F07E9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B2C0AAF-CCFB-C619-2FE5-CE0C131DA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2C961B9-B612-6535-A0F8-383C83766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071AA4-296D-FAD5-0C29-4F834A387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8799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4EC7B-AB5E-C809-6CC7-2B23CD50B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8957AAA-2E28-8BC9-D294-689DD55F9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007AE6E-C288-5EA9-0745-B02BA67746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BAF513-A519-341D-7285-D29749FBB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1481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EA62C-1E51-4A1A-1E4D-9CBCF0B8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746CC45-491A-04C3-9BB8-05AF07FDD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EE372E-FF46-8D67-DAE3-EB94102EA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881C7C-9C99-58E3-57AC-925A4753D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2618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1/26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個人咪挺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result of changing optimizer and </a:t>
            </a:r>
            <a:r>
              <a:rPr lang="en-US" altLang="zh-TW" sz="3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lr_scheduler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MGD Process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mask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cover the student’s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corresponding mask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cover the student’s feature map 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try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teacher’s feature maps with remaining pixels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distillation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𝑑𝑖𝑠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MGD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train all the models with total loss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89661321-64A5-E580-1E04-143D771A4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103" y="3562505"/>
            <a:ext cx="74104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DE4F170-CABE-E906-C801-5C06CEF6F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87" y="5319555"/>
            <a:ext cx="309562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3549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B3F5-8597-5700-0C57-1B80F8DD3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E0AE87-4545-8F6C-248F-E03E9F3B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260F51-E89C-3260-3278-B4B7AA515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SGD(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1e-4,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weight_decay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1e-4) +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BCEWithLogitsLoss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CosineAnnealingLR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 = 7e-5, lambda = 0.5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factor[‘BCE’] = factor[‘MGD’] = 1.0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MobileNet_V3_Large as teacher model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MobileNet_V3_Small as student model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 of teacher model checkpoint is 96.38% (TDR@FDR=1%)</a:t>
            </a:r>
          </a:p>
        </p:txBody>
      </p:sp>
    </p:spTree>
    <p:extLst>
      <p:ext uri="{BB962C8B-B14F-4D97-AF65-F5344CB8AC3E}">
        <p14:creationId xmlns:p14="http://schemas.microsoft.com/office/powerpoint/2010/main" val="1655963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CD5E-48F8-CF79-9AC0-99CFF0BD9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 descr="一張含有 文字, 螢幕擷取畫面, 繪圖, 圖表 的圖片&#10;&#10;AI 產生的內容可能不正確。">
            <a:extLst>
              <a:ext uri="{FF2B5EF4-FFF2-40B4-BE49-F238E27FC236}">
                <a16:creationId xmlns:a16="http://schemas.microsoft.com/office/drawing/2014/main" id="{463CA531-23EB-9820-5839-0CA491248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90688"/>
            <a:ext cx="6096000" cy="4572000"/>
          </a:xfrm>
          <a:prstGeom prst="rect">
            <a:avLst/>
          </a:prstGeom>
        </p:spPr>
      </p:pic>
      <p:pic>
        <p:nvPicPr>
          <p:cNvPr id="5" name="圖片 4" descr="一張含有 文字, 螢幕擷取畫面, 繪圖, 圖表 的圖片&#10;&#10;AI 產生的內容可能不正確。">
            <a:extLst>
              <a:ext uri="{FF2B5EF4-FFF2-40B4-BE49-F238E27FC236}">
                <a16:creationId xmlns:a16="http://schemas.microsoft.com/office/drawing/2014/main" id="{BA0C850C-5068-0FD7-88B8-52AF34317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90688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5FDAF66-5C5C-7994-E3F6-DD35DB409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771BFF8-B42E-01F1-7BFE-A86E007912E5}"/>
              </a:ext>
            </a:extLst>
          </p:cNvPr>
          <p:cNvSpPr txBox="1"/>
          <p:nvPr/>
        </p:nvSpPr>
        <p:spPr>
          <a:xfrm>
            <a:off x="2718230" y="1920875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5DF6124-0C2C-75AD-9483-D3A2A49A0D6E}"/>
              </a:ext>
            </a:extLst>
          </p:cNvPr>
          <p:cNvSpPr txBox="1"/>
          <p:nvPr/>
        </p:nvSpPr>
        <p:spPr>
          <a:xfrm>
            <a:off x="8648031" y="1920875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5211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27CF7-0C4C-3A10-169A-6EA206AE7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C3689D-63A8-C525-67C1-3E1709371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文字, 繪圖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EDE0E964-1AAA-B789-D869-FCE7EB77E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492250"/>
            <a:ext cx="85058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375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DE7C-9164-8009-F780-2C99CEFF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F07A19-5D1B-CFA4-20B5-3A570EDB2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Metric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FCF568F-AE0D-8257-090C-B6E378117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351097"/>
              </p:ext>
            </p:extLst>
          </p:nvPr>
        </p:nvGraphicFramePr>
        <p:xfrm>
          <a:off x="783296" y="1417764"/>
          <a:ext cx="7946844" cy="2248607"/>
        </p:xfrm>
        <a:graphic>
          <a:graphicData uri="http://schemas.openxmlformats.org/drawingml/2006/table">
            <a:tbl>
              <a:tblPr/>
              <a:tblGrid>
                <a:gridCol w="1525639">
                  <a:extLst>
                    <a:ext uri="{9D8B030D-6E8A-4147-A177-3AD203B41FA5}">
                      <a16:colId xmlns:a16="http://schemas.microsoft.com/office/drawing/2014/main" val="1384698806"/>
                    </a:ext>
                  </a:extLst>
                </a:gridCol>
                <a:gridCol w="917315">
                  <a:extLst>
                    <a:ext uri="{9D8B030D-6E8A-4147-A177-3AD203B41FA5}">
                      <a16:colId xmlns:a16="http://schemas.microsoft.com/office/drawing/2014/main" val="2228614201"/>
                    </a:ext>
                  </a:extLst>
                </a:gridCol>
                <a:gridCol w="917315">
                  <a:extLst>
                    <a:ext uri="{9D8B030D-6E8A-4147-A177-3AD203B41FA5}">
                      <a16:colId xmlns:a16="http://schemas.microsoft.com/office/drawing/2014/main" val="823836298"/>
                    </a:ext>
                  </a:extLst>
                </a:gridCol>
                <a:gridCol w="917315">
                  <a:extLst>
                    <a:ext uri="{9D8B030D-6E8A-4147-A177-3AD203B41FA5}">
                      <a16:colId xmlns:a16="http://schemas.microsoft.com/office/drawing/2014/main" val="4208677224"/>
                    </a:ext>
                  </a:extLst>
                </a:gridCol>
                <a:gridCol w="917315">
                  <a:extLst>
                    <a:ext uri="{9D8B030D-6E8A-4147-A177-3AD203B41FA5}">
                      <a16:colId xmlns:a16="http://schemas.microsoft.com/office/drawing/2014/main" val="2416381686"/>
                    </a:ext>
                  </a:extLst>
                </a:gridCol>
                <a:gridCol w="917315">
                  <a:extLst>
                    <a:ext uri="{9D8B030D-6E8A-4147-A177-3AD203B41FA5}">
                      <a16:colId xmlns:a16="http://schemas.microsoft.com/office/drawing/2014/main" val="468662118"/>
                    </a:ext>
                  </a:extLst>
                </a:gridCol>
                <a:gridCol w="917315">
                  <a:extLst>
                    <a:ext uri="{9D8B030D-6E8A-4147-A177-3AD203B41FA5}">
                      <a16:colId xmlns:a16="http://schemas.microsoft.com/office/drawing/2014/main" val="2753812439"/>
                    </a:ext>
                  </a:extLst>
                </a:gridCol>
                <a:gridCol w="917315">
                  <a:extLst>
                    <a:ext uri="{9D8B030D-6E8A-4147-A177-3AD203B41FA5}">
                      <a16:colId xmlns:a16="http://schemas.microsoft.com/office/drawing/2014/main" val="3171745748"/>
                    </a:ext>
                  </a:extLst>
                </a:gridCol>
              </a:tblGrid>
              <a:tr h="411001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Epoch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521655"/>
                  </a:ext>
                </a:extLst>
              </a:tr>
              <a:tr h="5188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SGD +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lr_scheduler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73.30%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85.52%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76.92%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84.62%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88.24%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93.21%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93.21%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543079"/>
                  </a:ext>
                </a:extLst>
              </a:tr>
              <a:tr h="5188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SGD +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lr_scheduler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81.00%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88.24%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88.24%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81.00%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92.31%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95.48%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93.67%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569107"/>
                  </a:ext>
                </a:extLst>
              </a:tr>
              <a:tr h="5188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MGD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52.04%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88.24%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58.37%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79.19%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89.14%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94.57%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93.67%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30752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B081C3AC-D5B3-6E71-9193-0257AF5E3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2EA36D5-14DF-DDA2-474D-DCBA79C6C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961970"/>
              </p:ext>
            </p:extLst>
          </p:nvPr>
        </p:nvGraphicFramePr>
        <p:xfrm>
          <a:off x="783296" y="3910639"/>
          <a:ext cx="7955997" cy="1970273"/>
        </p:xfrm>
        <a:graphic>
          <a:graphicData uri="http://schemas.openxmlformats.org/drawingml/2006/table">
            <a:tbl>
              <a:tblPr/>
              <a:tblGrid>
                <a:gridCol w="1524827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286234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286234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286234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286234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286234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SGD +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lr_scheduler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96.38%</a:t>
                      </a:r>
                      <a:endParaRPr lang="zh-TW" altLang="en-US" sz="1200" dirty="0">
                        <a:solidFill>
                          <a:srgbClr val="00B0F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2.26%</a:t>
                      </a:r>
                      <a:endParaRPr lang="zh-TW" altLang="en-US" sz="1200" dirty="0">
                        <a:solidFill>
                          <a:srgbClr val="00B0F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3.62%</a:t>
                      </a:r>
                      <a:endParaRPr lang="zh-TW" altLang="en-US" sz="1200" dirty="0">
                        <a:solidFill>
                          <a:srgbClr val="00B0F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0.90%</a:t>
                      </a:r>
                      <a:endParaRPr lang="zh-TW" altLang="en-US" sz="1200" dirty="0">
                        <a:solidFill>
                          <a:srgbClr val="00B0F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80247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SGD +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lr_scheduler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95.48%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2.52%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3.62%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1.43%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440480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MGD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96.38%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1.71%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1.81%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1.62%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58916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C752FB7A-2BAA-B0F6-A508-57DA375A4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4EAC292-817A-0F94-781A-98D4CBE587A7}"/>
              </a:ext>
            </a:extLst>
          </p:cNvPr>
          <p:cNvSpPr txBox="1"/>
          <p:nvPr/>
        </p:nvSpPr>
        <p:spPr>
          <a:xfrm>
            <a:off x="8856779" y="2864450"/>
            <a:ext cx="237038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Red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</a:rPr>
              <a:t>: Best Performance in the performance trend table</a:t>
            </a:r>
            <a:endParaRPr lang="en-US" altLang="zh-TW" dirty="0"/>
          </a:p>
          <a:p>
            <a:pPr rtl="0">
              <a:buNone/>
            </a:pPr>
            <a:endParaRPr lang="en-US" altLang="zh-TW" sz="1800" b="0" i="0" u="none" strike="noStrike" dirty="0">
              <a:solidFill>
                <a:srgbClr val="00B0F0"/>
              </a:solidFill>
              <a:effectLst/>
              <a:latin typeface="Times New Roman" panose="02020603050405020304" pitchFamily="18" charset="0"/>
            </a:endParaRPr>
          </a:p>
          <a:p>
            <a:pPr rtl="0">
              <a:buNone/>
            </a:pPr>
            <a:r>
              <a:rPr lang="en-US" altLang="zh-TW" sz="1800" b="0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</a:rPr>
              <a:t>Blue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Performance of the Teacher checkpoint used for KD.</a:t>
            </a: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FEAB6893-E564-E735-B801-3644C6318ECC}"/>
              </a:ext>
            </a:extLst>
          </p:cNvPr>
          <p:cNvCxnSpPr>
            <a:cxnSpLocks/>
          </p:cNvCxnSpPr>
          <p:nvPr/>
        </p:nvCxnSpPr>
        <p:spPr>
          <a:xfrm>
            <a:off x="783296" y="1427353"/>
            <a:ext cx="1518374" cy="6045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982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3659</TotalTime>
  <Words>329</Words>
  <Application>Microsoft Office PowerPoint</Application>
  <PresentationFormat>寬螢幕</PresentationFormat>
  <Paragraphs>95</Paragraphs>
  <Slides>6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標楷體</vt:lpstr>
      <vt:lpstr>Aptos</vt:lpstr>
      <vt:lpstr>Aptos Display</vt:lpstr>
      <vt:lpstr>Arial</vt:lpstr>
      <vt:lpstr>Cambria Math</vt:lpstr>
      <vt:lpstr>Times New Roman</vt:lpstr>
      <vt:lpstr>Office 佈景主題</vt:lpstr>
      <vt:lpstr>1/26 個人咪挺 The result of changing optimizer and lr_scheduler</vt:lpstr>
      <vt:lpstr>Recall – MGD Process</vt:lpstr>
      <vt:lpstr>Train Setting</vt:lpstr>
      <vt:lpstr>Loss Curve</vt:lpstr>
      <vt:lpstr>Metric Curve (TDR@FDR=1%)</vt:lpstr>
      <vt:lpstr>Result Metric (TDR@FDR=1%)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66</cp:revision>
  <dcterms:created xsi:type="dcterms:W3CDTF">2025-09-01T15:41:03Z</dcterms:created>
  <dcterms:modified xsi:type="dcterms:W3CDTF">2026-01-25T16:23:16Z</dcterms:modified>
</cp:coreProperties>
</file>